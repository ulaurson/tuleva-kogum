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 Mida me ehitasime? Tõstke käsi, kes teab, mida ta oma telefonipaketi eest kuus maksab. (paus) Tuleva Kogum on mobiilside ühishange: Tuleva küsib kord aastas kõigilt operaatoritelt ühe hinna ja liige vahetab paketi ühe allkirjaga.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0:15–0:40 · Kelle mure ja kui paljusid puudutab? Tuleva liikmeküsitluses ütles 83% vastanutest, et püsikulud, näiteks side ja elekter, on probleem. Eestis on 1,8 miljonit lepingulist mobiilikasutajat. Sama piiramatu internetiga pakett maksab tavahinnaga 35–44 eurot kuus. Soodsamat hinda saab ainult see, kes kaupleb ja seob end kaheks aastaks. Meie eesmärk on alla 10 euro, ilma sidumiseta. Allikad: liikmeküsitlus 13.04–03.05.2026, 5 014 vastajat; TTJA side aastaraamat 2025. Paketid: Tele2 Piiramatu Eesti, Telia Piiramatu, Elisa Võimas 5G+.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0:40–1:45 · Kuidas see töötab ja mida testimine näitas? 65 sekundit. Lülita prototüübile. Tee: 1 → 2 → 3 → 4c → 5 → 11. [1] Kadri annab nõusoleku ja e-posti, rohkem mitte midagi. [„Demo: pakkumised on käes” → 3] Kolme operaatori tavahind ja meie ühishind kõrvuti. 6,50 eurot on sihthind, mitte veel operaatori pakkumine. Tavahinna vastu säästab Kadri kuni 405 eurot aastas, sidumist pole. [„Võtan pakkumise” → 4c] Leping on valmis, Kadri ja operaatori vahel. Kadri allkirjastab ja saadab. Number jääb samaks, 14 päeva saab taganeda. [„Aasta” → 11] Tuleva vaade: 560 lepingut, sääst kuni 227 000 eurot aastas. Testimine näitas: [LISA: mida häkatonil testisite ja mis selgus, nt mitu osalejat registreeruks või kui paljud ei teadnud oma kuutasu]. Varuplaan: kui demo jookseb kokku, jäta see slaid ette, räägi Kadri lugu sõnadega ja jätka slaidiga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1:45–2:10 · Miks just Tuleva? Esiteks: Tuleva tegi nähtavaks pensionifondide tasud, nüüd teeme sama telefoniarvega. Teiseks: Tuleva on ühistu. Meie tasu on fikseeritud, 1 euro kuus kõigilt operaatoritelt, seega pole meil põhjust kedagi kallima paketi poole lükata. Kolmandaks: 85 745 kogujat usaldavad Tulevat juba oma rahaga. Hange kordub igal aastal ja leping on valmis. Null infomüra, usaldus, järjekindlus. Küsimuseks: Hispaania tarbijaühing OCU tegi mobiilside ühishanget 2014–2015.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2:10–2:35 · Kuidas see end ära tasub? Operaator maksab Tulevale 1 euro kuus lepingu kohta, liikmele on teenus tasuta. Kulud on kaetud, kui lepinguid on umbes 5 750: 5 750 × 1 € × 12 = 69 000 eurot aastas, see on ühe täiskohaga töötaja kulu. Siis säästavad liikmed kuni 2,3 miljonit eurot aastas. Kui hind pole vähemalt 2 eurot alla turu parima, hanget ei toimu. Küsimuseks: Marju baasprognoosis jõuab lepingute arv 5 750-ni umbes 5. aastal ja tulu katab siis 96% kuludest (hinnang, fail 13). Graafik on varuslaidil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2:35–2:45 · Mobiilside on alles algus. Sama ühist ostujõudu saab kasutada elektris, kindlustuses ja ühistellimustes. Küsimuseks: iga valdkond vajab eraldi analüüsi. Kindlustuses on vaja vahendaja tegevusluba, elektris on sääst pigem õiges paketis kui grupihinnas.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2:45–3:00 · Mis on esimene samm ja mida vajame? Avame registreerumise Tuleva kogukonnas ja saadame hankepäringu kõigile operaatoritele. Esimese hanke teeme käsitsi. Selleks vajame Tuleva otsust, ühte inimest ning õigus- ja andmekaitseanalüüsi. Üksi pole sul läbirääkimisjõudu. Tuhandel inimesel on. Jäta see slaid küsimuste ajaks ekraanile.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Varu: küsimusteks, kui küsitakse tasuvuse kohta. Operaator maksab Tulevale 1 euro kuus lepingu kohta, liikmele on teenus tasuta. Ühe täiskohaga töötaja kulu on umbes 69 000 eurot aastas, selle katmiseks on vaja 5 750 lepingut. Baasprognoosis katab tulu 5. aastal 96% kuludest. Kui hind pole vähemalt 2 eurot alla turu parima, hanget ei toimu. Märkus: Marju prognoos (fail 13) arvestab alates 2. aastast mobiilile 50% töötaja kulust. Siis piisab umbes 2 900 lepingust ja jooksev kulu on kaetud 2. aastal. Slaididel arvestame kogu kulu mobiilile.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Varu: kui küsitakse, kust numbrid tulevad. Baasstsenaariumis registreerub 20% Tuleva 9 560 liikmest ja neist 45% vahetab: 860 vahetajat. Iga liige toob keskmiselt 1,8 numbrit, 40% leibkondadest võtab internetti või telepaketti ja lisaks tuleb 143 ettevõtet 4 numbriga. Kokku 2 670 lepingut 1. aasta lõpus. Tuleva saab 1 euro kuus lepingu kohta. Ühe töötaja kulu 69 000 eurot katab 5 750 lepingut. Pessimistlik stsenaarium (10% registreerub, 30% vahetab) ei tasu end ära. Optimistlikus (30% ja 56%) on 1. aasta lõpus 5 450 lepingut. OCU kogemus: vahetas umbes 10% registreerunutest, see on mudeli suurim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Varu: kui küsitakse, kas keegi on seda teinud. Hispaania tarbijaühing OCU tegi kolm mobiilside ühishanget. Registreerunuid oli 92 500, siis 50 261 ja siis 17 400. Iga hange oli eraldi kampaania: uus registreerimine ja ühekordne tasu lepingu eest, püsivat suhet osalejaga polnud. Pakkumine nõrgenes: 2018. aastal ainult 8% soodustus võitja tavahinnast. Võitja oli kõik kolm korda MásMóvil, nii et varem vahetanutel polnud uuest hankest midagi võita (hinnang). Tasu tekitas vaidlusi ja osa pakkujaid jäi eemale. Vahetajate arvu OCU ei avaldanud, energiahankes vahetas umbes 10%. Itaalias võitis väljakutsuja Tiscali, 9 eurot kuus. Suurbritannias oli Which? ühisostu ajal turul sama hea pakkumine olemas. Eestis seovad operaatorite soodushinnad 24 kuuks, näiteks Tele2 kampaania 15,50 eurot, ja siis tuleb tavahind. Meie vastus: püsiv konto ja igakuine tasu seni, kuni liige on klient, tasu on avalik ja kõigile sama ning avaldame vahetajate arvu.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Varu: kui küsitakse riskide kohta. Suurim teadmatus on see, kas operaator üldse pakub piisavalt head hinda. Selle saame teada hankepäringuga, enne seda küsime ühelt-kahelt müügijuhilt hinda 1 000 liinile. Teine on vahetajate osakaal: mudel eeldab 45%, OCU kogemus oli umbes 10%. Selle mõõdab registreerumisvorm ja esimene hange. Kolmandaks peab operaator nõustuma meie tasu ja vahendusrolliga. Tele2 üldtingimused keelavad teenuse vahendamise ilma nõusolekuta, seega on see hanke tingimus. Isikutuvastuse lepime kokku SLA-s, tagavara on suunata liige operaatori lehele. Andmekaitse kohta küsime mentorilt ja siis Tuleva juristilt.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Varu: lõpukaart, kui aega jääb. Tuleva tegi nähtavaks pensionifondide tasud. Nüüd teeme sama telefoniarvega. Üksi pole sul läbirääkimisjõudu. Tuhandel inimesel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48630"/>
          </a:xfrm>
          <a:prstGeom prst="rect">
            <a:avLst/>
          </a:prstGeom>
          <a:noFill/>
          <a:ln/>
        </p:spPr>
        <p:txBody>
          <a:bodyPr wrap="square" lIns="0" tIns="0" rIns="0" bIns="0" rtlCol="0" anchor="t"/>
          <a:lstStyle>
            <a:lvl1pPr algn="l" indent="0" marL="0">
              <a:lnSpc>
                <a:spcPct val="115000"/>
              </a:lnSpc>
              <a:buNone/>
              <a:defRPr lang="en-US" sz="3600" dirty="0">
                <a:solidFill>
                  <a:srgbClr val="002F63"/>
                </a:solidFill>
                <a:latin typeface="Merriweather" pitchFamily="34" charset="0"/>
                <a:ea typeface="Merriweather" pitchFamily="34" charset="-122"/>
                <a:cs typeface="Merriweath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66230"/>
            <a:ext cx="10566400" cy="4378970"/>
          </a:xfrm>
          <a:prstGeom prst="rect">
            <a:avLst/>
          </a:prstGeom>
          <a:noFill/>
          <a:ln/>
        </p:spPr>
        <p:txBody>
          <a:bodyPr wrap="square" lIns="0" tIns="0" rIns="0" bIns="0" rtlCol="0" anchor="t"/>
          <a:lstStyle>
            <a:lvl1pPr algn="l" indent="0" marL="0">
              <a:lnSpc>
                <a:spcPct val="140000"/>
              </a:lnSpc>
              <a:buNone/>
              <a:defRPr lang="en-US" sz="1600" dirty="0">
                <a:solidFill>
                  <a:srgbClr val="002F63"/>
                </a:solidFill>
                <a:latin typeface="Roboto Flex" pitchFamily="34" charset="0"/>
                <a:ea typeface="Roboto Flex" pitchFamily="34" charset="-122"/>
                <a:cs typeface="Roboto Flex"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48630"/>
          </a:xfrm>
          <a:prstGeom prst="rect">
            <a:avLst/>
          </a:prstGeom>
          <a:noFill/>
          <a:ln/>
        </p:spPr>
        <p:txBody>
          <a:bodyPr wrap="square" lIns="0" tIns="0" rIns="0" bIns="0" rtlCol="0" anchor="t"/>
          <a:lstStyle>
            <a:lvl1pPr algn="l" indent="0" marL="0">
              <a:lnSpc>
                <a:spcPct val="115000"/>
              </a:lnSpc>
              <a:buNone/>
              <a:defRPr lang="en-US" sz="3600" dirty="0">
                <a:solidFill>
                  <a:srgbClr val="002F63"/>
                </a:solidFill>
                <a:latin typeface="Merriweather" pitchFamily="34" charset="0"/>
                <a:ea typeface="Merriweather" pitchFamily="34" charset="-122"/>
                <a:cs typeface="Merriweath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66230"/>
            <a:ext cx="10566400" cy="4378970"/>
          </a:xfrm>
          <a:prstGeom prst="rect">
            <a:avLst/>
          </a:prstGeom>
          <a:noFill/>
          <a:ln/>
        </p:spPr>
        <p:txBody>
          <a:bodyPr wrap="square" lIns="0" tIns="0" rIns="0" bIns="0" rtlCol="0" anchor="t"/>
          <a:lstStyle>
            <a:lvl1pPr algn="l" indent="0" marL="0">
              <a:lnSpc>
                <a:spcPct val="140000"/>
              </a:lnSpc>
              <a:buNone/>
              <a:defRPr lang="en-US" sz="1600" dirty="0">
                <a:solidFill>
                  <a:srgbClr val="002F63"/>
                </a:solidFill>
                <a:latin typeface="Roboto Flex" pitchFamily="34" charset="0"/>
                <a:ea typeface="Roboto Flex" pitchFamily="34" charset="-122"/>
                <a:cs typeface="Roboto Flex"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7FD"/>
        </a:solidFill>
      </p:bgPr>
    </p:bg>
    <p:spTree>
      <p:nvGrpSpPr>
        <p:cNvPr id="1" name=""/>
        <p:cNvGrpSpPr/>
        <p:nvPr/>
      </p:nvGrpSpPr>
      <p:grpSpPr>
        <a:xfrm>
          <a:off x="0" y="0"/>
          <a:ext cx="0" cy="0"/>
          <a:chOff x="0" y="0"/>
          <a:chExt cx="0" cy="0"/>
        </a:xfrm>
      </p:grpSpPr>
      <p:pic>
        <p:nvPicPr>
          <p:cNvPr id="2" name="Image 0" descr="Tuleva">    </p:cNvPr>
          <p:cNvPicPr>
            <a:picLocks noChangeAspect="1"/>
          </p:cNvPicPr>
          <p:nvPr/>
        </p:nvPicPr>
        <p:blipFill>
          <a:blip r:embed="rId1"/>
          <a:srcRect l="-510" r="-510" t="0" b="0"/>
          <a:stretch/>
        </p:blipFill>
        <p:spPr>
          <a:xfrm>
            <a:off x="812800" y="609600"/>
            <a:ext cx="1390650" cy="622300"/>
          </a:xfrm>
          <a:prstGeom prst="rect">
            <a:avLst/>
          </a:prstGeom>
        </p:spPr>
      </p:pic>
      <p:sp>
        <p:nvSpPr>
          <p:cNvPr id="3" name="Shape 0"/>
          <p:cNvSpPr/>
          <p:nvPr/>
        </p:nvSpPr>
        <p:spPr>
          <a:xfrm>
            <a:off x="812800" y="2278410"/>
            <a:ext cx="762000" cy="50800"/>
          </a:xfrm>
          <a:prstGeom prst="roundRect">
            <a:avLst>
              <a:gd name="adj" fmla="val 50000"/>
            </a:avLst>
          </a:prstGeom>
          <a:solidFill>
            <a:srgbClr val="00AEEA"/>
          </a:solidFill>
          <a:ln/>
        </p:spPr>
      </p:sp>
      <p:sp>
        <p:nvSpPr>
          <p:cNvPr id="4" name="Text 1"/>
          <p:cNvSpPr/>
          <p:nvPr>
            <p:ph type="title"/>
          </p:nvPr>
        </p:nvSpPr>
        <p:spPr>
          <a:xfrm>
            <a:off x="812800" y="2532410"/>
            <a:ext cx="10883392" cy="1143000"/>
          </a:xfrm>
          <a:prstGeom prst="rect">
            <a:avLst/>
          </a:prstGeom>
          <a:noFill/>
          <a:ln/>
        </p:spPr>
        <p:txBody>
          <a:bodyPr wrap="square" lIns="0" tIns="0" rIns="0" bIns="0" rtlCol="0" anchor="t">
            <a:normAutofit/>
          </a:bodyPr>
          <a:lstStyle/>
          <a:p>
            <a:pPr algn="l" indent="0" marL="0">
              <a:lnSpc>
                <a:spcPts val="8800"/>
              </a:lnSpc>
              <a:buNone/>
            </a:pPr>
            <a:r>
              <a:rPr lang="en-US" sz="8000" b="1" i="0" dirty="0">
                <a:solidFill>
                  <a:srgbClr val="002F63"/>
                </a:solidFill>
                <a:latin typeface="Merriweather" pitchFamily="18" charset="0"/>
                <a:ea typeface="Merriweather" pitchFamily="18" charset="-122"/>
                <a:cs typeface="Merriweather" pitchFamily="18" charset="-120"/>
              </a:rPr>
              <a:t>Tuleva Kogum</a:t>
            </a:r>
            <a:endParaRPr lang="en-US" sz="8000" dirty="0"/>
          </a:p>
        </p:txBody>
      </p:sp>
      <p:sp>
        <p:nvSpPr>
          <p:cNvPr id="5" name="Text 2"/>
          <p:cNvSpPr/>
          <p:nvPr/>
        </p:nvSpPr>
        <p:spPr>
          <a:xfrm>
            <a:off x="812800" y="3853210"/>
            <a:ext cx="98107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293036"/>
                </a:solidFill>
                <a:latin typeface="Roboto Flex" pitchFamily="34" charset="0"/>
                <a:ea typeface="Roboto Flex" pitchFamily="34" charset="-122"/>
                <a:cs typeface="Roboto Flex" pitchFamily="34" charset="-120"/>
              </a:rPr>
              <a:t>Tuleva küsib kord aastas kõigilt operaatoritelt ühe hinna ja liige vahetab paketi ühe allkirjaga.</a:t>
            </a:r>
            <a:endParaRPr lang="en-US" sz="22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Tuleva häkaton 2026 · kollektiivne ostujõud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2501900"/>
            <a:ext cx="10566400" cy="3302000"/>
          </a:xfrm>
          <a:prstGeom prst="roundRect">
            <a:avLst>
              <a:gd name="adj" fmla="val 3077"/>
            </a:avLst>
          </a:prstGeom>
          <a:solidFill>
            <a:srgbClr val="EDF7FD"/>
          </a:solidFill>
          <a:ln/>
        </p:spPr>
      </p:sp>
      <p:sp>
        <p:nvSpPr>
          <p:cNvPr id="3" name="Text 1"/>
          <p:cNvSpPr/>
          <p:nvPr>
            <p:ph type="title"/>
          </p:nvPr>
        </p:nvSpPr>
        <p:spPr>
          <a:xfrm>
            <a:off x="812800" y="812800"/>
            <a:ext cx="10883392" cy="112266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002F63"/>
                </a:solidFill>
                <a:latin typeface="Merriweather" pitchFamily="18" charset="0"/>
                <a:ea typeface="Merriweather" pitchFamily="18" charset="-122"/>
                <a:cs typeface="Merriweather" pitchFamily="18" charset="-120"/>
              </a:rPr>
              <a:t>Piiramatu internetiga pakett</a:t>
            </a:r>
            <a:endParaRPr lang="en-US" sz="3600" dirty="0"/>
          </a:p>
          <a:p>
            <a:pPr algn="l" indent="0" marL="0">
              <a:lnSpc>
                <a:spcPts val="4320"/>
              </a:lnSpc>
              <a:buNone/>
            </a:pPr>
            <a:r>
              <a:rPr lang="en-US" sz="3600" b="1" i="0" dirty="0">
                <a:solidFill>
                  <a:srgbClr val="006CE6"/>
                </a:solidFill>
                <a:latin typeface="Merriweather" pitchFamily="18" charset="0"/>
                <a:ea typeface="Merriweather" pitchFamily="18" charset="-122"/>
                <a:cs typeface="Merriweather" pitchFamily="18" charset="-120"/>
              </a:rPr>
              <a:t>35–44 €</a:t>
            </a:r>
            <a:r>
              <a:rPr lang="en-US" sz="3600" b="1" i="0" dirty="0">
                <a:solidFill>
                  <a:srgbClr val="002F63"/>
                </a:solidFill>
                <a:latin typeface="Merriweather" pitchFamily="18" charset="0"/>
                <a:ea typeface="Merriweather" pitchFamily="18" charset="-122"/>
                <a:cs typeface="Merriweather" pitchFamily="18" charset="-120"/>
              </a:rPr>
              <a:t> kuus</a:t>
            </a:r>
            <a:endParaRPr lang="en-US" sz="3600" dirty="0"/>
          </a:p>
        </p:txBody>
      </p:sp>
      <p:sp>
        <p:nvSpPr>
          <p:cNvPr id="4" name="Text 2"/>
          <p:cNvSpPr/>
          <p:nvPr/>
        </p:nvSpPr>
        <p:spPr>
          <a:xfrm>
            <a:off x="812800" y="201166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93036"/>
                </a:solidFill>
                <a:latin typeface="Roboto Flex" pitchFamily="34" charset="0"/>
                <a:ea typeface="Roboto Flex" pitchFamily="34" charset="-122"/>
                <a:cs typeface="Roboto Flex" pitchFamily="34" charset="-120"/>
              </a:rPr>
              <a:t>Liikmeküsitluses peab </a:t>
            </a:r>
            <a:r>
              <a:rPr lang="en-US" sz="1600" b="1" dirty="0">
                <a:solidFill>
                  <a:srgbClr val="293036"/>
                </a:solidFill>
                <a:latin typeface="Roboto Flex" pitchFamily="34" charset="0"/>
                <a:ea typeface="Roboto Flex" pitchFamily="34" charset="-122"/>
                <a:cs typeface="Roboto Flex" pitchFamily="34" charset="-120"/>
              </a:rPr>
              <a:t>83%</a:t>
            </a:r>
            <a:r>
              <a:rPr lang="en-US" sz="1600" dirty="0">
                <a:solidFill>
                  <a:srgbClr val="293036"/>
                </a:solidFill>
                <a:latin typeface="Roboto Flex" pitchFamily="34" charset="0"/>
                <a:ea typeface="Roboto Flex" pitchFamily="34" charset="-122"/>
                <a:cs typeface="Roboto Flex" pitchFamily="34" charset="-120"/>
              </a:rPr>
              <a:t> püsikulusid probleemiks · Eestis on </a:t>
            </a:r>
            <a:r>
              <a:rPr lang="en-US" sz="1600" b="1" dirty="0">
                <a:solidFill>
                  <a:srgbClr val="293036"/>
                </a:solidFill>
                <a:latin typeface="Roboto Flex" pitchFamily="34" charset="0"/>
                <a:ea typeface="Roboto Flex" pitchFamily="34" charset="-122"/>
                <a:cs typeface="Roboto Flex" pitchFamily="34" charset="-120"/>
              </a:rPr>
              <a:t>1,8 mln</a:t>
            </a:r>
            <a:r>
              <a:rPr lang="en-US" sz="1600" dirty="0">
                <a:solidFill>
                  <a:srgbClr val="293036"/>
                </a:solidFill>
                <a:latin typeface="Roboto Flex" pitchFamily="34" charset="0"/>
                <a:ea typeface="Roboto Flex" pitchFamily="34" charset="-122"/>
                <a:cs typeface="Roboto Flex" pitchFamily="34" charset="-120"/>
              </a:rPr>
              <a:t> lepingulist mobiilikasutajat</a:t>
            </a:r>
            <a:endParaRPr lang="en-US" sz="1600" dirty="0"/>
          </a:p>
        </p:txBody>
      </p:sp>
      <p:sp>
        <p:nvSpPr>
          <p:cNvPr id="5" name="Shape 3"/>
          <p:cNvSpPr/>
          <p:nvPr/>
        </p:nvSpPr>
        <p:spPr>
          <a:xfrm>
            <a:off x="1625600" y="4851400"/>
            <a:ext cx="8940800" cy="0"/>
          </a:xfrm>
          <a:prstGeom prst="line">
            <a:avLst/>
          </a:prstGeom>
          <a:noFill/>
          <a:ln w="12700">
            <a:solidFill>
              <a:srgbClr val="00AEEA"/>
            </a:solidFill>
            <a:prstDash val="dash"/>
          </a:ln>
        </p:spPr>
      </p:sp>
      <p:sp>
        <p:nvSpPr>
          <p:cNvPr id="6" name="Text 4"/>
          <p:cNvSpPr/>
          <p:nvPr/>
        </p:nvSpPr>
        <p:spPr>
          <a:xfrm>
            <a:off x="863600" y="4743450"/>
            <a:ext cx="685800" cy="22349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06CE6"/>
                </a:solidFill>
                <a:latin typeface="Roboto Flex" pitchFamily="34" charset="0"/>
                <a:ea typeface="Roboto Flex" pitchFamily="34" charset="-122"/>
                <a:cs typeface="Roboto Flex" pitchFamily="34" charset="-120"/>
              </a:rPr>
              <a:t>10 €</a:t>
            </a:r>
            <a:endParaRPr lang="en-US" sz="1200" dirty="0"/>
          </a:p>
        </p:txBody>
      </p:sp>
      <p:sp>
        <p:nvSpPr>
          <p:cNvPr id="7" name="Shape 5"/>
          <p:cNvSpPr/>
          <p:nvPr/>
        </p:nvSpPr>
        <p:spPr>
          <a:xfrm>
            <a:off x="2108200" y="3581400"/>
            <a:ext cx="1270000" cy="1778000"/>
          </a:xfrm>
          <a:custGeom>
            <a:avLst/>
            <a:gdLst/>
            <a:ahLst/>
            <a:cxnLst/>
            <a:rect l="l" t="t" r="r" b="b"/>
            <a:pathLst>
              <a:path w="1270000" h="1778000">
                <a:moveTo>
                  <a:pt x="101600" y="0"/>
                </a:moveTo>
                <a:lnTo>
                  <a:pt x="1168400" y="0"/>
                </a:lnTo>
                <a:arcTo hR="101600" wR="101600" stAng="16200000" swAng="5400000"/>
                <a:lnTo>
                  <a:pt x="1270000" y="1778000"/>
                </a:lnTo>
                <a:lnTo>
                  <a:pt x="0" y="1778000"/>
                </a:lnTo>
                <a:lnTo>
                  <a:pt x="0" y="101600"/>
                </a:lnTo>
                <a:arcTo hR="101600" wR="101600" stAng="10800000" swAng="5400000"/>
                <a:close/>
              </a:path>
            </a:pathLst>
          </a:custGeom>
          <a:solidFill>
            <a:srgbClr val="7D8FA3"/>
          </a:solidFill>
          <a:ln/>
        </p:spPr>
      </p:sp>
      <p:sp>
        <p:nvSpPr>
          <p:cNvPr id="8" name="Shape 6"/>
          <p:cNvSpPr/>
          <p:nvPr/>
        </p:nvSpPr>
        <p:spPr>
          <a:xfrm>
            <a:off x="4343400" y="3244850"/>
            <a:ext cx="1270000" cy="2114550"/>
          </a:xfrm>
          <a:custGeom>
            <a:avLst/>
            <a:gdLst/>
            <a:ahLst/>
            <a:cxnLst/>
            <a:rect l="l" t="t" r="r" b="b"/>
            <a:pathLst>
              <a:path w="1270000" h="2114550">
                <a:moveTo>
                  <a:pt x="101600" y="0"/>
                </a:moveTo>
                <a:lnTo>
                  <a:pt x="1168400" y="0"/>
                </a:lnTo>
                <a:arcTo hR="101600" wR="101600" stAng="16200000" swAng="5400000"/>
                <a:lnTo>
                  <a:pt x="1270000" y="2114550"/>
                </a:lnTo>
                <a:lnTo>
                  <a:pt x="0" y="2114550"/>
                </a:lnTo>
                <a:lnTo>
                  <a:pt x="0" y="101600"/>
                </a:lnTo>
                <a:arcTo hR="101600" wR="101600" stAng="10800000" swAng="5400000"/>
                <a:close/>
              </a:path>
            </a:pathLst>
          </a:custGeom>
          <a:solidFill>
            <a:srgbClr val="7D8FA3"/>
          </a:solidFill>
          <a:ln/>
        </p:spPr>
      </p:sp>
      <p:sp>
        <p:nvSpPr>
          <p:cNvPr id="9" name="Shape 7"/>
          <p:cNvSpPr/>
          <p:nvPr/>
        </p:nvSpPr>
        <p:spPr>
          <a:xfrm>
            <a:off x="6578600" y="3124200"/>
            <a:ext cx="1270000" cy="2235200"/>
          </a:xfrm>
          <a:custGeom>
            <a:avLst/>
            <a:gdLst/>
            <a:ahLst/>
            <a:cxnLst/>
            <a:rect l="l" t="t" r="r" b="b"/>
            <a:pathLst>
              <a:path w="1270000" h="2235200">
                <a:moveTo>
                  <a:pt x="101600" y="0"/>
                </a:moveTo>
                <a:lnTo>
                  <a:pt x="1168400" y="0"/>
                </a:lnTo>
                <a:arcTo hR="101600" wR="101600" stAng="16200000" swAng="5400000"/>
                <a:lnTo>
                  <a:pt x="1270000" y="2235200"/>
                </a:lnTo>
                <a:lnTo>
                  <a:pt x="0" y="2235200"/>
                </a:lnTo>
                <a:lnTo>
                  <a:pt x="0" y="101600"/>
                </a:lnTo>
                <a:arcTo hR="101600" wR="101600" stAng="10800000" swAng="5400000"/>
                <a:close/>
              </a:path>
            </a:pathLst>
          </a:custGeom>
          <a:solidFill>
            <a:srgbClr val="7D8FA3"/>
          </a:solidFill>
          <a:ln/>
        </p:spPr>
      </p:sp>
      <p:sp>
        <p:nvSpPr>
          <p:cNvPr id="10" name="Shape 8"/>
          <p:cNvSpPr/>
          <p:nvPr/>
        </p:nvSpPr>
        <p:spPr>
          <a:xfrm>
            <a:off x="8813800" y="4851400"/>
            <a:ext cx="1270000" cy="508000"/>
          </a:xfrm>
          <a:custGeom>
            <a:avLst/>
            <a:gdLst/>
            <a:ahLst/>
            <a:cxnLst/>
            <a:rect l="l" t="t" r="r" b="b"/>
            <a:pathLst>
              <a:path w="1270000" h="508000">
                <a:moveTo>
                  <a:pt x="101600" y="0"/>
                </a:moveTo>
                <a:lnTo>
                  <a:pt x="1168400" y="0"/>
                </a:lnTo>
                <a:arcTo hR="101600" wR="101600" stAng="16200000" swAng="5400000"/>
                <a:lnTo>
                  <a:pt x="1270000" y="508000"/>
                </a:lnTo>
                <a:lnTo>
                  <a:pt x="0" y="508000"/>
                </a:lnTo>
                <a:lnTo>
                  <a:pt x="0" y="101600"/>
                </a:lnTo>
                <a:arcTo hR="101600" wR="101600" stAng="10800000" swAng="5400000"/>
                <a:close/>
              </a:path>
            </a:pathLst>
          </a:custGeom>
          <a:solidFill>
            <a:srgbClr val="00AEEA">
              <a:alpha val="10000"/>
            </a:srgbClr>
          </a:solidFill>
          <a:ln/>
        </p:spPr>
      </p:sp>
      <p:sp>
        <p:nvSpPr>
          <p:cNvPr id="11" name="Shape 9"/>
          <p:cNvSpPr/>
          <p:nvPr/>
        </p:nvSpPr>
        <p:spPr>
          <a:xfrm>
            <a:off x="8813800" y="4857750"/>
            <a:ext cx="1270000" cy="0"/>
          </a:xfrm>
          <a:prstGeom prst="line">
            <a:avLst/>
          </a:prstGeom>
          <a:noFill/>
          <a:ln w="12700">
            <a:solidFill>
              <a:srgbClr val="00AEEA"/>
            </a:solidFill>
            <a:prstDash val="dash"/>
          </a:ln>
        </p:spPr>
      </p:sp>
      <p:sp>
        <p:nvSpPr>
          <p:cNvPr id="12" name="Shape 10"/>
          <p:cNvSpPr/>
          <p:nvPr/>
        </p:nvSpPr>
        <p:spPr>
          <a:xfrm>
            <a:off x="10077450" y="4851400"/>
            <a:ext cx="0" cy="508000"/>
          </a:xfrm>
          <a:prstGeom prst="line">
            <a:avLst/>
          </a:prstGeom>
          <a:noFill/>
          <a:ln w="12700">
            <a:solidFill>
              <a:srgbClr val="00AEEA"/>
            </a:solidFill>
            <a:prstDash val="dash"/>
          </a:ln>
        </p:spPr>
      </p:sp>
      <p:sp>
        <p:nvSpPr>
          <p:cNvPr id="13" name="Shape 11"/>
          <p:cNvSpPr/>
          <p:nvPr/>
        </p:nvSpPr>
        <p:spPr>
          <a:xfrm>
            <a:off x="8820150" y="4851400"/>
            <a:ext cx="0" cy="508000"/>
          </a:xfrm>
          <a:prstGeom prst="line">
            <a:avLst/>
          </a:prstGeom>
          <a:noFill/>
          <a:ln w="12700">
            <a:solidFill>
              <a:srgbClr val="00AEEA"/>
            </a:solidFill>
            <a:prstDash val="dash"/>
          </a:ln>
        </p:spPr>
      </p:sp>
      <p:sp>
        <p:nvSpPr>
          <p:cNvPr id="14" name="Shape 12"/>
          <p:cNvSpPr/>
          <p:nvPr/>
        </p:nvSpPr>
        <p:spPr>
          <a:xfrm>
            <a:off x="8813800" y="4851400"/>
            <a:ext cx="1270000" cy="508000"/>
          </a:xfrm>
          <a:custGeom>
            <a:avLst/>
            <a:gdLst/>
            <a:ahLst/>
            <a:cxnLst/>
            <a:rect l="l" t="t" r="r" b="b"/>
            <a:pathLst>
              <a:path w="1270000" h="508000">
                <a:moveTo>
                  <a:pt x="101600" y="0"/>
                </a:moveTo>
                <a:lnTo>
                  <a:pt x="1168400" y="0"/>
                </a:lnTo>
                <a:arcTo hR="101600" wR="101600" stAng="16200000" swAng="5400000"/>
                <a:lnTo>
                  <a:pt x="1270000" y="508000"/>
                </a:lnTo>
                <a:lnTo>
                  <a:pt x="0" y="508000"/>
                </a:lnTo>
                <a:lnTo>
                  <a:pt x="0" y="101600"/>
                </a:lnTo>
                <a:arcTo hR="101600" wR="101600" stAng="10800000" swAng="5400000"/>
                <a:close/>
              </a:path>
            </a:pathLst>
          </a:custGeom>
          <a:gradFill rotWithShape="1">
            <a:gsLst>
              <a:gs pos="0">
                <a:srgbClr val="006CE6"/>
              </a:gs>
              <a:gs pos="55000">
                <a:srgbClr val="00AEEA"/>
              </a:gs>
              <a:gs pos="100000">
                <a:srgbClr val="00AEEA">
                  <a:alpha val="0"/>
                </a:srgbClr>
              </a:gs>
            </a:gsLst>
            <a:lin ang="16200000" scaled="0"/>
          </a:gradFill>
          <a:ln/>
          <a:effectLst>
            <a:outerShdw sx="100000" sy="100000" kx="0" ky="0" algn="bl" rotWithShape="0" blurRad="203200" dist="152400" dir="5400000">
              <a:srgbClr val="006CE6">
                <a:alpha val="45000"/>
              </a:srgbClr>
            </a:outerShdw>
          </a:effectLst>
        </p:spPr>
      </p:sp>
      <p:sp>
        <p:nvSpPr>
          <p:cNvPr id="15" name="Shape 13"/>
          <p:cNvSpPr/>
          <p:nvPr/>
        </p:nvSpPr>
        <p:spPr>
          <a:xfrm>
            <a:off x="1625600" y="5359400"/>
            <a:ext cx="8940800" cy="12700"/>
          </a:xfrm>
          <a:prstGeom prst="rect">
            <a:avLst/>
          </a:prstGeom>
          <a:solidFill>
            <a:srgbClr val="293036"/>
          </a:solidFill>
          <a:ln/>
        </p:spPr>
      </p:sp>
      <p:sp>
        <p:nvSpPr>
          <p:cNvPr id="16" name="Text 14"/>
          <p:cNvSpPr/>
          <p:nvPr/>
        </p:nvSpPr>
        <p:spPr>
          <a:xfrm>
            <a:off x="1696720" y="3143250"/>
            <a:ext cx="2092960" cy="360660"/>
          </a:xfrm>
          <a:prstGeom prst="rect">
            <a:avLst/>
          </a:prstGeom>
          <a:noFill/>
          <a:ln/>
        </p:spPr>
        <p:txBody>
          <a:bodyPr wrap="square" lIns="0" tIns="0" rIns="0" bIns="0" rtlCol="0" anchor="t">
            <a:normAutofit/>
          </a:bodyPr>
          <a:lstStyle/>
          <a:p>
            <a:pPr algn="ctr" indent="0" marL="0">
              <a:lnSpc>
                <a:spcPts val="2640"/>
              </a:lnSpc>
              <a:buNone/>
            </a:pPr>
            <a:r>
              <a:rPr lang="en-US" sz="2200" b="1" dirty="0">
                <a:solidFill>
                  <a:srgbClr val="002F63"/>
                </a:solidFill>
                <a:latin typeface="Merriweather" pitchFamily="18" charset="0"/>
                <a:ea typeface="Merriweather" pitchFamily="18" charset="-122"/>
                <a:cs typeface="Merriweather" pitchFamily="18" charset="-120"/>
              </a:rPr>
              <a:t>34,99 €</a:t>
            </a:r>
            <a:endParaRPr lang="en-US" sz="2200" dirty="0"/>
          </a:p>
        </p:txBody>
      </p:sp>
      <p:sp>
        <p:nvSpPr>
          <p:cNvPr id="17" name="Text 15"/>
          <p:cNvSpPr/>
          <p:nvPr/>
        </p:nvSpPr>
        <p:spPr>
          <a:xfrm>
            <a:off x="3931920" y="2806700"/>
            <a:ext cx="2092960" cy="360660"/>
          </a:xfrm>
          <a:prstGeom prst="rect">
            <a:avLst/>
          </a:prstGeom>
          <a:noFill/>
          <a:ln/>
        </p:spPr>
        <p:txBody>
          <a:bodyPr wrap="square" lIns="0" tIns="0" rIns="0" bIns="0" rtlCol="0" anchor="t">
            <a:normAutofit/>
          </a:bodyPr>
          <a:lstStyle/>
          <a:p>
            <a:pPr algn="ctr" indent="0" marL="0">
              <a:lnSpc>
                <a:spcPts val="2640"/>
              </a:lnSpc>
              <a:buNone/>
            </a:pPr>
            <a:r>
              <a:rPr lang="en-US" sz="2200" b="1" dirty="0">
                <a:solidFill>
                  <a:srgbClr val="002F63"/>
                </a:solidFill>
                <a:latin typeface="Merriweather" pitchFamily="18" charset="0"/>
                <a:ea typeface="Merriweather" pitchFamily="18" charset="-122"/>
                <a:cs typeface="Merriweather" pitchFamily="18" charset="-120"/>
              </a:rPr>
              <a:t>41,65 €</a:t>
            </a:r>
            <a:endParaRPr lang="en-US" sz="2200" dirty="0"/>
          </a:p>
        </p:txBody>
      </p:sp>
      <p:sp>
        <p:nvSpPr>
          <p:cNvPr id="18" name="Text 16"/>
          <p:cNvSpPr/>
          <p:nvPr/>
        </p:nvSpPr>
        <p:spPr>
          <a:xfrm>
            <a:off x="6167120" y="2686050"/>
            <a:ext cx="2092960" cy="360660"/>
          </a:xfrm>
          <a:prstGeom prst="rect">
            <a:avLst/>
          </a:prstGeom>
          <a:noFill/>
          <a:ln/>
        </p:spPr>
        <p:txBody>
          <a:bodyPr wrap="square" lIns="0" tIns="0" rIns="0" bIns="0" rtlCol="0" anchor="t">
            <a:normAutofit/>
          </a:bodyPr>
          <a:lstStyle/>
          <a:p>
            <a:pPr algn="ctr" indent="0" marL="0">
              <a:lnSpc>
                <a:spcPts val="2640"/>
              </a:lnSpc>
              <a:buNone/>
            </a:pPr>
            <a:r>
              <a:rPr lang="en-US" sz="2200" b="1" dirty="0">
                <a:solidFill>
                  <a:srgbClr val="002F63"/>
                </a:solidFill>
                <a:latin typeface="Merriweather" pitchFamily="18" charset="0"/>
                <a:ea typeface="Merriweather" pitchFamily="18" charset="-122"/>
                <a:cs typeface="Merriweather" pitchFamily="18" charset="-120"/>
              </a:rPr>
              <a:t>43,99 €</a:t>
            </a:r>
            <a:endParaRPr lang="en-US" sz="2200" dirty="0"/>
          </a:p>
        </p:txBody>
      </p:sp>
      <p:pic>
        <p:nvPicPr>
          <p:cNvPr id="19" name="Image 0" descr="arrow-down">    </p:cNvPr>
          <p:cNvPicPr>
            <a:picLocks noChangeAspect="1"/>
          </p:cNvPicPr>
          <p:nvPr/>
        </p:nvPicPr>
        <p:blipFill>
          <a:blip r:embed="rId1"/>
          <a:srcRect l="0" r="0" t="0" b="0"/>
          <a:stretch/>
        </p:blipFill>
        <p:spPr>
          <a:xfrm>
            <a:off x="9385300" y="4470400"/>
            <a:ext cx="127000" cy="254000"/>
          </a:xfrm>
          <a:prstGeom prst="rect">
            <a:avLst/>
          </a:prstGeom>
        </p:spPr>
      </p:pic>
      <p:sp>
        <p:nvSpPr>
          <p:cNvPr id="20" name="Text 17"/>
          <p:cNvSpPr/>
          <p:nvPr/>
        </p:nvSpPr>
        <p:spPr>
          <a:xfrm>
            <a:off x="8750300" y="4013200"/>
            <a:ext cx="1397000" cy="365720"/>
          </a:xfrm>
          <a:custGeom>
            <a:avLst/>
            <a:gdLst/>
            <a:ahLst/>
            <a:cxnLst/>
            <a:rect l="l" t="t" r="r" b="b"/>
            <a:pathLst>
              <a:path w="1397000" h="365720">
                <a:moveTo>
                  <a:pt x="182860" y="0"/>
                </a:moveTo>
                <a:lnTo>
                  <a:pt x="1214140" y="0"/>
                </a:lnTo>
                <a:arcTo hR="182860" wR="182860" stAng="16200000" swAng="5400000"/>
                <a:lnTo>
                  <a:pt x="1397000" y="182860"/>
                </a:lnTo>
                <a:arcTo hR="182860" wR="182860" stAng="0" swAng="5400000"/>
                <a:lnTo>
                  <a:pt x="182860" y="365720"/>
                </a:lnTo>
                <a:arcTo hR="182860" wR="182860" stAng="5400000" swAng="5400000"/>
                <a:lnTo>
                  <a:pt x="0" y="182860"/>
                </a:lnTo>
                <a:arcTo hR="182860" wR="182860" stAng="10800000" swAng="5400000"/>
                <a:close/>
              </a:path>
            </a:pathLst>
          </a:custGeom>
          <a:solidFill>
            <a:srgbClr val="006CE6"/>
          </a:solidFill>
          <a:ln/>
        </p:spPr>
        <p:txBody>
          <a:bodyPr wrap="square" lIns="76200" tIns="50800" rIns="76200" bIns="25400" rtlCol="0" anchor="t">
            <a:normAutofit/>
          </a:bodyPr>
          <a:lstStyle/>
          <a:p>
            <a:pPr algn="ctr" indent="0" marL="0">
              <a:lnSpc>
                <a:spcPts val="2080"/>
              </a:lnSpc>
              <a:buNone/>
            </a:pPr>
            <a:r>
              <a:rPr lang="en-US" sz="1600" b="1" dirty="0">
                <a:solidFill>
                  <a:srgbClr val="FFFFFF"/>
                </a:solidFill>
                <a:latin typeface="Roboto Flex" pitchFamily="34" charset="0"/>
                <a:ea typeface="Roboto Flex" pitchFamily="34" charset="-122"/>
                <a:cs typeface="Roboto Flex" pitchFamily="34" charset="-120"/>
              </a:rPr>
              <a:t>alla 10 €</a:t>
            </a:r>
            <a:endParaRPr lang="en-US" sz="1600" dirty="0"/>
          </a:p>
        </p:txBody>
      </p:sp>
      <p:sp>
        <p:nvSpPr>
          <p:cNvPr id="21" name="Text 18"/>
          <p:cNvSpPr/>
          <p:nvPr/>
        </p:nvSpPr>
        <p:spPr>
          <a:xfrm>
            <a:off x="1696720" y="5473700"/>
            <a:ext cx="209296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293036"/>
                </a:solidFill>
                <a:latin typeface="Roboto Flex" pitchFamily="34" charset="0"/>
                <a:ea typeface="Roboto Flex" pitchFamily="34" charset="-122"/>
                <a:cs typeface="Roboto Flex" pitchFamily="34" charset="-120"/>
              </a:rPr>
              <a:t>Tele2</a:t>
            </a:r>
            <a:endParaRPr lang="en-US" sz="1600" dirty="0"/>
          </a:p>
        </p:txBody>
      </p:sp>
      <p:sp>
        <p:nvSpPr>
          <p:cNvPr id="22" name="Text 19"/>
          <p:cNvSpPr/>
          <p:nvPr/>
        </p:nvSpPr>
        <p:spPr>
          <a:xfrm>
            <a:off x="3931920" y="5473700"/>
            <a:ext cx="209296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293036"/>
                </a:solidFill>
                <a:latin typeface="Roboto Flex" pitchFamily="34" charset="0"/>
                <a:ea typeface="Roboto Flex" pitchFamily="34" charset="-122"/>
                <a:cs typeface="Roboto Flex" pitchFamily="34" charset="-120"/>
              </a:rPr>
              <a:t>Telia</a:t>
            </a:r>
            <a:endParaRPr lang="en-US" sz="1600" dirty="0"/>
          </a:p>
        </p:txBody>
      </p:sp>
      <p:sp>
        <p:nvSpPr>
          <p:cNvPr id="23" name="Text 20"/>
          <p:cNvSpPr/>
          <p:nvPr/>
        </p:nvSpPr>
        <p:spPr>
          <a:xfrm>
            <a:off x="6167120" y="5473700"/>
            <a:ext cx="209296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293036"/>
                </a:solidFill>
                <a:latin typeface="Roboto Flex" pitchFamily="34" charset="0"/>
                <a:ea typeface="Roboto Flex" pitchFamily="34" charset="-122"/>
                <a:cs typeface="Roboto Flex" pitchFamily="34" charset="-120"/>
              </a:rPr>
              <a:t>Elisa</a:t>
            </a:r>
            <a:endParaRPr lang="en-US" sz="1600" dirty="0"/>
          </a:p>
        </p:txBody>
      </p:sp>
      <p:sp>
        <p:nvSpPr>
          <p:cNvPr id="24" name="Text 21"/>
          <p:cNvSpPr/>
          <p:nvPr/>
        </p:nvSpPr>
        <p:spPr>
          <a:xfrm>
            <a:off x="8402320" y="5473700"/>
            <a:ext cx="2092960" cy="289520"/>
          </a:xfrm>
          <a:prstGeom prst="rect">
            <a:avLst/>
          </a:prstGeom>
          <a:noFill/>
          <a:ln/>
        </p:spPr>
        <p:txBody>
          <a:bodyPr wrap="square" lIns="0" tIns="0" rIns="0" bIns="0" rtlCol="0" anchor="t">
            <a:normAutofit/>
          </a:bodyPr>
          <a:lstStyle/>
          <a:p>
            <a:pPr algn="ctr" indent="0" marL="0">
              <a:lnSpc>
                <a:spcPts val="2080"/>
              </a:lnSpc>
              <a:buNone/>
            </a:pPr>
            <a:r>
              <a:rPr lang="en-US" sz="1600" b="1" dirty="0">
                <a:solidFill>
                  <a:srgbClr val="006CE6"/>
                </a:solidFill>
                <a:latin typeface="Roboto Flex" pitchFamily="34" charset="0"/>
                <a:ea typeface="Roboto Flex" pitchFamily="34" charset="-122"/>
                <a:cs typeface="Roboto Flex" pitchFamily="34" charset="-120"/>
              </a:rPr>
              <a:t>Tuleva Kogum</a:t>
            </a:r>
            <a:endParaRPr lang="en-US" sz="1600" dirty="0"/>
          </a:p>
        </p:txBody>
      </p:sp>
      <p:sp>
        <p:nvSpPr>
          <p:cNvPr id="25" name="Text 22"/>
          <p:cNvSpPr/>
          <p:nvPr/>
        </p:nvSpPr>
        <p:spPr>
          <a:xfrm>
            <a:off x="812800" y="6238280"/>
            <a:ext cx="79621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Tavahind ilma sidumiseta 27.09–10.10.2026 · TTJA 2025 · Tuleva liikmeküsitlus 2026 · Kogum: eesmärk</a:t>
            </a:r>
            <a:endParaRPr lang="en-US" sz="1200" dirty="0"/>
          </a:p>
        </p:txBody>
      </p:sp>
      <p:sp>
        <p:nvSpPr>
          <p:cNvPr id="26" name="Text 23"/>
          <p:cNvSpPr/>
          <p:nvPr/>
        </p:nvSpPr>
        <p:spPr>
          <a:xfrm>
            <a:off x="11246594" y="6238280"/>
            <a:ext cx="13260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F63"/>
        </a:solidFill>
      </p:bgPr>
    </p:bg>
    <p:spTree>
      <p:nvGrpSpPr>
        <p:cNvPr id="1" name=""/>
        <p:cNvGrpSpPr/>
        <p:nvPr/>
      </p:nvGrpSpPr>
      <p:grpSpPr>
        <a:xfrm>
          <a:off x="0" y="0"/>
          <a:ext cx="0" cy="0"/>
          <a:chOff x="0" y="0"/>
          <a:chExt cx="0" cy="0"/>
        </a:xfrm>
      </p:grpSpPr>
      <p:sp>
        <p:nvSpPr>
          <p:cNvPr id="2" name="Shape 0"/>
          <p:cNvSpPr/>
          <p:nvPr/>
        </p:nvSpPr>
        <p:spPr>
          <a:xfrm>
            <a:off x="812800" y="2459980"/>
            <a:ext cx="762000" cy="50800"/>
          </a:xfrm>
          <a:prstGeom prst="roundRect">
            <a:avLst>
              <a:gd name="adj" fmla="val 50000"/>
            </a:avLst>
          </a:prstGeom>
          <a:solidFill>
            <a:srgbClr val="00AEEA"/>
          </a:solidFill>
          <a:ln/>
        </p:spPr>
      </p:sp>
      <p:sp>
        <p:nvSpPr>
          <p:cNvPr id="3" name="Text 1"/>
          <p:cNvSpPr/>
          <p:nvPr>
            <p:ph type="title"/>
          </p:nvPr>
        </p:nvSpPr>
        <p:spPr>
          <a:xfrm>
            <a:off x="812800" y="2713980"/>
            <a:ext cx="10883392" cy="1143000"/>
          </a:xfrm>
          <a:prstGeom prst="rect">
            <a:avLst/>
          </a:prstGeom>
          <a:noFill/>
          <a:ln/>
        </p:spPr>
        <p:txBody>
          <a:bodyPr wrap="square" lIns="0" tIns="0" rIns="0" bIns="0" rtlCol="0" anchor="t">
            <a:normAutofit/>
          </a:bodyPr>
          <a:lstStyle/>
          <a:p>
            <a:pPr algn="l" indent="0" marL="0">
              <a:lnSpc>
                <a:spcPts val="8800"/>
              </a:lnSpc>
              <a:buNone/>
            </a:pPr>
            <a:r>
              <a:rPr lang="en-US" sz="8000" b="1" i="0" dirty="0">
                <a:solidFill>
                  <a:srgbClr val="FFFFFF"/>
                </a:solidFill>
                <a:latin typeface="Merriweather" pitchFamily="18" charset="0"/>
                <a:ea typeface="Merriweather" pitchFamily="18" charset="-122"/>
                <a:cs typeface="Merriweather" pitchFamily="18" charset="-120"/>
              </a:rPr>
              <a:t>Demo</a:t>
            </a:r>
            <a:endParaRPr lang="en-US" sz="8000" dirty="0"/>
          </a:p>
        </p:txBody>
      </p:sp>
      <p:sp>
        <p:nvSpPr>
          <p:cNvPr id="4" name="Text 2"/>
          <p:cNvSpPr/>
          <p:nvPr/>
        </p:nvSpPr>
        <p:spPr>
          <a:xfrm>
            <a:off x="812800" y="403478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A9C6E2"/>
                </a:solidFill>
                <a:latin typeface="Roboto Flex" pitchFamily="34" charset="0"/>
                <a:ea typeface="Roboto Flex" pitchFamily="34" charset="-122"/>
                <a:cs typeface="Roboto Flex" pitchFamily="34" charset="-120"/>
              </a:rPr>
              <a:t>Kadri vahetab paketi ühe allkirjaga</a:t>
            </a:r>
            <a:endParaRPr lang="en-US" sz="2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DCA"/>
                </a:solidFill>
                <a:latin typeface="Roboto Flex" pitchFamily="34" charset="0"/>
                <a:ea typeface="Roboto Flex" pitchFamily="34" charset="-122"/>
                <a:cs typeface="Roboto Flex" pitchFamily="34" charset="-120"/>
              </a:rPr>
              <a:t>Prototüüp · andmed on näidis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002F63"/>
                </a:solidFill>
                <a:latin typeface="Merriweather" pitchFamily="18" charset="0"/>
                <a:ea typeface="Merriweather" pitchFamily="18" charset="-122"/>
                <a:cs typeface="Merriweather" pitchFamily="18" charset="-120"/>
              </a:rPr>
              <a:t>Miks Tuleva?</a:t>
            </a:r>
            <a:endParaRPr lang="en-US" sz="3600" dirty="0"/>
          </a:p>
        </p:txBody>
      </p:sp>
      <p:sp>
        <p:nvSpPr>
          <p:cNvPr id="3" name="Shape 1"/>
          <p:cNvSpPr/>
          <p:nvPr/>
        </p:nvSpPr>
        <p:spPr>
          <a:xfrm>
            <a:off x="812800" y="2565400"/>
            <a:ext cx="3318917" cy="2275780"/>
          </a:xfrm>
          <a:prstGeom prst="roundRect">
            <a:avLst>
              <a:gd name="adj" fmla="val 4464"/>
            </a:avLst>
          </a:prstGeom>
          <a:solidFill>
            <a:srgbClr val="EDF7FD"/>
          </a:solidFill>
          <a:ln/>
        </p:spPr>
      </p:sp>
      <p:pic>
        <p:nvPicPr>
          <p:cNvPr id="4" name="Image 0" descr="Search">    </p:cNvPr>
          <p:cNvPicPr>
            <a:picLocks noChangeAspect="1"/>
          </p:cNvPicPr>
          <p:nvPr/>
        </p:nvPicPr>
        <p:blipFill>
          <a:blip r:embed="rId1"/>
          <a:srcRect l="0" r="0" t="0" b="0"/>
          <a:stretch/>
        </p:blipFill>
        <p:spPr>
          <a:xfrm>
            <a:off x="1117600" y="2870200"/>
            <a:ext cx="406400" cy="406400"/>
          </a:xfrm>
          <a:prstGeom prst="rect">
            <a:avLst/>
          </a:prstGeom>
        </p:spPr>
      </p:pic>
      <p:sp>
        <p:nvSpPr>
          <p:cNvPr id="5" name="Text 2"/>
          <p:cNvSpPr/>
          <p:nvPr/>
        </p:nvSpPr>
        <p:spPr>
          <a:xfrm>
            <a:off x="1117600" y="3429000"/>
            <a:ext cx="279059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2F63"/>
                </a:solidFill>
                <a:latin typeface="Merriweather" pitchFamily="18" charset="0"/>
                <a:ea typeface="Merriweather" pitchFamily="18" charset="-122"/>
                <a:cs typeface="Merriweather" pitchFamily="18" charset="-120"/>
              </a:rPr>
              <a:t>Tasud nähtavaks</a:t>
            </a:r>
            <a:endParaRPr lang="en-US" sz="2200" dirty="0"/>
          </a:p>
        </p:txBody>
      </p:sp>
      <p:sp>
        <p:nvSpPr>
          <p:cNvPr id="6" name="Text 3"/>
          <p:cNvSpPr/>
          <p:nvPr/>
        </p:nvSpPr>
        <p:spPr>
          <a:xfrm>
            <a:off x="1117600" y="3916660"/>
            <a:ext cx="279059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93036"/>
                </a:solidFill>
                <a:latin typeface="Roboto Flex" pitchFamily="34" charset="0"/>
                <a:ea typeface="Roboto Flex" pitchFamily="34" charset="-122"/>
                <a:cs typeface="Roboto Flex" pitchFamily="34" charset="-120"/>
              </a:rPr>
              <a:t>Tegime seda pensionifondidega</a:t>
            </a:r>
            <a:endParaRPr lang="en-US" sz="1600" dirty="0"/>
          </a:p>
        </p:txBody>
      </p:sp>
      <p:sp>
        <p:nvSpPr>
          <p:cNvPr id="7" name="Shape 4"/>
          <p:cNvSpPr/>
          <p:nvPr/>
        </p:nvSpPr>
        <p:spPr>
          <a:xfrm>
            <a:off x="4436517" y="2565400"/>
            <a:ext cx="3318966" cy="2275780"/>
          </a:xfrm>
          <a:prstGeom prst="roundRect">
            <a:avLst>
              <a:gd name="adj" fmla="val 4464"/>
            </a:avLst>
          </a:prstGeom>
          <a:solidFill>
            <a:srgbClr val="EDF7FD"/>
          </a:solidFill>
          <a:ln/>
        </p:spPr>
      </p:sp>
      <p:pic>
        <p:nvPicPr>
          <p:cNvPr id="8" name="Image 1" descr="Trust">    </p:cNvPr>
          <p:cNvPicPr>
            <a:picLocks noChangeAspect="1"/>
          </p:cNvPicPr>
          <p:nvPr/>
        </p:nvPicPr>
        <p:blipFill>
          <a:blip r:embed="rId2"/>
          <a:srcRect l="0" r="0" t="0" b="0"/>
          <a:stretch/>
        </p:blipFill>
        <p:spPr>
          <a:xfrm>
            <a:off x="4741317" y="2870200"/>
            <a:ext cx="406400" cy="406400"/>
          </a:xfrm>
          <a:prstGeom prst="rect">
            <a:avLst/>
          </a:prstGeom>
        </p:spPr>
      </p:pic>
      <p:sp>
        <p:nvSpPr>
          <p:cNvPr id="9" name="Text 5"/>
          <p:cNvSpPr/>
          <p:nvPr/>
        </p:nvSpPr>
        <p:spPr>
          <a:xfrm>
            <a:off x="4741317" y="3429000"/>
            <a:ext cx="2790647"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2F63"/>
                </a:solidFill>
                <a:latin typeface="Merriweather" pitchFamily="18" charset="0"/>
                <a:ea typeface="Merriweather" pitchFamily="18" charset="-122"/>
                <a:cs typeface="Merriweather" pitchFamily="18" charset="-120"/>
              </a:rPr>
              <a:t>Ühistu, mitte müüja</a:t>
            </a:r>
            <a:endParaRPr lang="en-US" sz="2200" dirty="0"/>
          </a:p>
        </p:txBody>
      </p:sp>
      <p:sp>
        <p:nvSpPr>
          <p:cNvPr id="10" name="Text 6"/>
          <p:cNvSpPr/>
          <p:nvPr/>
        </p:nvSpPr>
        <p:spPr>
          <a:xfrm>
            <a:off x="4741317" y="4251920"/>
            <a:ext cx="279064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93036"/>
                </a:solidFill>
                <a:latin typeface="Roboto Flex" pitchFamily="34" charset="0"/>
                <a:ea typeface="Roboto Flex" pitchFamily="34" charset="-122"/>
                <a:cs typeface="Roboto Flex" pitchFamily="34" charset="-120"/>
              </a:rPr>
              <a:t>Fikseeritud tasu, kõigilt sama</a:t>
            </a:r>
            <a:endParaRPr lang="en-US" sz="1600" dirty="0"/>
          </a:p>
        </p:txBody>
      </p:sp>
      <p:sp>
        <p:nvSpPr>
          <p:cNvPr id="11" name="Shape 7"/>
          <p:cNvSpPr/>
          <p:nvPr/>
        </p:nvSpPr>
        <p:spPr>
          <a:xfrm>
            <a:off x="8060283" y="2565400"/>
            <a:ext cx="3318917" cy="2275780"/>
          </a:xfrm>
          <a:prstGeom prst="roundRect">
            <a:avLst>
              <a:gd name="adj" fmla="val 4464"/>
            </a:avLst>
          </a:prstGeom>
          <a:solidFill>
            <a:srgbClr val="EDF7FD"/>
          </a:solidFill>
          <a:ln/>
        </p:spPr>
      </p:sp>
      <p:pic>
        <p:nvPicPr>
          <p:cNvPr id="12" name="Image 2" descr="Users">    </p:cNvPr>
          <p:cNvPicPr>
            <a:picLocks noChangeAspect="1"/>
          </p:cNvPicPr>
          <p:nvPr/>
        </p:nvPicPr>
        <p:blipFill>
          <a:blip r:embed="rId3"/>
          <a:srcRect l="0" r="0" t="0" b="0"/>
          <a:stretch/>
        </p:blipFill>
        <p:spPr>
          <a:xfrm>
            <a:off x="8365083" y="2870200"/>
            <a:ext cx="406400" cy="406400"/>
          </a:xfrm>
          <a:prstGeom prst="rect">
            <a:avLst/>
          </a:prstGeom>
        </p:spPr>
      </p:pic>
      <p:sp>
        <p:nvSpPr>
          <p:cNvPr id="13" name="Text 8"/>
          <p:cNvSpPr/>
          <p:nvPr/>
        </p:nvSpPr>
        <p:spPr>
          <a:xfrm>
            <a:off x="8365083" y="3429000"/>
            <a:ext cx="279059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2F63"/>
                </a:solidFill>
                <a:latin typeface="Merriweather" pitchFamily="18" charset="0"/>
                <a:ea typeface="Merriweather" pitchFamily="18" charset="-122"/>
                <a:cs typeface="Merriweather" pitchFamily="18" charset="-120"/>
              </a:rPr>
              <a:t>85 745 kogujat</a:t>
            </a:r>
            <a:endParaRPr lang="en-US" sz="2200" dirty="0"/>
          </a:p>
        </p:txBody>
      </p:sp>
      <p:sp>
        <p:nvSpPr>
          <p:cNvPr id="14" name="Text 9"/>
          <p:cNvSpPr/>
          <p:nvPr/>
        </p:nvSpPr>
        <p:spPr>
          <a:xfrm>
            <a:off x="8365083" y="3916660"/>
            <a:ext cx="279059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93036"/>
                </a:solidFill>
                <a:latin typeface="Roboto Flex" pitchFamily="34" charset="0"/>
                <a:ea typeface="Roboto Flex" pitchFamily="34" charset="-122"/>
                <a:cs typeface="Roboto Flex" pitchFamily="34" charset="-120"/>
              </a:rPr>
              <a:t>Juba usaldavad Tulevat</a:t>
            </a:r>
            <a:endParaRPr lang="en-US" sz="1600" dirty="0"/>
          </a:p>
        </p:txBody>
      </p:sp>
      <p:sp>
        <p:nvSpPr>
          <p:cNvPr id="15" name="Text 10"/>
          <p:cNvSpPr/>
          <p:nvPr/>
        </p:nvSpPr>
        <p:spPr>
          <a:xfrm>
            <a:off x="812800" y="6238280"/>
            <a:ext cx="64349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Kogujad 30.06.2026, Tuleva poolaasta aruanne · null infomüra, usaldus, järjekindlus</a:t>
            </a:r>
            <a:endParaRPr lang="en-US" sz="1200" dirty="0"/>
          </a:p>
        </p:txBody>
      </p:sp>
      <p:sp>
        <p:nvSpPr>
          <p:cNvPr id="16" name="Text 11"/>
          <p:cNvSpPr/>
          <p:nvPr/>
        </p:nvSpPr>
        <p:spPr>
          <a:xfrm>
            <a:off x="11246594" y="6238280"/>
            <a:ext cx="13260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002F63"/>
                </a:solidFill>
                <a:latin typeface="Merriweather" pitchFamily="18" charset="0"/>
                <a:ea typeface="Merriweather" pitchFamily="18" charset="-122"/>
                <a:cs typeface="Merriweather" pitchFamily="18" charset="-120"/>
              </a:rPr>
              <a:t>Kulud on kaetud, kui</a:t>
            </a:r>
            <a:endParaRPr lang="en-US" sz="3600" dirty="0"/>
          </a:p>
        </p:txBody>
      </p:sp>
      <p:sp>
        <p:nvSpPr>
          <p:cNvPr id="3" name="Text 1"/>
          <p:cNvSpPr/>
          <p:nvPr/>
        </p:nvSpPr>
        <p:spPr>
          <a:xfrm>
            <a:off x="812800" y="2585690"/>
            <a:ext cx="4899141" cy="1143000"/>
          </a:xfrm>
          <a:prstGeom prst="rect">
            <a:avLst/>
          </a:prstGeom>
          <a:noFill/>
          <a:ln/>
        </p:spPr>
        <p:txBody>
          <a:bodyPr wrap="square" lIns="0" tIns="0" rIns="0" bIns="0" rtlCol="0" anchor="t">
            <a:normAutofit/>
          </a:bodyPr>
          <a:lstStyle/>
          <a:p>
            <a:pPr algn="l" indent="0" marL="0">
              <a:lnSpc>
                <a:spcPts val="8800"/>
              </a:lnSpc>
              <a:buNone/>
            </a:pPr>
            <a:r>
              <a:rPr lang="en-US" sz="8000" b="1" dirty="0">
                <a:solidFill>
                  <a:srgbClr val="002F63"/>
                </a:solidFill>
                <a:latin typeface="Merriweather" pitchFamily="18" charset="0"/>
                <a:ea typeface="Merriweather" pitchFamily="18" charset="-122"/>
                <a:cs typeface="Merriweather" pitchFamily="18" charset="-120"/>
              </a:rPr>
              <a:t>5 750</a:t>
            </a:r>
            <a:endParaRPr lang="en-US" sz="8000" dirty="0"/>
          </a:p>
        </p:txBody>
      </p:sp>
      <p:sp>
        <p:nvSpPr>
          <p:cNvPr id="4" name="Text 2"/>
          <p:cNvSpPr/>
          <p:nvPr/>
        </p:nvSpPr>
        <p:spPr>
          <a:xfrm>
            <a:off x="5569248" y="2962870"/>
            <a:ext cx="5984251"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293036"/>
                </a:solidFill>
                <a:latin typeface="Roboto Flex" pitchFamily="34" charset="0"/>
                <a:ea typeface="Roboto Flex" pitchFamily="34" charset="-122"/>
                <a:cs typeface="Roboto Flex" pitchFamily="34" charset="-120"/>
              </a:rPr>
              <a:t>lepingut</a:t>
            </a:r>
            <a:endParaRPr lang="en-US" sz="2200" dirty="0"/>
          </a:p>
        </p:txBody>
      </p:sp>
      <p:sp>
        <p:nvSpPr>
          <p:cNvPr id="5" name="Text 3"/>
          <p:cNvSpPr/>
          <p:nvPr/>
        </p:nvSpPr>
        <p:spPr>
          <a:xfrm>
            <a:off x="812800" y="3703290"/>
            <a:ext cx="4899141" cy="1143000"/>
          </a:xfrm>
          <a:prstGeom prst="rect">
            <a:avLst/>
          </a:prstGeom>
          <a:noFill/>
          <a:ln/>
        </p:spPr>
        <p:txBody>
          <a:bodyPr wrap="square" lIns="0" tIns="0" rIns="0" bIns="0" rtlCol="0" anchor="t">
            <a:normAutofit/>
          </a:bodyPr>
          <a:lstStyle/>
          <a:p>
            <a:pPr algn="l" indent="0" marL="0">
              <a:lnSpc>
                <a:spcPts val="8800"/>
              </a:lnSpc>
              <a:buNone/>
            </a:pPr>
            <a:r>
              <a:rPr lang="en-US" sz="8000" b="1" dirty="0">
                <a:solidFill>
                  <a:srgbClr val="006CE6"/>
                </a:solidFill>
                <a:latin typeface="Merriweather" pitchFamily="18" charset="0"/>
                <a:ea typeface="Merriweather" pitchFamily="18" charset="-122"/>
                <a:cs typeface="Merriweather" pitchFamily="18" charset="-120"/>
              </a:rPr>
              <a:t>2,3 mln €</a:t>
            </a:r>
            <a:endParaRPr lang="en-US" sz="8000" dirty="0"/>
          </a:p>
        </p:txBody>
      </p:sp>
      <p:sp>
        <p:nvSpPr>
          <p:cNvPr id="6" name="Text 4"/>
          <p:cNvSpPr/>
          <p:nvPr/>
        </p:nvSpPr>
        <p:spPr>
          <a:xfrm>
            <a:off x="5569248" y="4080470"/>
            <a:ext cx="5984251"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293036"/>
                </a:solidFill>
                <a:latin typeface="Roboto Flex" pitchFamily="34" charset="0"/>
                <a:ea typeface="Roboto Flex" pitchFamily="34" charset="-122"/>
                <a:cs typeface="Roboto Flex" pitchFamily="34" charset="-120"/>
              </a:rPr>
              <a:t>sääst aastas</a:t>
            </a:r>
            <a:endParaRPr lang="en-US" sz="2200" dirty="0"/>
          </a:p>
        </p:txBody>
      </p:sp>
      <p:sp>
        <p:nvSpPr>
          <p:cNvPr id="7" name="Text 5"/>
          <p:cNvSpPr/>
          <p:nvPr/>
        </p:nvSpPr>
        <p:spPr>
          <a:xfrm>
            <a:off x="812800" y="6238280"/>
            <a:ext cx="6935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Hinnang · kulu 1 täiskoht ≈ 69 000 € aastas · tasu 1 € kuus · sääst kuni 405 € lepingu kohta</a:t>
            </a:r>
            <a:endParaRPr lang="en-US" sz="1200" dirty="0"/>
          </a:p>
        </p:txBody>
      </p:sp>
      <p:sp>
        <p:nvSpPr>
          <p:cNvPr id="8" name="Text 6"/>
          <p:cNvSpPr/>
          <p:nvPr/>
        </p:nvSpPr>
        <p:spPr>
          <a:xfrm>
            <a:off x="11246594" y="6238280"/>
            <a:ext cx="13260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002F63"/>
                </a:solidFill>
                <a:latin typeface="Merriweather" pitchFamily="18" charset="0"/>
                <a:ea typeface="Merriweather" pitchFamily="18" charset="-122"/>
                <a:cs typeface="Merriweather" pitchFamily="18" charset="-120"/>
              </a:rPr>
              <a:t>Ühine ostujõud igas valdkonnas</a:t>
            </a:r>
            <a:endParaRPr lang="en-US" sz="3600" dirty="0"/>
          </a:p>
        </p:txBody>
      </p:sp>
      <p:sp>
        <p:nvSpPr>
          <p:cNvPr id="3" name="Text 1"/>
          <p:cNvSpPr/>
          <p:nvPr/>
        </p:nvSpPr>
        <p:spPr>
          <a:xfrm>
            <a:off x="812800" y="146303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074"/>
                </a:solidFill>
                <a:latin typeface="Roboto Flex" pitchFamily="34" charset="0"/>
                <a:ea typeface="Roboto Flex" pitchFamily="34" charset="-122"/>
                <a:cs typeface="Roboto Flex" pitchFamily="34" charset="-120"/>
              </a:rPr>
              <a:t>Mobiilside on esimene</a:t>
            </a:r>
            <a:endParaRPr lang="en-US" sz="1600" dirty="0"/>
          </a:p>
        </p:txBody>
      </p:sp>
      <p:sp>
        <p:nvSpPr>
          <p:cNvPr id="4" name="Shape 2"/>
          <p:cNvSpPr/>
          <p:nvPr/>
        </p:nvSpPr>
        <p:spPr>
          <a:xfrm>
            <a:off x="812800" y="2910830"/>
            <a:ext cx="2489200" cy="1869380"/>
          </a:xfrm>
          <a:prstGeom prst="roundRect">
            <a:avLst>
              <a:gd name="adj" fmla="val 5435"/>
            </a:avLst>
          </a:prstGeom>
          <a:solidFill>
            <a:srgbClr val="002F63"/>
          </a:solidFill>
          <a:ln/>
        </p:spPr>
      </p:sp>
      <p:pic>
        <p:nvPicPr>
          <p:cNvPr id="5" name="Image 0" descr="Chat">    </p:cNvPr>
          <p:cNvPicPr>
            <a:picLocks noChangeAspect="1"/>
          </p:cNvPicPr>
          <p:nvPr/>
        </p:nvPicPr>
        <p:blipFill>
          <a:blip r:embed="rId1"/>
          <a:srcRect l="0" r="0" t="0" b="0"/>
          <a:stretch/>
        </p:blipFill>
        <p:spPr>
          <a:xfrm>
            <a:off x="1066800" y="3164830"/>
            <a:ext cx="406400" cy="406400"/>
          </a:xfrm>
          <a:prstGeom prst="rect">
            <a:avLst/>
          </a:prstGeom>
        </p:spPr>
      </p:pic>
      <p:sp>
        <p:nvSpPr>
          <p:cNvPr id="6" name="Text 3"/>
          <p:cNvSpPr/>
          <p:nvPr/>
        </p:nvSpPr>
        <p:spPr>
          <a:xfrm>
            <a:off x="1066800" y="3774430"/>
            <a:ext cx="20406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FFFF"/>
                </a:solidFill>
                <a:latin typeface="Merriweather" pitchFamily="18" charset="0"/>
                <a:ea typeface="Merriweather" pitchFamily="18" charset="-122"/>
                <a:cs typeface="Merriweather" pitchFamily="18" charset="-120"/>
              </a:rPr>
              <a:t>Mobiilside</a:t>
            </a:r>
            <a:endParaRPr lang="en-US" sz="2200" dirty="0"/>
          </a:p>
        </p:txBody>
      </p:sp>
      <p:sp>
        <p:nvSpPr>
          <p:cNvPr id="7" name="Text 4"/>
          <p:cNvSpPr/>
          <p:nvPr/>
        </p:nvSpPr>
        <p:spPr>
          <a:xfrm>
            <a:off x="1066800" y="4312890"/>
            <a:ext cx="20406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C6E2"/>
                </a:solidFill>
                <a:latin typeface="Roboto Flex" pitchFamily="34" charset="0"/>
                <a:ea typeface="Roboto Flex" pitchFamily="34" charset="-122"/>
                <a:cs typeface="Roboto Flex" pitchFamily="34" charset="-120"/>
              </a:rPr>
              <a:t>TÄNA</a:t>
            </a:r>
            <a:endParaRPr lang="en-US" sz="1200" dirty="0"/>
          </a:p>
        </p:txBody>
      </p:sp>
      <p:sp>
        <p:nvSpPr>
          <p:cNvPr id="8" name="Shape 5"/>
          <p:cNvSpPr/>
          <p:nvPr/>
        </p:nvSpPr>
        <p:spPr>
          <a:xfrm>
            <a:off x="3505200" y="2910830"/>
            <a:ext cx="2489200" cy="1869380"/>
          </a:xfrm>
          <a:prstGeom prst="roundRect">
            <a:avLst>
              <a:gd name="adj" fmla="val 5435"/>
            </a:avLst>
          </a:prstGeom>
          <a:solidFill>
            <a:srgbClr val="EDF7FD"/>
          </a:solidFill>
          <a:ln/>
        </p:spPr>
      </p:sp>
      <p:pic>
        <p:nvPicPr>
          <p:cNvPr id="9" name="Image 1" descr="Lightning">    </p:cNvPr>
          <p:cNvPicPr>
            <a:picLocks noChangeAspect="1"/>
          </p:cNvPicPr>
          <p:nvPr/>
        </p:nvPicPr>
        <p:blipFill>
          <a:blip r:embed="rId2"/>
          <a:srcRect l="0" r="0" t="0" b="0"/>
          <a:stretch/>
        </p:blipFill>
        <p:spPr>
          <a:xfrm>
            <a:off x="3759200" y="3164830"/>
            <a:ext cx="406400" cy="406400"/>
          </a:xfrm>
          <a:prstGeom prst="rect">
            <a:avLst/>
          </a:prstGeom>
        </p:spPr>
      </p:pic>
      <p:sp>
        <p:nvSpPr>
          <p:cNvPr id="10" name="Text 6"/>
          <p:cNvSpPr/>
          <p:nvPr/>
        </p:nvSpPr>
        <p:spPr>
          <a:xfrm>
            <a:off x="3759200" y="3774430"/>
            <a:ext cx="20406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2F63"/>
                </a:solidFill>
                <a:latin typeface="Merriweather" pitchFamily="18" charset="0"/>
                <a:ea typeface="Merriweather" pitchFamily="18" charset="-122"/>
                <a:cs typeface="Merriweather" pitchFamily="18" charset="-120"/>
              </a:rPr>
              <a:t>Elekter</a:t>
            </a:r>
            <a:endParaRPr lang="en-US" sz="2200" dirty="0"/>
          </a:p>
        </p:txBody>
      </p:sp>
      <p:sp>
        <p:nvSpPr>
          <p:cNvPr id="11" name="Text 7"/>
          <p:cNvSpPr/>
          <p:nvPr/>
        </p:nvSpPr>
        <p:spPr>
          <a:xfrm>
            <a:off x="3759200" y="4312890"/>
            <a:ext cx="20406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7074"/>
                </a:solidFill>
                <a:latin typeface="Roboto Flex" pitchFamily="34" charset="0"/>
                <a:ea typeface="Roboto Flex" pitchFamily="34" charset="-122"/>
                <a:cs typeface="Roboto Flex" pitchFamily="34" charset="-120"/>
              </a:rPr>
              <a:t>TULEVIKUS</a:t>
            </a:r>
            <a:endParaRPr lang="en-US" sz="1200" dirty="0"/>
          </a:p>
        </p:txBody>
      </p:sp>
      <p:sp>
        <p:nvSpPr>
          <p:cNvPr id="12" name="Shape 8"/>
          <p:cNvSpPr/>
          <p:nvPr/>
        </p:nvSpPr>
        <p:spPr>
          <a:xfrm>
            <a:off x="6197600" y="2910830"/>
            <a:ext cx="2489200" cy="1869380"/>
          </a:xfrm>
          <a:prstGeom prst="roundRect">
            <a:avLst>
              <a:gd name="adj" fmla="val 5435"/>
            </a:avLst>
          </a:prstGeom>
          <a:solidFill>
            <a:srgbClr val="EDF7FD"/>
          </a:solidFill>
          <a:ln/>
        </p:spPr>
      </p:sp>
      <p:pic>
        <p:nvPicPr>
          <p:cNvPr id="13" name="Image 2" descr="Trust">    </p:cNvPr>
          <p:cNvPicPr>
            <a:picLocks noChangeAspect="1"/>
          </p:cNvPicPr>
          <p:nvPr/>
        </p:nvPicPr>
        <p:blipFill>
          <a:blip r:embed="rId3"/>
          <a:srcRect l="0" r="0" t="0" b="0"/>
          <a:stretch/>
        </p:blipFill>
        <p:spPr>
          <a:xfrm>
            <a:off x="6451600" y="3164830"/>
            <a:ext cx="406400" cy="406400"/>
          </a:xfrm>
          <a:prstGeom prst="rect">
            <a:avLst/>
          </a:prstGeom>
        </p:spPr>
      </p:pic>
      <p:sp>
        <p:nvSpPr>
          <p:cNvPr id="14" name="Text 9"/>
          <p:cNvSpPr/>
          <p:nvPr/>
        </p:nvSpPr>
        <p:spPr>
          <a:xfrm>
            <a:off x="6451600" y="3774430"/>
            <a:ext cx="20406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2F63"/>
                </a:solidFill>
                <a:latin typeface="Merriweather" pitchFamily="18" charset="0"/>
                <a:ea typeface="Merriweather" pitchFamily="18" charset="-122"/>
                <a:cs typeface="Merriweather" pitchFamily="18" charset="-120"/>
              </a:rPr>
              <a:t>Kindlustus</a:t>
            </a:r>
            <a:endParaRPr lang="en-US" sz="2200" dirty="0"/>
          </a:p>
        </p:txBody>
      </p:sp>
      <p:sp>
        <p:nvSpPr>
          <p:cNvPr id="15" name="Text 10"/>
          <p:cNvSpPr/>
          <p:nvPr/>
        </p:nvSpPr>
        <p:spPr>
          <a:xfrm>
            <a:off x="6451600" y="4312890"/>
            <a:ext cx="20406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7074"/>
                </a:solidFill>
                <a:latin typeface="Roboto Flex" pitchFamily="34" charset="0"/>
                <a:ea typeface="Roboto Flex" pitchFamily="34" charset="-122"/>
                <a:cs typeface="Roboto Flex" pitchFamily="34" charset="-120"/>
              </a:rPr>
              <a:t>TULEVIKUS</a:t>
            </a:r>
            <a:endParaRPr lang="en-US" sz="1200" dirty="0"/>
          </a:p>
        </p:txBody>
      </p:sp>
      <p:sp>
        <p:nvSpPr>
          <p:cNvPr id="16" name="Shape 11"/>
          <p:cNvSpPr/>
          <p:nvPr/>
        </p:nvSpPr>
        <p:spPr>
          <a:xfrm>
            <a:off x="8890000" y="2910830"/>
            <a:ext cx="2489200" cy="1869380"/>
          </a:xfrm>
          <a:prstGeom prst="roundRect">
            <a:avLst>
              <a:gd name="adj" fmla="val 5435"/>
            </a:avLst>
          </a:prstGeom>
          <a:solidFill>
            <a:srgbClr val="EDF7FD"/>
          </a:solidFill>
          <a:ln/>
        </p:spPr>
      </p:sp>
      <p:pic>
        <p:nvPicPr>
          <p:cNvPr id="17" name="Image 3" descr="Users">    </p:cNvPr>
          <p:cNvPicPr>
            <a:picLocks noChangeAspect="1"/>
          </p:cNvPicPr>
          <p:nvPr/>
        </p:nvPicPr>
        <p:blipFill>
          <a:blip r:embed="rId4"/>
          <a:srcRect l="0" r="0" t="0" b="0"/>
          <a:stretch/>
        </p:blipFill>
        <p:spPr>
          <a:xfrm>
            <a:off x="9144000" y="3164830"/>
            <a:ext cx="406400" cy="406400"/>
          </a:xfrm>
          <a:prstGeom prst="rect">
            <a:avLst/>
          </a:prstGeom>
        </p:spPr>
      </p:pic>
      <p:sp>
        <p:nvSpPr>
          <p:cNvPr id="18" name="Text 12"/>
          <p:cNvSpPr/>
          <p:nvPr/>
        </p:nvSpPr>
        <p:spPr>
          <a:xfrm>
            <a:off x="9144000" y="3774430"/>
            <a:ext cx="223520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2F63"/>
                </a:solidFill>
                <a:latin typeface="Merriweather" pitchFamily="18" charset="0"/>
                <a:ea typeface="Merriweather" pitchFamily="18" charset="-122"/>
                <a:cs typeface="Merriweather" pitchFamily="18" charset="-120"/>
              </a:rPr>
              <a:t>Ühistellimused</a:t>
            </a:r>
            <a:endParaRPr lang="en-US" sz="2200" dirty="0"/>
          </a:p>
        </p:txBody>
      </p:sp>
      <p:sp>
        <p:nvSpPr>
          <p:cNvPr id="19" name="Text 13"/>
          <p:cNvSpPr/>
          <p:nvPr/>
        </p:nvSpPr>
        <p:spPr>
          <a:xfrm>
            <a:off x="9144000" y="4312890"/>
            <a:ext cx="20406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7074"/>
                </a:solidFill>
                <a:latin typeface="Roboto Flex" pitchFamily="34" charset="0"/>
                <a:ea typeface="Roboto Flex" pitchFamily="34" charset="-122"/>
                <a:cs typeface="Roboto Flex" pitchFamily="34" charset="-120"/>
              </a:rPr>
              <a:t>TULEVIKUS</a:t>
            </a:r>
            <a:endParaRPr lang="en-US" sz="1200" dirty="0"/>
          </a:p>
        </p:txBody>
      </p:sp>
      <p:sp>
        <p:nvSpPr>
          <p:cNvPr id="20" name="Text 14"/>
          <p:cNvSpPr/>
          <p:nvPr/>
        </p:nvSpPr>
        <p:spPr>
          <a:xfrm>
            <a:off x="812800" y="6238280"/>
            <a:ext cx="32963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Visioon · iga valdkond vajab eraldi analüüsi</a:t>
            </a:r>
            <a:endParaRPr lang="en-US" sz="1200" dirty="0"/>
          </a:p>
        </p:txBody>
      </p:sp>
      <p:sp>
        <p:nvSpPr>
          <p:cNvPr id="21" name="Text 15"/>
          <p:cNvSpPr/>
          <p:nvPr/>
        </p:nvSpPr>
        <p:spPr>
          <a:xfrm>
            <a:off x="11246594" y="6238280"/>
            <a:ext cx="13260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002F63"/>
                </a:solidFill>
                <a:latin typeface="Merriweather" pitchFamily="18" charset="0"/>
                <a:ea typeface="Merriweather" pitchFamily="18" charset="-122"/>
                <a:cs typeface="Merriweather" pitchFamily="18" charset="-120"/>
              </a:rPr>
              <a:t>Mis saab edasi?</a:t>
            </a:r>
            <a:endParaRPr lang="en-US" sz="3600" dirty="0"/>
          </a:p>
        </p:txBody>
      </p:sp>
      <p:sp>
        <p:nvSpPr>
          <p:cNvPr id="3" name="Shape 1"/>
          <p:cNvSpPr/>
          <p:nvPr/>
        </p:nvSpPr>
        <p:spPr>
          <a:xfrm>
            <a:off x="812800" y="2575570"/>
            <a:ext cx="5130800" cy="2255441"/>
          </a:xfrm>
          <a:prstGeom prst="roundRect">
            <a:avLst>
              <a:gd name="adj" fmla="val 4505"/>
            </a:avLst>
          </a:prstGeom>
          <a:solidFill>
            <a:srgbClr val="002F63"/>
          </a:solidFill>
          <a:ln/>
        </p:spPr>
      </p:sp>
      <p:sp>
        <p:nvSpPr>
          <p:cNvPr id="4" name="Text 2"/>
          <p:cNvSpPr/>
          <p:nvPr/>
        </p:nvSpPr>
        <p:spPr>
          <a:xfrm>
            <a:off x="1117600" y="2880370"/>
            <a:ext cx="46568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FFFF"/>
                </a:solidFill>
                <a:latin typeface="Merriweather" pitchFamily="18" charset="0"/>
                <a:ea typeface="Merriweather" pitchFamily="18" charset="-122"/>
                <a:cs typeface="Merriweather" pitchFamily="18" charset="-120"/>
              </a:rPr>
              <a:t>Esimene samm</a:t>
            </a:r>
            <a:endParaRPr lang="en-US" sz="2200" dirty="0"/>
          </a:p>
        </p:txBody>
      </p:sp>
      <p:sp>
        <p:nvSpPr>
          <p:cNvPr id="5" name="Text 3"/>
          <p:cNvSpPr/>
          <p:nvPr/>
        </p:nvSpPr>
        <p:spPr>
          <a:xfrm>
            <a:off x="1117600" y="3368030"/>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Roboto Flex" pitchFamily="34" charset="0"/>
                <a:ea typeface="Roboto Flex" pitchFamily="34" charset="-122"/>
                <a:cs typeface="Roboto Flex" pitchFamily="34" charset="-120"/>
              </a:rPr>
              <a:t>1. Registreerumine Tuleva kogukonnas</a:t>
            </a:r>
            <a:endParaRPr lang="en-US" sz="1600" dirty="0"/>
          </a:p>
        </p:txBody>
      </p:sp>
      <p:sp>
        <p:nvSpPr>
          <p:cNvPr id="6" name="Text 4"/>
          <p:cNvSpPr/>
          <p:nvPr/>
        </p:nvSpPr>
        <p:spPr>
          <a:xfrm>
            <a:off x="1117600" y="3804890"/>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Roboto Flex" pitchFamily="34" charset="0"/>
                <a:ea typeface="Roboto Flex" pitchFamily="34" charset="-122"/>
                <a:cs typeface="Roboto Flex" pitchFamily="34" charset="-120"/>
              </a:rPr>
              <a:t>2. Hankepäring kõigile operaatoritele</a:t>
            </a:r>
            <a:endParaRPr lang="en-US" sz="1600" dirty="0"/>
          </a:p>
        </p:txBody>
      </p:sp>
      <p:sp>
        <p:nvSpPr>
          <p:cNvPr id="7" name="Text 5"/>
          <p:cNvSpPr/>
          <p:nvPr/>
        </p:nvSpPr>
        <p:spPr>
          <a:xfrm>
            <a:off x="1117600" y="4241750"/>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Roboto Flex" pitchFamily="34" charset="0"/>
                <a:ea typeface="Roboto Flex" pitchFamily="34" charset="-122"/>
                <a:cs typeface="Roboto Flex" pitchFamily="34" charset="-120"/>
              </a:rPr>
              <a:t>3. Esimene hange käsitsi</a:t>
            </a:r>
            <a:endParaRPr lang="en-US" sz="1600" dirty="0"/>
          </a:p>
        </p:txBody>
      </p:sp>
      <p:sp>
        <p:nvSpPr>
          <p:cNvPr id="8" name="Shape 6"/>
          <p:cNvSpPr/>
          <p:nvPr/>
        </p:nvSpPr>
        <p:spPr>
          <a:xfrm>
            <a:off x="6248400" y="2575570"/>
            <a:ext cx="5130800" cy="2255441"/>
          </a:xfrm>
          <a:prstGeom prst="roundRect">
            <a:avLst>
              <a:gd name="adj" fmla="val 4505"/>
            </a:avLst>
          </a:prstGeom>
          <a:solidFill>
            <a:srgbClr val="EDF7FD"/>
          </a:solidFill>
          <a:ln/>
        </p:spPr>
      </p:sp>
      <p:sp>
        <p:nvSpPr>
          <p:cNvPr id="9" name="Text 7"/>
          <p:cNvSpPr/>
          <p:nvPr/>
        </p:nvSpPr>
        <p:spPr>
          <a:xfrm>
            <a:off x="6553200" y="2880370"/>
            <a:ext cx="46568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2F63"/>
                </a:solidFill>
                <a:latin typeface="Merriweather" pitchFamily="18" charset="0"/>
                <a:ea typeface="Merriweather" pitchFamily="18" charset="-122"/>
                <a:cs typeface="Merriweather" pitchFamily="18" charset="-120"/>
              </a:rPr>
              <a:t>Mida vajame</a:t>
            </a:r>
            <a:endParaRPr lang="en-US" sz="2200" dirty="0"/>
          </a:p>
        </p:txBody>
      </p:sp>
      <p:sp>
        <p:nvSpPr>
          <p:cNvPr id="10" name="Text 8"/>
          <p:cNvSpPr/>
          <p:nvPr/>
        </p:nvSpPr>
        <p:spPr>
          <a:xfrm>
            <a:off x="6553200" y="3368030"/>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93036"/>
                </a:solidFill>
                <a:latin typeface="Roboto Flex" pitchFamily="34" charset="0"/>
                <a:ea typeface="Roboto Flex" pitchFamily="34" charset="-122"/>
                <a:cs typeface="Roboto Flex" pitchFamily="34" charset="-120"/>
              </a:rPr>
              <a:t>Tuleva otsus ja üks inimene</a:t>
            </a:r>
            <a:endParaRPr lang="en-US" sz="1600" dirty="0"/>
          </a:p>
        </p:txBody>
      </p:sp>
      <p:sp>
        <p:nvSpPr>
          <p:cNvPr id="11" name="Text 9"/>
          <p:cNvSpPr/>
          <p:nvPr/>
        </p:nvSpPr>
        <p:spPr>
          <a:xfrm>
            <a:off x="6553200" y="3804890"/>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93036"/>
                </a:solidFill>
                <a:latin typeface="Roboto Flex" pitchFamily="34" charset="0"/>
                <a:ea typeface="Roboto Flex" pitchFamily="34" charset="-122"/>
                <a:cs typeface="Roboto Flex" pitchFamily="34" charset="-120"/>
              </a:rPr>
              <a:t>Õigus- ja andmekaitseanalüüs</a:t>
            </a:r>
            <a:endParaRPr lang="en-US" sz="1600" dirty="0"/>
          </a:p>
        </p:txBody>
      </p:sp>
      <p:sp>
        <p:nvSpPr>
          <p:cNvPr id="12" name="Text 10"/>
          <p:cNvSpPr/>
          <p:nvPr/>
        </p:nvSpPr>
        <p:spPr>
          <a:xfrm>
            <a:off x="6553200" y="4241750"/>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93036"/>
                </a:solidFill>
                <a:latin typeface="Roboto Flex" pitchFamily="34" charset="0"/>
                <a:ea typeface="Roboto Flex" pitchFamily="34" charset="-122"/>
                <a:cs typeface="Roboto Flex" pitchFamily="34" charset="-120"/>
              </a:rPr>
              <a:t>Kontakt operaatoritega</a:t>
            </a:r>
            <a:endParaRPr lang="en-US" sz="1600" dirty="0"/>
          </a:p>
        </p:txBody>
      </p:sp>
      <p:sp>
        <p:nvSpPr>
          <p:cNvPr id="13" name="Text 11"/>
          <p:cNvSpPr/>
          <p:nvPr/>
        </p:nvSpPr>
        <p:spPr>
          <a:xfrm>
            <a:off x="812800" y="6238280"/>
            <a:ext cx="59627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Esimene hange tabelite ja e-kirjadega, automatiseerime pärast esimest tsüklit</a:t>
            </a:r>
            <a:endParaRPr lang="en-US" sz="1200" dirty="0"/>
          </a:p>
        </p:txBody>
      </p:sp>
      <p:sp>
        <p:nvSpPr>
          <p:cNvPr id="14" name="Text 12"/>
          <p:cNvSpPr/>
          <p:nvPr/>
        </p:nvSpPr>
        <p:spPr>
          <a:xfrm>
            <a:off x="11246594" y="6238280"/>
            <a:ext cx="13260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2095500"/>
            <a:ext cx="6604000" cy="3556000"/>
          </a:xfrm>
          <a:prstGeom prst="roundRect">
            <a:avLst>
              <a:gd name="adj" fmla="val 2857"/>
            </a:avLst>
          </a:prstGeom>
          <a:solidFill>
            <a:srgbClr val="EDF7FD"/>
          </a:solidFill>
          <a:ln/>
        </p:spPr>
      </p:sp>
      <p:sp>
        <p:nvSpPr>
          <p:cNvPr id="3" name="Text 1"/>
          <p:cNvSpPr/>
          <p:nvPr>
            <p:ph type="title"/>
          </p:nvPr>
        </p:nvSpPr>
        <p:spPr>
          <a:xfrm>
            <a:off x="812800" y="81280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002F63"/>
                </a:solidFill>
                <a:latin typeface="Merriweather" pitchFamily="18" charset="0"/>
                <a:ea typeface="Merriweather" pitchFamily="18" charset="-122"/>
                <a:cs typeface="Merriweather" pitchFamily="18" charset="-120"/>
              </a:rPr>
              <a:t>5. aastaks katab tulu 96% kuludest</a:t>
            </a:r>
            <a:endParaRPr lang="en-US" sz="3600" dirty="0"/>
          </a:p>
        </p:txBody>
      </p:sp>
      <p:sp>
        <p:nvSpPr>
          <p:cNvPr id="4" name="Text 2"/>
          <p:cNvSpPr/>
          <p:nvPr/>
        </p:nvSpPr>
        <p:spPr>
          <a:xfrm>
            <a:off x="812800" y="146303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074"/>
                </a:solidFill>
                <a:latin typeface="Roboto Flex" pitchFamily="34" charset="0"/>
                <a:ea typeface="Roboto Flex" pitchFamily="34" charset="-122"/>
                <a:cs typeface="Roboto Flex" pitchFamily="34" charset="-120"/>
              </a:rPr>
              <a:t>Baasprognoos, tasu 1 € kuus, kogu töötaja kulu mobiilile</a:t>
            </a:r>
            <a:endParaRPr lang="en-US" sz="1600" dirty="0"/>
          </a:p>
        </p:txBody>
      </p:sp>
      <p:sp>
        <p:nvSpPr>
          <p:cNvPr id="5" name="Shape 3"/>
          <p:cNvSpPr/>
          <p:nvPr/>
        </p:nvSpPr>
        <p:spPr>
          <a:xfrm>
            <a:off x="1117600" y="2324100"/>
            <a:ext cx="152400" cy="152400"/>
          </a:xfrm>
          <a:prstGeom prst="roundRect">
            <a:avLst>
              <a:gd name="adj" fmla="val 16667"/>
            </a:avLst>
          </a:prstGeom>
          <a:solidFill>
            <a:srgbClr val="008300"/>
          </a:solidFill>
          <a:ln/>
        </p:spPr>
      </p:sp>
      <p:sp>
        <p:nvSpPr>
          <p:cNvPr id="6" name="Text 4"/>
          <p:cNvSpPr/>
          <p:nvPr/>
        </p:nvSpPr>
        <p:spPr>
          <a:xfrm>
            <a:off x="1346200" y="2298700"/>
            <a:ext cx="1320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93036"/>
                </a:solidFill>
                <a:latin typeface="Roboto Flex" pitchFamily="34" charset="0"/>
                <a:ea typeface="Roboto Flex" pitchFamily="34" charset="-122"/>
                <a:cs typeface="Roboto Flex" pitchFamily="34" charset="-120"/>
              </a:rPr>
              <a:t>Tuleva tulu</a:t>
            </a:r>
            <a:endParaRPr lang="en-US" sz="1200" dirty="0"/>
          </a:p>
        </p:txBody>
      </p:sp>
      <p:sp>
        <p:nvSpPr>
          <p:cNvPr id="7" name="Shape 5"/>
          <p:cNvSpPr/>
          <p:nvPr/>
        </p:nvSpPr>
        <p:spPr>
          <a:xfrm>
            <a:off x="2667000" y="2324100"/>
            <a:ext cx="152400" cy="152400"/>
          </a:xfrm>
          <a:prstGeom prst="roundRect">
            <a:avLst>
              <a:gd name="adj" fmla="val 16667"/>
            </a:avLst>
          </a:prstGeom>
          <a:solidFill>
            <a:srgbClr val="DB2200"/>
          </a:solidFill>
          <a:ln/>
        </p:spPr>
      </p:sp>
      <p:sp>
        <p:nvSpPr>
          <p:cNvPr id="8" name="Text 6"/>
          <p:cNvSpPr/>
          <p:nvPr/>
        </p:nvSpPr>
        <p:spPr>
          <a:xfrm>
            <a:off x="2895600" y="2298700"/>
            <a:ext cx="1320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93036"/>
                </a:solidFill>
                <a:latin typeface="Roboto Flex" pitchFamily="34" charset="0"/>
                <a:ea typeface="Roboto Flex" pitchFamily="34" charset="-122"/>
                <a:cs typeface="Roboto Flex" pitchFamily="34" charset="-120"/>
              </a:rPr>
              <a:t>Kulu</a:t>
            </a:r>
            <a:endParaRPr lang="en-US" sz="1200" dirty="0"/>
          </a:p>
        </p:txBody>
      </p:sp>
      <p:sp>
        <p:nvSpPr>
          <p:cNvPr id="9" name="Shape 7"/>
          <p:cNvSpPr/>
          <p:nvPr/>
        </p:nvSpPr>
        <p:spPr>
          <a:xfrm>
            <a:off x="1441450" y="4699000"/>
            <a:ext cx="635000" cy="508000"/>
          </a:xfrm>
          <a:custGeom>
            <a:avLst/>
            <a:gdLst/>
            <a:ahLst/>
            <a:cxnLst/>
            <a:rect l="l" t="t" r="r" b="b"/>
            <a:pathLst>
              <a:path w="635000" h="508000">
                <a:moveTo>
                  <a:pt x="50800" y="0"/>
                </a:moveTo>
                <a:lnTo>
                  <a:pt x="584200" y="0"/>
                </a:lnTo>
                <a:arcTo hR="50800" wR="50800" stAng="16200000" swAng="5400000"/>
                <a:lnTo>
                  <a:pt x="635000" y="508000"/>
                </a:lnTo>
                <a:lnTo>
                  <a:pt x="0" y="508000"/>
                </a:lnTo>
                <a:lnTo>
                  <a:pt x="0" y="50800"/>
                </a:lnTo>
                <a:arcTo hR="50800" wR="50800" stAng="10800000" swAng="5400000"/>
                <a:close/>
              </a:path>
            </a:pathLst>
          </a:custGeom>
          <a:solidFill>
            <a:srgbClr val="008300"/>
          </a:solidFill>
          <a:ln/>
        </p:spPr>
      </p:sp>
      <p:sp>
        <p:nvSpPr>
          <p:cNvPr id="10" name="Shape 8"/>
          <p:cNvSpPr/>
          <p:nvPr/>
        </p:nvSpPr>
        <p:spPr>
          <a:xfrm>
            <a:off x="2152650" y="3016250"/>
            <a:ext cx="635000" cy="2190750"/>
          </a:xfrm>
          <a:custGeom>
            <a:avLst/>
            <a:gdLst/>
            <a:ahLst/>
            <a:cxnLst/>
            <a:rect l="l" t="t" r="r" b="b"/>
            <a:pathLst>
              <a:path w="635000" h="2190750">
                <a:moveTo>
                  <a:pt x="50800" y="0"/>
                </a:moveTo>
                <a:lnTo>
                  <a:pt x="584200" y="0"/>
                </a:lnTo>
                <a:arcTo hR="50800" wR="50800" stAng="16200000" swAng="5400000"/>
                <a:lnTo>
                  <a:pt x="635000" y="2190750"/>
                </a:lnTo>
                <a:lnTo>
                  <a:pt x="0" y="2190750"/>
                </a:lnTo>
                <a:lnTo>
                  <a:pt x="0" y="50800"/>
                </a:lnTo>
                <a:arcTo hR="50800" wR="50800" stAng="10800000" swAng="5400000"/>
                <a:close/>
              </a:path>
            </a:pathLst>
          </a:custGeom>
          <a:solidFill>
            <a:srgbClr val="DB2200"/>
          </a:solidFill>
          <a:ln/>
        </p:spPr>
      </p:sp>
      <p:sp>
        <p:nvSpPr>
          <p:cNvPr id="11" name="Shape 9"/>
          <p:cNvSpPr/>
          <p:nvPr/>
        </p:nvSpPr>
        <p:spPr>
          <a:xfrm>
            <a:off x="3441700" y="3562350"/>
            <a:ext cx="635000" cy="1644650"/>
          </a:xfrm>
          <a:custGeom>
            <a:avLst/>
            <a:gdLst/>
            <a:ahLst/>
            <a:cxnLst/>
            <a:rect l="l" t="t" r="r" b="b"/>
            <a:pathLst>
              <a:path w="635000" h="1644650">
                <a:moveTo>
                  <a:pt x="50800" y="0"/>
                </a:moveTo>
                <a:lnTo>
                  <a:pt x="584200" y="0"/>
                </a:lnTo>
                <a:arcTo hR="50800" wR="50800" stAng="16200000" swAng="5400000"/>
                <a:lnTo>
                  <a:pt x="635000" y="1644650"/>
                </a:lnTo>
                <a:lnTo>
                  <a:pt x="0" y="1644650"/>
                </a:lnTo>
                <a:lnTo>
                  <a:pt x="0" y="50800"/>
                </a:lnTo>
                <a:arcTo hR="50800" wR="50800" stAng="10800000" swAng="5400000"/>
                <a:close/>
              </a:path>
            </a:pathLst>
          </a:custGeom>
          <a:solidFill>
            <a:srgbClr val="008300"/>
          </a:solidFill>
          <a:ln/>
        </p:spPr>
      </p:sp>
      <p:sp>
        <p:nvSpPr>
          <p:cNvPr id="12" name="Shape 10"/>
          <p:cNvSpPr/>
          <p:nvPr/>
        </p:nvSpPr>
        <p:spPr>
          <a:xfrm>
            <a:off x="4152900" y="3016250"/>
            <a:ext cx="635000" cy="2190750"/>
          </a:xfrm>
          <a:custGeom>
            <a:avLst/>
            <a:gdLst/>
            <a:ahLst/>
            <a:cxnLst/>
            <a:rect l="l" t="t" r="r" b="b"/>
            <a:pathLst>
              <a:path w="635000" h="2190750">
                <a:moveTo>
                  <a:pt x="50800" y="0"/>
                </a:moveTo>
                <a:lnTo>
                  <a:pt x="584200" y="0"/>
                </a:lnTo>
                <a:arcTo hR="50800" wR="50800" stAng="16200000" swAng="5400000"/>
                <a:lnTo>
                  <a:pt x="635000" y="2190750"/>
                </a:lnTo>
                <a:lnTo>
                  <a:pt x="0" y="2190750"/>
                </a:lnTo>
                <a:lnTo>
                  <a:pt x="0" y="50800"/>
                </a:lnTo>
                <a:arcTo hR="50800" wR="50800" stAng="10800000" swAng="5400000"/>
                <a:close/>
              </a:path>
            </a:pathLst>
          </a:custGeom>
          <a:solidFill>
            <a:srgbClr val="DB2200"/>
          </a:solidFill>
          <a:ln/>
        </p:spPr>
      </p:sp>
      <p:sp>
        <p:nvSpPr>
          <p:cNvPr id="13" name="Shape 11"/>
          <p:cNvSpPr/>
          <p:nvPr/>
        </p:nvSpPr>
        <p:spPr>
          <a:xfrm>
            <a:off x="5441950" y="3111500"/>
            <a:ext cx="635000" cy="2095500"/>
          </a:xfrm>
          <a:custGeom>
            <a:avLst/>
            <a:gdLst/>
            <a:ahLst/>
            <a:cxnLst/>
            <a:rect l="l" t="t" r="r" b="b"/>
            <a:pathLst>
              <a:path w="635000" h="2095500">
                <a:moveTo>
                  <a:pt x="50800" y="0"/>
                </a:moveTo>
                <a:lnTo>
                  <a:pt x="584200" y="0"/>
                </a:lnTo>
                <a:arcTo hR="50800" wR="50800" stAng="16200000" swAng="5400000"/>
                <a:lnTo>
                  <a:pt x="635000" y="2095500"/>
                </a:lnTo>
                <a:lnTo>
                  <a:pt x="0" y="2095500"/>
                </a:lnTo>
                <a:lnTo>
                  <a:pt x="0" y="50800"/>
                </a:lnTo>
                <a:arcTo hR="50800" wR="50800" stAng="10800000" swAng="5400000"/>
                <a:close/>
              </a:path>
            </a:pathLst>
          </a:custGeom>
          <a:solidFill>
            <a:srgbClr val="008300"/>
          </a:solidFill>
          <a:ln/>
        </p:spPr>
      </p:sp>
      <p:sp>
        <p:nvSpPr>
          <p:cNvPr id="14" name="Shape 12"/>
          <p:cNvSpPr/>
          <p:nvPr/>
        </p:nvSpPr>
        <p:spPr>
          <a:xfrm>
            <a:off x="6153150" y="3016250"/>
            <a:ext cx="635000" cy="2190750"/>
          </a:xfrm>
          <a:custGeom>
            <a:avLst/>
            <a:gdLst/>
            <a:ahLst/>
            <a:cxnLst/>
            <a:rect l="l" t="t" r="r" b="b"/>
            <a:pathLst>
              <a:path w="635000" h="2190750">
                <a:moveTo>
                  <a:pt x="50800" y="0"/>
                </a:moveTo>
                <a:lnTo>
                  <a:pt x="584200" y="0"/>
                </a:lnTo>
                <a:arcTo hR="50800" wR="50800" stAng="16200000" swAng="5400000"/>
                <a:lnTo>
                  <a:pt x="635000" y="2190750"/>
                </a:lnTo>
                <a:lnTo>
                  <a:pt x="0" y="2190750"/>
                </a:lnTo>
                <a:lnTo>
                  <a:pt x="0" y="50800"/>
                </a:lnTo>
                <a:arcTo hR="50800" wR="50800" stAng="10800000" swAng="5400000"/>
                <a:close/>
              </a:path>
            </a:pathLst>
          </a:custGeom>
          <a:solidFill>
            <a:srgbClr val="DB2200"/>
          </a:solidFill>
          <a:ln/>
        </p:spPr>
      </p:sp>
      <p:sp>
        <p:nvSpPr>
          <p:cNvPr id="15" name="Shape 13"/>
          <p:cNvSpPr/>
          <p:nvPr/>
        </p:nvSpPr>
        <p:spPr>
          <a:xfrm>
            <a:off x="1117600" y="5207000"/>
            <a:ext cx="5994400" cy="12700"/>
          </a:xfrm>
          <a:prstGeom prst="rect">
            <a:avLst/>
          </a:prstGeom>
          <a:solidFill>
            <a:srgbClr val="293036"/>
          </a:solidFill>
          <a:ln/>
        </p:spPr>
      </p:sp>
      <p:sp>
        <p:nvSpPr>
          <p:cNvPr id="16" name="Text 14"/>
          <p:cNvSpPr/>
          <p:nvPr/>
        </p:nvSpPr>
        <p:spPr>
          <a:xfrm>
            <a:off x="1289050" y="4445000"/>
            <a:ext cx="939800" cy="223490"/>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008300"/>
                </a:solidFill>
                <a:latin typeface="Roboto Flex" pitchFamily="34" charset="0"/>
                <a:ea typeface="Roboto Flex" pitchFamily="34" charset="-122"/>
                <a:cs typeface="Roboto Flex" pitchFamily="34" charset="-120"/>
              </a:rPr>
              <a:t>16,0k €</a:t>
            </a:r>
            <a:endParaRPr lang="en-US" sz="1200" dirty="0"/>
          </a:p>
        </p:txBody>
      </p:sp>
      <p:sp>
        <p:nvSpPr>
          <p:cNvPr id="17" name="Text 15"/>
          <p:cNvSpPr/>
          <p:nvPr/>
        </p:nvSpPr>
        <p:spPr>
          <a:xfrm>
            <a:off x="2000250" y="2762250"/>
            <a:ext cx="939800" cy="223490"/>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DB2200"/>
                </a:solidFill>
                <a:latin typeface="Roboto Flex" pitchFamily="34" charset="0"/>
                <a:ea typeface="Roboto Flex" pitchFamily="34" charset="-122"/>
                <a:cs typeface="Roboto Flex" pitchFamily="34" charset="-120"/>
              </a:rPr>
              <a:t>69k €</a:t>
            </a:r>
            <a:endParaRPr lang="en-US" sz="1200" dirty="0"/>
          </a:p>
        </p:txBody>
      </p:sp>
      <p:sp>
        <p:nvSpPr>
          <p:cNvPr id="18" name="Text 16"/>
          <p:cNvSpPr/>
          <p:nvPr/>
        </p:nvSpPr>
        <p:spPr>
          <a:xfrm>
            <a:off x="3289300" y="3308350"/>
            <a:ext cx="939800" cy="223490"/>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008300"/>
                </a:solidFill>
                <a:latin typeface="Roboto Flex" pitchFamily="34" charset="0"/>
                <a:ea typeface="Roboto Flex" pitchFamily="34" charset="-122"/>
                <a:cs typeface="Roboto Flex" pitchFamily="34" charset="-120"/>
              </a:rPr>
              <a:t>51,9k €</a:t>
            </a:r>
            <a:endParaRPr lang="en-US" sz="1200" dirty="0"/>
          </a:p>
        </p:txBody>
      </p:sp>
      <p:sp>
        <p:nvSpPr>
          <p:cNvPr id="19" name="Text 17"/>
          <p:cNvSpPr/>
          <p:nvPr/>
        </p:nvSpPr>
        <p:spPr>
          <a:xfrm>
            <a:off x="4000500" y="2762250"/>
            <a:ext cx="939800" cy="223490"/>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DB2200"/>
                </a:solidFill>
                <a:latin typeface="Roboto Flex" pitchFamily="34" charset="0"/>
                <a:ea typeface="Roboto Flex" pitchFamily="34" charset="-122"/>
                <a:cs typeface="Roboto Flex" pitchFamily="34" charset="-120"/>
              </a:rPr>
              <a:t>69k €</a:t>
            </a:r>
            <a:endParaRPr lang="en-US" sz="1200" dirty="0"/>
          </a:p>
        </p:txBody>
      </p:sp>
      <p:sp>
        <p:nvSpPr>
          <p:cNvPr id="20" name="Text 18"/>
          <p:cNvSpPr/>
          <p:nvPr/>
        </p:nvSpPr>
        <p:spPr>
          <a:xfrm>
            <a:off x="5289550" y="2857500"/>
            <a:ext cx="939800" cy="223490"/>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008300"/>
                </a:solidFill>
                <a:latin typeface="Roboto Flex" pitchFamily="34" charset="0"/>
                <a:ea typeface="Roboto Flex" pitchFamily="34" charset="-122"/>
                <a:cs typeface="Roboto Flex" pitchFamily="34" charset="-120"/>
              </a:rPr>
              <a:t>66,1k €</a:t>
            </a:r>
            <a:endParaRPr lang="en-US" sz="1200" dirty="0"/>
          </a:p>
        </p:txBody>
      </p:sp>
      <p:sp>
        <p:nvSpPr>
          <p:cNvPr id="21" name="Text 19"/>
          <p:cNvSpPr/>
          <p:nvPr/>
        </p:nvSpPr>
        <p:spPr>
          <a:xfrm>
            <a:off x="6000750" y="2762250"/>
            <a:ext cx="939800" cy="223490"/>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DB2200"/>
                </a:solidFill>
                <a:latin typeface="Roboto Flex" pitchFamily="34" charset="0"/>
                <a:ea typeface="Roboto Flex" pitchFamily="34" charset="-122"/>
                <a:cs typeface="Roboto Flex" pitchFamily="34" charset="-120"/>
              </a:rPr>
              <a:t>69k €</a:t>
            </a:r>
            <a:endParaRPr lang="en-US" sz="1200" dirty="0"/>
          </a:p>
        </p:txBody>
      </p:sp>
      <p:sp>
        <p:nvSpPr>
          <p:cNvPr id="22" name="Text 20"/>
          <p:cNvSpPr/>
          <p:nvPr/>
        </p:nvSpPr>
        <p:spPr>
          <a:xfrm>
            <a:off x="1327150" y="5321300"/>
            <a:ext cx="15748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293036"/>
                </a:solidFill>
                <a:latin typeface="Roboto Flex" pitchFamily="34" charset="0"/>
                <a:ea typeface="Roboto Flex" pitchFamily="34" charset="-122"/>
                <a:cs typeface="Roboto Flex" pitchFamily="34" charset="-120"/>
              </a:rPr>
              <a:t>1. aasta</a:t>
            </a:r>
            <a:endParaRPr lang="en-US" sz="1600" dirty="0"/>
          </a:p>
        </p:txBody>
      </p:sp>
      <p:sp>
        <p:nvSpPr>
          <p:cNvPr id="23" name="Text 21"/>
          <p:cNvSpPr/>
          <p:nvPr/>
        </p:nvSpPr>
        <p:spPr>
          <a:xfrm>
            <a:off x="3327400" y="5321300"/>
            <a:ext cx="15748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293036"/>
                </a:solidFill>
                <a:latin typeface="Roboto Flex" pitchFamily="34" charset="0"/>
                <a:ea typeface="Roboto Flex" pitchFamily="34" charset="-122"/>
                <a:cs typeface="Roboto Flex" pitchFamily="34" charset="-120"/>
              </a:rPr>
              <a:t>3. aasta</a:t>
            </a:r>
            <a:endParaRPr lang="en-US" sz="1600" dirty="0"/>
          </a:p>
        </p:txBody>
      </p:sp>
      <p:sp>
        <p:nvSpPr>
          <p:cNvPr id="24" name="Text 22"/>
          <p:cNvSpPr/>
          <p:nvPr/>
        </p:nvSpPr>
        <p:spPr>
          <a:xfrm>
            <a:off x="5327650" y="5321300"/>
            <a:ext cx="15748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293036"/>
                </a:solidFill>
                <a:latin typeface="Roboto Flex" pitchFamily="34" charset="0"/>
                <a:ea typeface="Roboto Flex" pitchFamily="34" charset="-122"/>
                <a:cs typeface="Roboto Flex" pitchFamily="34" charset="-120"/>
              </a:rPr>
              <a:t>5. aasta</a:t>
            </a:r>
            <a:endParaRPr lang="en-US" sz="1600" dirty="0"/>
          </a:p>
        </p:txBody>
      </p:sp>
      <p:sp>
        <p:nvSpPr>
          <p:cNvPr id="25" name="Text 23"/>
          <p:cNvSpPr/>
          <p:nvPr/>
        </p:nvSpPr>
        <p:spPr>
          <a:xfrm>
            <a:off x="7823200" y="2159000"/>
            <a:ext cx="3662680"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006CE6"/>
                </a:solidFill>
                <a:latin typeface="Merriweather" pitchFamily="18" charset="0"/>
                <a:ea typeface="Merriweather" pitchFamily="18" charset="-122"/>
                <a:cs typeface="Merriweather" pitchFamily="18" charset="-120"/>
              </a:rPr>
              <a:t>1 €</a:t>
            </a:r>
            <a:endParaRPr lang="en-US" sz="6000" dirty="0"/>
          </a:p>
        </p:txBody>
      </p:sp>
      <p:sp>
        <p:nvSpPr>
          <p:cNvPr id="26" name="Text 24"/>
          <p:cNvSpPr/>
          <p:nvPr/>
        </p:nvSpPr>
        <p:spPr>
          <a:xfrm>
            <a:off x="7823200" y="3086100"/>
            <a:ext cx="36626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02F63"/>
                </a:solidFill>
                <a:latin typeface="Roboto Flex" pitchFamily="34" charset="0"/>
                <a:ea typeface="Roboto Flex" pitchFamily="34" charset="-122"/>
                <a:cs typeface="Roboto Flex" pitchFamily="34" charset="-120"/>
              </a:rPr>
              <a:t>kuus lepingu kohta, maksab operaator</a:t>
            </a:r>
            <a:endParaRPr lang="en-US" sz="1600" dirty="0"/>
          </a:p>
        </p:txBody>
      </p:sp>
      <p:sp>
        <p:nvSpPr>
          <p:cNvPr id="27" name="Text 25"/>
          <p:cNvSpPr/>
          <p:nvPr/>
        </p:nvSpPr>
        <p:spPr>
          <a:xfrm>
            <a:off x="7823200" y="3937000"/>
            <a:ext cx="3662680"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006CE6"/>
                </a:solidFill>
                <a:latin typeface="Merriweather" pitchFamily="18" charset="0"/>
                <a:ea typeface="Merriweather" pitchFamily="18" charset="-122"/>
                <a:cs typeface="Merriweather" pitchFamily="18" charset="-120"/>
              </a:rPr>
              <a:t>5 750</a:t>
            </a:r>
            <a:endParaRPr lang="en-US" sz="6000" dirty="0"/>
          </a:p>
        </p:txBody>
      </p:sp>
      <p:sp>
        <p:nvSpPr>
          <p:cNvPr id="28" name="Text 26"/>
          <p:cNvSpPr/>
          <p:nvPr/>
        </p:nvSpPr>
        <p:spPr>
          <a:xfrm>
            <a:off x="7823200" y="4864100"/>
            <a:ext cx="36626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02F63"/>
                </a:solidFill>
                <a:latin typeface="Roboto Flex" pitchFamily="34" charset="0"/>
                <a:ea typeface="Roboto Flex" pitchFamily="34" charset="-122"/>
                <a:cs typeface="Roboto Flex" pitchFamily="34" charset="-120"/>
              </a:rPr>
              <a:t>lepingut katab ühe töötaja kulu</a:t>
            </a:r>
            <a:endParaRPr lang="en-US" sz="1600" dirty="0"/>
          </a:p>
        </p:txBody>
      </p:sp>
      <p:sp>
        <p:nvSpPr>
          <p:cNvPr id="29" name="Text 27"/>
          <p:cNvSpPr/>
          <p:nvPr/>
        </p:nvSpPr>
        <p:spPr>
          <a:xfrm>
            <a:off x="812800" y="6238280"/>
            <a:ext cx="7107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Hinnang · Marju prognoos, 9 560 liiget · kulu 1 täiskoht 2× keskmise palgaga, 100% mobiilile</a:t>
            </a:r>
            <a:endParaRPr lang="en-US" sz="1200" dirty="0"/>
          </a:p>
        </p:txBody>
      </p:sp>
      <p:sp>
        <p:nvSpPr>
          <p:cNvPr id="30" name="Text 28"/>
          <p:cNvSpPr/>
          <p:nvPr/>
        </p:nvSpPr>
        <p:spPr>
          <a:xfrm>
            <a:off x="11246594" y="6238280"/>
            <a:ext cx="13260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002F63"/>
                </a:solidFill>
                <a:latin typeface="Merriweather" pitchFamily="18" charset="0"/>
                <a:ea typeface="Merriweather" pitchFamily="18" charset="-122"/>
                <a:cs typeface="Merriweather" pitchFamily="18" charset="-120"/>
              </a:rPr>
              <a:t>Ärimudel: eeldused ja arvutus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330"/>
          <a:ext cx="5829300" cy="3962301"/>
        </p:xfrm>
        <a:graphic>
          <a:graphicData uri="http://schemas.openxmlformats.org/drawingml/2006/table">
            <a:tbl>
              <a:tblPr/>
              <a:tblGrid>
                <a:gridCol w="3206115"/>
                <a:gridCol w="2623185"/>
              </a:tblGrid>
              <a:tr h="396230">
                <a:tc>
                  <a:txBody>
                    <a:bodyPr/>
                    <a:lstStyle/>
                    <a:p>
                      <a:pPr indent="0" marL="0">
                        <a:lnSpc>
                          <a:spcPts val="1820"/>
                        </a:lnSpc>
                        <a:buNone/>
                      </a:pPr>
                      <a:r>
                        <a:rPr lang="en-US" sz="1300" b="1" dirty="0">
                          <a:solidFill>
                            <a:srgbClr val="FFFFFF"/>
                          </a:solidFill>
                          <a:latin typeface="Roboto Flex" pitchFamily="34" charset="0"/>
                          <a:ea typeface="Roboto Flex" pitchFamily="34" charset="-122"/>
                          <a:cs typeface="Roboto Flex" pitchFamily="34" charset="-120"/>
                        </a:rPr>
                        <a:t>Eeldus (baas)</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04295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951"/>
                      </a:solidFill>
                      <a:prstDash val="solid"/>
                      <a:round/>
                      <a:headEnd type="none" w="med" len="med"/>
                      <a:tailEnd type="none" w="med" len="med"/>
                    </a:lnB>
                    <a:solidFill>
                      <a:srgbClr val="002F63"/>
                    </a:solidFill>
                  </a:tcPr>
                </a:tc>
                <a:tc>
                  <a:txBody>
                    <a:bodyPr/>
                    <a:lstStyle/>
                    <a:p>
                      <a:pPr indent="0" marL="0">
                        <a:lnSpc>
                          <a:spcPts val="1820"/>
                        </a:lnSpc>
                        <a:buNone/>
                      </a:pPr>
                      <a:r>
                        <a:rPr lang="en-US" sz="1300" b="1" dirty="0">
                          <a:solidFill>
                            <a:srgbClr val="FFFFFF"/>
                          </a:solidFill>
                          <a:latin typeface="Roboto Flex" pitchFamily="34" charset="0"/>
                          <a:ea typeface="Roboto Flex" pitchFamily="34" charset="-122"/>
                          <a:cs typeface="Roboto Flex" pitchFamily="34" charset="-120"/>
                        </a:rPr>
                        <a:t>Väärtus</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042951"/>
                      </a:solidFill>
                      <a:prstDash val="solid"/>
                      <a:round/>
                      <a:headEnd type="none" w="med" len="med"/>
                      <a:tailEnd type="none" w="med" len="med"/>
                    </a:lnL>
                    <a:lnR w="12700" cap="flat" cmpd="sng" algn="ctr">
                      <a:solidFill>
                        <a:srgbClr val="04295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951"/>
                      </a:solidFill>
                      <a:prstDash val="solid"/>
                      <a:round/>
                      <a:headEnd type="none" w="med" len="med"/>
                      <a:tailEnd type="none" w="med" len="med"/>
                    </a:lnB>
                    <a:solidFill>
                      <a:srgbClr val="002F63"/>
                    </a:solidFill>
                  </a:tcPr>
                </a:tc>
              </a:tr>
              <a:tr h="3962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Liikmeid</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295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9 560</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295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962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Registreerub liikmetest</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20%</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4C5C6"/>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r>
              <a:tr h="3962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Registreerunutest vahetab</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45%</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962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Numbreid liikme kohta</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1,8</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4C5C6"/>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r>
              <a:tr h="3962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Internet või TV juurde</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40% × 1,6 teenust</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962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Ettevõtteid</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143 × 4 numbrit</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4C5C6"/>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r>
              <a:tr h="3962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Lepingutest säilib aastas</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85%</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962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Tuleva tasu lepingult</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1 € kuus</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4C5C6"/>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r>
              <a:tr h="3962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Kulu: 1 täiskoht</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69 000 € aastas</a:t>
                      </a:r>
                      <a:endParaRPr lang="en-US" sz="1300" dirty="0">
                        <a:latin typeface="Roboto Flex" charset="0"/>
                        <a:ea typeface="Roboto Flex" charset="0"/>
                        <a:cs typeface="Roboto Flex"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Text 1"/>
          <p:cNvSpPr/>
          <p:nvPr/>
        </p:nvSpPr>
        <p:spPr>
          <a:xfrm>
            <a:off x="7061200" y="1564630"/>
            <a:ext cx="444754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6CE6"/>
                </a:solidFill>
                <a:latin typeface="Merriweather" pitchFamily="18" charset="0"/>
                <a:ea typeface="Merriweather" pitchFamily="18" charset="-122"/>
                <a:cs typeface="Merriweather" pitchFamily="18" charset="-120"/>
              </a:rPr>
              <a:t>860 vahetajat</a:t>
            </a:r>
            <a:endParaRPr lang="en-US" sz="2200" dirty="0"/>
          </a:p>
        </p:txBody>
      </p:sp>
      <p:sp>
        <p:nvSpPr>
          <p:cNvPr id="5" name="Text 2"/>
          <p:cNvSpPr/>
          <p:nvPr/>
        </p:nvSpPr>
        <p:spPr>
          <a:xfrm>
            <a:off x="7061200" y="1925290"/>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9 560 × 20% × 45%</a:t>
            </a:r>
            <a:endParaRPr lang="en-US" sz="1200" dirty="0"/>
          </a:p>
        </p:txBody>
      </p:sp>
      <p:sp>
        <p:nvSpPr>
          <p:cNvPr id="6" name="Text 3"/>
          <p:cNvSpPr/>
          <p:nvPr/>
        </p:nvSpPr>
        <p:spPr>
          <a:xfrm>
            <a:off x="7061200" y="2316411"/>
            <a:ext cx="444754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6CE6"/>
                </a:solidFill>
                <a:latin typeface="Merriweather" pitchFamily="18" charset="0"/>
                <a:ea typeface="Merriweather" pitchFamily="18" charset="-122"/>
                <a:cs typeface="Merriweather" pitchFamily="18" charset="-120"/>
              </a:rPr>
              <a:t>2 670 lepingut</a:t>
            </a:r>
            <a:endParaRPr lang="en-US" sz="2200" dirty="0"/>
          </a:p>
        </p:txBody>
      </p:sp>
      <p:sp>
        <p:nvSpPr>
          <p:cNvPr id="7" name="Text 4"/>
          <p:cNvSpPr/>
          <p:nvPr/>
        </p:nvSpPr>
        <p:spPr>
          <a:xfrm>
            <a:off x="7061200" y="2677071"/>
            <a:ext cx="44475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1. aasta lõpus: 1 548 numbrit + 550 lisateenust + 572 ettevõtte numbrit</a:t>
            </a:r>
            <a:endParaRPr lang="en-US" sz="1200" dirty="0"/>
          </a:p>
        </p:txBody>
      </p:sp>
      <p:sp>
        <p:nvSpPr>
          <p:cNvPr id="8" name="Text 5"/>
          <p:cNvSpPr/>
          <p:nvPr/>
        </p:nvSpPr>
        <p:spPr>
          <a:xfrm>
            <a:off x="7061200" y="3281511"/>
            <a:ext cx="444754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6CE6"/>
                </a:solidFill>
                <a:latin typeface="Merriweather" pitchFamily="18" charset="0"/>
                <a:ea typeface="Merriweather" pitchFamily="18" charset="-122"/>
                <a:cs typeface="Merriweather" pitchFamily="18" charset="-120"/>
              </a:rPr>
              <a:t>16 000 € tulu</a:t>
            </a:r>
            <a:endParaRPr lang="en-US" sz="2200" dirty="0"/>
          </a:p>
        </p:txBody>
      </p:sp>
      <p:sp>
        <p:nvSpPr>
          <p:cNvPr id="9" name="Text 6"/>
          <p:cNvSpPr/>
          <p:nvPr/>
        </p:nvSpPr>
        <p:spPr>
          <a:xfrm>
            <a:off x="7061200" y="3642171"/>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1. aastal, liitujad ühtlaselt üle aasta · 3. a 51 900 €, 5. a 66 100 €</a:t>
            </a:r>
            <a:endParaRPr lang="en-US" sz="1200" dirty="0"/>
          </a:p>
        </p:txBody>
      </p:sp>
      <p:sp>
        <p:nvSpPr>
          <p:cNvPr id="10" name="Text 7"/>
          <p:cNvSpPr/>
          <p:nvPr/>
        </p:nvSpPr>
        <p:spPr>
          <a:xfrm>
            <a:off x="7061200" y="4033292"/>
            <a:ext cx="444754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2F63"/>
                </a:solidFill>
                <a:latin typeface="Merriweather" pitchFamily="18" charset="0"/>
                <a:ea typeface="Merriweather" pitchFamily="18" charset="-122"/>
                <a:cs typeface="Merriweather" pitchFamily="18" charset="-120"/>
              </a:rPr>
              <a:t>5 750 lepingut</a:t>
            </a:r>
            <a:endParaRPr lang="en-US" sz="2200" dirty="0"/>
          </a:p>
        </p:txBody>
      </p:sp>
      <p:sp>
        <p:nvSpPr>
          <p:cNvPr id="11" name="Text 8"/>
          <p:cNvSpPr/>
          <p:nvPr/>
        </p:nvSpPr>
        <p:spPr>
          <a:xfrm>
            <a:off x="7061200" y="4393952"/>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katab kulu: 69 000 € ÷ 12 € · baas jõuab sinna umbes 5. aastal</a:t>
            </a:r>
            <a:endParaRPr lang="en-US" sz="1200" dirty="0"/>
          </a:p>
        </p:txBody>
      </p:sp>
      <p:sp>
        <p:nvSpPr>
          <p:cNvPr id="12" name="Text 9"/>
          <p:cNvSpPr/>
          <p:nvPr/>
        </p:nvSpPr>
        <p:spPr>
          <a:xfrm>
            <a:off x="812800" y="6238280"/>
            <a:ext cx="73094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Hinnang · Marju prognoos 10.10.2026, baasstsenaarium (docs/13) · kogu töötaja kulu mobiilile</a:t>
            </a:r>
            <a:endParaRPr lang="en-US" sz="1200" dirty="0"/>
          </a:p>
        </p:txBody>
      </p:sp>
      <p:sp>
        <p:nvSpPr>
          <p:cNvPr id="13" name="Text 10"/>
          <p:cNvSpPr/>
          <p:nvPr/>
        </p:nvSpPr>
        <p:spPr>
          <a:xfrm>
            <a:off x="11246594" y="6238280"/>
            <a:ext cx="13260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002F63"/>
                </a:solidFill>
                <a:latin typeface="Merriweather" pitchFamily="18" charset="0"/>
                <a:ea typeface="Merriweather" pitchFamily="18" charset="-122"/>
                <a:cs typeface="Merriweather" pitchFamily="18" charset="-120"/>
              </a:rPr>
              <a:t>Kes on seda teinud</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330"/>
          <a:ext cx="10553700" cy="2339280"/>
        </p:xfrm>
        <a:graphic>
          <a:graphicData uri="http://schemas.openxmlformats.org/drawingml/2006/table">
            <a:tbl>
              <a:tblPr/>
              <a:tblGrid>
                <a:gridCol w="2743962"/>
                <a:gridCol w="3799332"/>
                <a:gridCol w="4010406"/>
              </a:tblGrid>
              <a:tr h="421630">
                <a:tc>
                  <a:txBody>
                    <a:bodyPr/>
                    <a:lstStyle/>
                    <a:p>
                      <a:pPr indent="0" marL="0">
                        <a:lnSpc>
                          <a:spcPts val="1820"/>
                        </a:lnSpc>
                        <a:buNone/>
                      </a:pPr>
                      <a:r>
                        <a:rPr lang="en-US" sz="1300" b="1" dirty="0">
                          <a:solidFill>
                            <a:srgbClr val="FFFFFF"/>
                          </a:solidFill>
                          <a:latin typeface="Roboto Flex" pitchFamily="34" charset="0"/>
                          <a:ea typeface="Roboto Flex" pitchFamily="34" charset="-122"/>
                          <a:cs typeface="Roboto Flex" pitchFamily="34" charset="-120"/>
                        </a:rPr>
                        <a:t>Kes</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04295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951"/>
                      </a:solidFill>
                      <a:prstDash val="solid"/>
                      <a:round/>
                      <a:headEnd type="none" w="med" len="med"/>
                      <a:tailEnd type="none" w="med" len="med"/>
                    </a:lnB>
                    <a:solidFill>
                      <a:srgbClr val="002F63"/>
                    </a:solidFill>
                  </a:tcPr>
                </a:tc>
                <a:tc>
                  <a:txBody>
                    <a:bodyPr/>
                    <a:lstStyle/>
                    <a:p>
                      <a:pPr indent="0" marL="0">
                        <a:lnSpc>
                          <a:spcPts val="1820"/>
                        </a:lnSpc>
                        <a:buNone/>
                      </a:pPr>
                      <a:r>
                        <a:rPr lang="en-US" sz="1300" b="1" dirty="0">
                          <a:solidFill>
                            <a:srgbClr val="FFFFFF"/>
                          </a:solidFill>
                          <a:latin typeface="Roboto Flex" pitchFamily="34" charset="0"/>
                          <a:ea typeface="Roboto Flex" pitchFamily="34" charset="-122"/>
                          <a:cs typeface="Roboto Flex" pitchFamily="34" charset="-120"/>
                        </a:rPr>
                        <a:t>Mis</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042951"/>
                      </a:solidFill>
                      <a:prstDash val="solid"/>
                      <a:round/>
                      <a:headEnd type="none" w="med" len="med"/>
                      <a:tailEnd type="none" w="med" len="med"/>
                    </a:lnL>
                    <a:lnR w="12700" cap="flat" cmpd="sng" algn="ctr">
                      <a:solidFill>
                        <a:srgbClr val="04295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951"/>
                      </a:solidFill>
                      <a:prstDash val="solid"/>
                      <a:round/>
                      <a:headEnd type="none" w="med" len="med"/>
                      <a:tailEnd type="none" w="med" len="med"/>
                    </a:lnB>
                    <a:solidFill>
                      <a:srgbClr val="002F63"/>
                    </a:solidFill>
                  </a:tcPr>
                </a:tc>
                <a:tc>
                  <a:txBody>
                    <a:bodyPr/>
                    <a:lstStyle/>
                    <a:p>
                      <a:pPr indent="0" marL="0">
                        <a:lnSpc>
                          <a:spcPts val="1820"/>
                        </a:lnSpc>
                        <a:buNone/>
                      </a:pPr>
                      <a:r>
                        <a:rPr lang="en-US" sz="1300" b="1" dirty="0">
                          <a:solidFill>
                            <a:srgbClr val="FFFFFF"/>
                          </a:solidFill>
                          <a:latin typeface="Roboto Flex" pitchFamily="34" charset="0"/>
                          <a:ea typeface="Roboto Flex" pitchFamily="34" charset="-122"/>
                          <a:cs typeface="Roboto Flex" pitchFamily="34" charset="-120"/>
                        </a:rPr>
                        <a:t>Õppetund</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042951"/>
                      </a:solidFill>
                      <a:prstDash val="solid"/>
                      <a:round/>
                      <a:headEnd type="none" w="med" len="med"/>
                      <a:tailEnd type="none" w="med" len="med"/>
                    </a:lnL>
                    <a:lnR w="12700" cap="flat" cmpd="sng" algn="ctr">
                      <a:solidFill>
                        <a:srgbClr val="04295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951"/>
                      </a:solidFill>
                      <a:prstDash val="solid"/>
                      <a:round/>
                      <a:headEnd type="none" w="med" len="med"/>
                      <a:tailEnd type="none" w="med" len="med"/>
                    </a:lnB>
                    <a:solidFill>
                      <a:srgbClr val="002F63"/>
                    </a:solidFill>
                  </a:tcPr>
                </a:tc>
              </a:tr>
              <a:tr h="65276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OCU, Hispaania 2014–2018</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295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3 mobiilihanget, 92 500 → 17 400 registreerunut</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295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Iga kord uus kampaania ja ühekordne tasu, püsivat suhet polnud. Soodustus kahanes 8%-ni</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295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6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Altroconsumo, Itaalia 2015</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Mobiilihange, 86 000 osalejat, võitja 9 € kuus</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4C5C6"/>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Võidab väljakutsuja, mitte turuliider</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4C5C6"/>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r>
              <a:tr h="4216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Which?, Suurbritannia 2012</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Energia ühisost, 285 000 registreerunut</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Ühisost ei garanteeri turu parimat hinda</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6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Eestis täna</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Operaatorite kampaaniad ja klubid</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4C5C6"/>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Soodushind seob 24 kuuks, siis tuleb tavahind</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4C5C6"/>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r>
            </a:tbl>
          </a:graphicData>
        </a:graphic>
      </p:graphicFrame>
      <p:sp>
        <p:nvSpPr>
          <p:cNvPr id="4" name="Text 1"/>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02F63"/>
                </a:solidFill>
                <a:latin typeface="Roboto Flex" pitchFamily="34" charset="0"/>
                <a:ea typeface="Roboto Flex" pitchFamily="34" charset="-122"/>
                <a:cs typeface="Roboto Flex" pitchFamily="34" charset="-120"/>
              </a:rPr>
              <a:t>Meie vastus:</a:t>
            </a:r>
            <a:r>
              <a:rPr lang="en-US" sz="1600" dirty="0">
                <a:solidFill>
                  <a:srgbClr val="002F63"/>
                </a:solidFill>
                <a:latin typeface="Roboto Flex" pitchFamily="34" charset="0"/>
                <a:ea typeface="Roboto Flex" pitchFamily="34" charset="-122"/>
                <a:cs typeface="Roboto Flex" pitchFamily="34" charset="-120"/>
              </a:rPr>
              <a:t> püsiv konto ja igakuine tasu · tasu avalik, kõigile sama · avaldame vahetajate arvu</a:t>
            </a:r>
            <a:endParaRPr lang="en-US" sz="1600" dirty="0"/>
          </a:p>
        </p:txBody>
      </p:sp>
      <p:sp>
        <p:nvSpPr>
          <p:cNvPr id="5" name="Text 2"/>
          <p:cNvSpPr/>
          <p:nvPr/>
        </p:nvSpPr>
        <p:spPr>
          <a:xfrm>
            <a:off x="812800" y="6238280"/>
            <a:ext cx="77166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OCU 2014–2018, iPhoneItalia 23.04.2015, MoneySavingExpert 05.2012 · detailid docs/18 ja docs/03</a:t>
            </a:r>
            <a:endParaRPr lang="en-US" sz="1200" dirty="0"/>
          </a:p>
        </p:txBody>
      </p:sp>
      <p:sp>
        <p:nvSpPr>
          <p:cNvPr id="6" name="Text 3"/>
          <p:cNvSpPr/>
          <p:nvPr/>
        </p:nvSpPr>
        <p:spPr>
          <a:xfrm>
            <a:off x="11164838" y="6238280"/>
            <a:ext cx="21436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002F63"/>
                </a:solidFill>
                <a:latin typeface="Merriweather" pitchFamily="18" charset="0"/>
                <a:ea typeface="Merriweather" pitchFamily="18" charset="-122"/>
                <a:cs typeface="Merriweather" pitchFamily="18" charset="-120"/>
              </a:rPr>
              <a:t>Mida me veel ei tea</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330"/>
          <a:ext cx="10553700" cy="2760911"/>
        </p:xfrm>
        <a:graphic>
          <a:graphicData uri="http://schemas.openxmlformats.org/drawingml/2006/table">
            <a:tbl>
              <a:tblPr/>
              <a:tblGrid>
                <a:gridCol w="5487924"/>
                <a:gridCol w="5065776"/>
              </a:tblGrid>
              <a:tr h="421630">
                <a:tc>
                  <a:txBody>
                    <a:bodyPr/>
                    <a:lstStyle/>
                    <a:p>
                      <a:pPr indent="0" marL="0">
                        <a:lnSpc>
                          <a:spcPts val="1820"/>
                        </a:lnSpc>
                        <a:buNone/>
                      </a:pPr>
                      <a:r>
                        <a:rPr lang="en-US" sz="1300" b="1" dirty="0">
                          <a:solidFill>
                            <a:srgbClr val="FFFFFF"/>
                          </a:solidFill>
                          <a:latin typeface="Roboto Flex" pitchFamily="34" charset="0"/>
                          <a:ea typeface="Roboto Flex" pitchFamily="34" charset="-122"/>
                          <a:cs typeface="Roboto Flex" pitchFamily="34" charset="-120"/>
                        </a:rPr>
                        <a:t>Teadmatus</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04295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951"/>
                      </a:solidFill>
                      <a:prstDash val="solid"/>
                      <a:round/>
                      <a:headEnd type="none" w="med" len="med"/>
                      <a:tailEnd type="none" w="med" len="med"/>
                    </a:lnB>
                    <a:solidFill>
                      <a:srgbClr val="002F63"/>
                    </a:solidFill>
                  </a:tcPr>
                </a:tc>
                <a:tc>
                  <a:txBody>
                    <a:bodyPr/>
                    <a:lstStyle/>
                    <a:p>
                      <a:pPr indent="0" marL="0">
                        <a:lnSpc>
                          <a:spcPts val="1820"/>
                        </a:lnSpc>
                        <a:buNone/>
                      </a:pPr>
                      <a:r>
                        <a:rPr lang="en-US" sz="1300" b="1" dirty="0">
                          <a:solidFill>
                            <a:srgbClr val="FFFFFF"/>
                          </a:solidFill>
                          <a:latin typeface="Roboto Flex" pitchFamily="34" charset="0"/>
                          <a:ea typeface="Roboto Flex" pitchFamily="34" charset="-122"/>
                          <a:cs typeface="Roboto Flex" pitchFamily="34" charset="-120"/>
                        </a:rPr>
                        <a:t>Kuidas teada saame</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042951"/>
                      </a:solidFill>
                      <a:prstDash val="solid"/>
                      <a:round/>
                      <a:headEnd type="none" w="med" len="med"/>
                      <a:tailEnd type="none" w="med" len="med"/>
                    </a:lnL>
                    <a:lnR w="12700" cap="flat" cmpd="sng" algn="ctr">
                      <a:solidFill>
                        <a:srgbClr val="04295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951"/>
                      </a:solidFill>
                      <a:prstDash val="solid"/>
                      <a:round/>
                      <a:headEnd type="none" w="med" len="med"/>
                      <a:tailEnd type="none" w="med" len="med"/>
                    </a:lnB>
                    <a:solidFill>
                      <a:srgbClr val="002F63"/>
                    </a:solidFill>
                  </a:tcPr>
                </a:tc>
              </a:tr>
              <a:tr h="65276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Kas operaator pakub vähemalt 2 € alla turu parima?</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295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Hankepäring kõigile. Enne seda küsime 1–2 müügijuhilt hinda 1 000 liinile</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295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6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Mitu registreerunut päriselt vahetab? Mudelis 45%, OCU-s umbes 10%</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Registreerumisvorm Tuleva kogukonnas. Esimene hange mõõdab</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4C5C6"/>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r>
              <a:tr h="4216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Kas operaator nõustub 1 € tasu ja meie vahendusrolliga?</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Tingimus hankepäringus. Õigusmentori hinnang</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6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Kas operaator aktsepteerib meie isikutuvastust ja lepingut?</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SLA läbirääkimine. Tagavara: suuname operaatori lehele</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4C5C6"/>
                      </a:solidFill>
                      <a:prstDash val="solid"/>
                      <a:round/>
                      <a:headEnd type="none" w="med" len="med"/>
                      <a:tailEnd type="none" w="med" len="med"/>
                    </a:lnL>
                    <a:lnR w="12700" cap="flat" cmpd="sng" algn="ctr">
                      <a:solidFill>
                        <a:srgbClr val="C4C5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6"/>
                      </a:solidFill>
                      <a:prstDash val="solid"/>
                      <a:round/>
                      <a:headEnd type="none" w="med" len="med"/>
                      <a:tailEnd type="none" w="med" len="med"/>
                    </a:lnB>
                    <a:solidFill>
                      <a:srgbClr val="F5F7F9"/>
                    </a:solidFill>
                  </a:tcPr>
                </a:tc>
              </a:tr>
              <a:tr h="421630">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Milline on andmetöötluse alus ja Tuleva roll?</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93036"/>
                          </a:solidFill>
                          <a:latin typeface="Roboto Flex" pitchFamily="34" charset="0"/>
                          <a:ea typeface="Roboto Flex" pitchFamily="34" charset="-122"/>
                          <a:cs typeface="Roboto Flex" pitchFamily="34" charset="-120"/>
                        </a:rPr>
                        <a:t>Andmekaitse mentor, siis Tuleva jurist</a:t>
                      </a:r>
                      <a:endParaRPr lang="en-US" sz="1300" dirty="0">
                        <a:latin typeface="Roboto Flex" charset="0"/>
                        <a:ea typeface="Roboto Flex" charset="0"/>
                        <a:cs typeface="Roboto Flex"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Text 1"/>
          <p:cNvSpPr/>
          <p:nvPr/>
        </p:nvSpPr>
        <p:spPr>
          <a:xfrm>
            <a:off x="812800" y="6238280"/>
            <a:ext cx="88182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Kõik lahtised küsimused: docs/05 ja docs/15 · Tele2 tingimused keelavad vahendamise ilma nõusolekuta (docs/14)</a:t>
            </a:r>
            <a:endParaRPr lang="en-US" sz="1200" dirty="0"/>
          </a:p>
        </p:txBody>
      </p:sp>
      <p:sp>
        <p:nvSpPr>
          <p:cNvPr id="5" name="Text 2"/>
          <p:cNvSpPr/>
          <p:nvPr/>
        </p:nvSpPr>
        <p:spPr>
          <a:xfrm>
            <a:off x="11164838" y="6238280"/>
            <a:ext cx="21436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4"/>
                </a:solidFill>
                <a:latin typeface="Roboto Flex" pitchFamily="34" charset="0"/>
                <a:ea typeface="Roboto Flex" pitchFamily="34" charset="-122"/>
                <a:cs typeface="Roboto Flex"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2F63"/>
        </a:solidFill>
      </p:bgPr>
    </p:bg>
    <p:spTree>
      <p:nvGrpSpPr>
        <p:cNvPr id="1" name=""/>
        <p:cNvGrpSpPr/>
        <p:nvPr/>
      </p:nvGrpSpPr>
      <p:grpSpPr>
        <a:xfrm>
          <a:off x="0" y="0"/>
          <a:ext cx="0" cy="0"/>
          <a:chOff x="0" y="0"/>
          <a:chExt cx="0" cy="0"/>
        </a:xfrm>
      </p:grpSpPr>
      <p:sp>
        <p:nvSpPr>
          <p:cNvPr id="2" name="Shape 0"/>
          <p:cNvSpPr/>
          <p:nvPr/>
        </p:nvSpPr>
        <p:spPr>
          <a:xfrm>
            <a:off x="812800" y="2727970"/>
            <a:ext cx="762000" cy="50800"/>
          </a:xfrm>
          <a:prstGeom prst="roundRect">
            <a:avLst>
              <a:gd name="adj" fmla="val 50000"/>
            </a:avLst>
          </a:prstGeom>
          <a:solidFill>
            <a:srgbClr val="00AEEA"/>
          </a:solidFill>
          <a:ln/>
        </p:spPr>
      </p:sp>
      <p:sp>
        <p:nvSpPr>
          <p:cNvPr id="3" name="Text 1"/>
          <p:cNvSpPr/>
          <p:nvPr>
            <p:ph type="title"/>
          </p:nvPr>
        </p:nvSpPr>
        <p:spPr>
          <a:xfrm>
            <a:off x="812800" y="3032770"/>
            <a:ext cx="9810750" cy="112266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FFFFFF"/>
                </a:solidFill>
                <a:latin typeface="Merriweather" pitchFamily="18" charset="0"/>
                <a:ea typeface="Merriweather" pitchFamily="18" charset="-122"/>
                <a:cs typeface="Merriweather" pitchFamily="18" charset="-120"/>
              </a:rPr>
              <a:t>Üksi pole sul läbirääkimisjõudu.</a:t>
            </a:r>
            <a:endParaRPr lang="en-US" sz="3600" dirty="0"/>
          </a:p>
          <a:p>
            <a:pPr algn="l" indent="0" marL="0">
              <a:lnSpc>
                <a:spcPts val="4320"/>
              </a:lnSpc>
              <a:buNone/>
            </a:pPr>
            <a:r>
              <a:rPr lang="en-US" sz="3600" b="1" i="0" dirty="0">
                <a:solidFill>
                  <a:srgbClr val="FFFFFF"/>
                </a:solidFill>
                <a:latin typeface="Merriweather" pitchFamily="18" charset="0"/>
                <a:ea typeface="Merriweather" pitchFamily="18" charset="-122"/>
                <a:cs typeface="Merriweather" pitchFamily="18" charset="-120"/>
              </a:rPr>
              <a:t>Tuhandel inimesel on.</a:t>
            </a:r>
            <a:endParaRPr lang="en-US" sz="3600" dirty="0"/>
          </a:p>
        </p:txBody>
      </p:sp>
      <p:sp>
        <p:nvSpPr>
          <p:cNvPr id="4"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DCA"/>
                </a:solidFill>
                <a:latin typeface="Roboto Flex" pitchFamily="34" charset="0"/>
                <a:ea typeface="Roboto Flex" pitchFamily="34" charset="-122"/>
                <a:cs typeface="Roboto Flex" pitchFamily="34" charset="-120"/>
              </a:rPr>
              <a:t>Tuleva Kogum</a:t>
            </a:r>
            <a:endParaRPr lang="en-US" sz="1200" dirty="0"/>
          </a:p>
        </p:txBody>
      </p:sp>
    </p:spTree>
  </p:cSld>
  <p:clrMapOvr>
    <a:masterClrMapping/>
  </p:clrMapOvr>
</p:sld>
</file>

<file path=ppt/theme/theme1.xml><?xml version="1.0" encoding="utf-8"?>
<a:theme xmlns:a="http://schemas.openxmlformats.org/drawingml/2006/main" name="Tuleva Kogum pitch">
  <a:themeElements>
    <a:clrScheme name="Tuleva Kogum pitch">
      <a:dk1>
        <a:srgbClr val="002F63"/>
      </a:dk1>
      <a:lt1>
        <a:srgbClr val="FFFFFF"/>
      </a:lt1>
      <a:dk2>
        <a:srgbClr val="40638A"/>
      </a:dk2>
      <a:lt2>
        <a:srgbClr val="E6EAEF"/>
      </a:lt2>
      <a:accent1>
        <a:srgbClr val="006CE6"/>
      </a:accent1>
      <a:accent2>
        <a:srgbClr val="008300"/>
      </a:accent2>
      <a:accent3>
        <a:srgbClr val="DB2200"/>
      </a:accent3>
      <a:accent4>
        <a:srgbClr val="00AEEA"/>
      </a:accent4>
      <a:accent5>
        <a:srgbClr val="A9C6E2"/>
      </a:accent5>
      <a:accent6>
        <a:srgbClr val="8FADCA"/>
      </a:accent6>
      <a:hlink>
        <a:srgbClr val="0563C1"/>
      </a:hlink>
      <a:folHlink>
        <a:srgbClr val="954F72"/>
      </a:folHlink>
    </a:clrScheme>
    <a:fontScheme name="Tuleva Kogum pitch">
      <a:majorFont>
        <a:latin typeface="Merriweath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Flex"/>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Tuleva Kogum pitch</dc:title>
  <dc:subject/>
  <dc:creator/>
  <cp:lastModifiedBy/>
  <cp:revision>1</cp:revision>
  <dcterms:created xsi:type="dcterms:W3CDTF">2026-10-10T14:39:20Z</dcterms:created>
  <dcterms:modified xsi:type="dcterms:W3CDTF">2026-10-10T14:39:20Z</dcterms:modified>
</cp:coreProperties>
</file>