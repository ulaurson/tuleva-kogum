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Konks. Tõstke käsi, kes teab, mida ta oma telefonipaketi eest kuus maksab. (paus) Teie liikmete küsitluses ütles 83%, et püsikulud on probleem. Kõige teravam valu: head hinda saab ainult siis, kui ähvardad lahkuda. Ja iga kahe aasta tagant algab sama ring uuesti.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Probleem. Sama piiramatu mobiilipakett maksab tavahinnaga 35–44 eurot kuus: Tele2 34,99, Telia 41,65, Elisa 43,99. Soodsama hinna saab see, kes oskab küsida ja seob end kaheks aastaks. Kampaania lõpeb, tavahind jääb. Võrdlusportaal ei aita, sest teenib operaatori vahendustasust. Üksi pole sul läbirääkimisjõudu. Tuhandel inimesel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on Tuleva Kogum. Inimene annab nõusoleku ja e-posti, rohkem mitte midagi: ei paketti, ei hinda, ei isikukoodi. Osaleda saavad kõik, ka ettevõtted. Novembris küsib Tuleva kõigilt operaatoritelt ühe hinna piiramatule paketile. Võidab madalaim. Kui pakkumine on käes, otsustab liige ise ja allkirjastab eeltäidetud lepingu. Number jääb samaks.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0:45–2:10 · Demo. Lülita prototüübile. Kõne tee: 1 → 2 → 3 → 4 → 4c → 5 → 8 → 11. [1] Kadri annab nõusoleku ja e-posti. [„Jah, soovin osaleda” → 2] Kadri on kirjas ja näeb kontol, mis edasi saab. [„Demo: pakkumised on käes” → 3] Kolme operaatori tavahind ja meie ühishind kõrvuti. Ütlen ausalt: 6,50 eurot on meie sihthind, mitte veel operaatori pakkumine. Tavahinna vastu säästab Kadri hinnanguliselt kuni 405 eurot aastas. Sidumist pole. All on kirjas ka see, mida Tuleva teenib: 1 euro kuus, kõigilt pakkujatelt sama. [„Võtan pakkumise” → 4] Kadri lisab ainult nime, isikukoodi ja numbri. [„Koosta leping” → 4c] Leping on Kadri ja operaatori vahel, Tuleva ei ole pool. Kadri loeb, allkirjastab ja saadab. Number jääb samaks, vana lepingu lõpetab uus operaator, 14 päeva saab taganeda. [„Vaata kogu gruppi” → 8] Tuhat registreerunut, neist 620 pole veel Tuleva kogujad. Operaatorile läheb ainult osalejate arv. [„Aasta” → 11] 560 lepingut, sääst kuni 227 000 eurot aastas. Varuplaan: kui demo jookseb kokku, jätka järgmise kahe slaidiga.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Kui demo töötas, klõpsa siit kiiresti edasi: numbrid olid juba ekraanil. Kui demo ei töötanud, räägi siit. Ütlen ausalt: 6,50 eurot on meie sihthind, mitte veel operaatori pakkumine. Tavahinna vastu säästab liige hinnanguliselt kuni 405 eurot aastas. Sidumist pole. Kui grupp kasvab, langeb hind kõigil, ka varem liitunutel.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Kui demo töötas, klõpsa edasi. Muidu: Tuhat registreerunut, neist 620 pole veel Tuleva kogujad. Operaatorile läheb ainult osalejate arv, mitte isikuandmed. Aasta pärast on 560 lepingut ja osalejate sääst on hinnanguliselt kuni 227 000 eurot aastas (560 × 405 €). Kui grupp kasvab 5 000-ni, langeb hind kõigil.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2:10–2:40 · Ühishange pole uus: Hispaania tarbijaühing OCU tegi seda mobiilsides juba 2014. Uus on kolm asja. Hange kordub igal aastal, nii et keegi ei pea enam ähvardama. Leping on valmis, inimene ainult allkirjastab. Ja Tuleva tasu on fikseeritud, 1 euro kuus ja kõigilt sama, seega pole meil põhjust kedagi kallima paketi poole lükata. Null infomüra: üks pakkumine, üks number, üks allkiri. Usaldus: liige otsustab ise ja näeb meie tasu enne liitumist. Järjekindlus: sama hange igal sügisel.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2:40–3:00 · Kui hind ei ole vähemalt 2 eurot alla turu parima, hanget ei toimu ja keegi ei kaota midagi. Operaator maksab Tulevale 1 euro kuus iga lepingu eest, liikmele on teenus tasuta. Esimesel aastal on kulu suurem kui tulu. Umbes 2 900 aktiivset lepingut katab jooksvad kulud, baasprognoosis juhtub see teisel aastal (15. kuul). Kumulatiivselt jõuame nulli 4. aastal ja 5 aastaga on tulemus umbes +37 000 eurot (hinnang, Marju prognoos). Suurem väärtus on 620 uut inimest, kelle esimene kogemus Tulevaga on sääst. Andmed: 1. ja 5. aasta tulu Marju tundlikkuse tabelist (1 €), 3. aasta tulu = 2 × 0,50 € stsenaariumi 27,1k.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Tulevik. Mobiilside on alles algus. Sama mudel töötab igal pool, kus inimesed maksavad sama teenuse eest eri hinda: kogume huvilised, küsime kõigilt pakkujatelt ühe hinna ja liige otsustab ise. Järgmisena vaatame elektrit, kindlustust ning uudiste ja muid tellimusi. Eesmärk on kasutada ühist ostujõudu võimalikult paljudes valdkondades. Iga valdkond vajab eraldi analüüsi: näiteks kindlustuses on vaja vahendaja tegevusluba ja elektris on sääst pigem õiges paketis kui grupihinnas.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Lõpp. Tuleva tegi nähtavaks pensionifondide tasud. Nüüd teeme sama telefoniarvega. Üksi pole sul läbirääkimisjõudu. Tuhandel inimesel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48630"/>
          </a:xfrm>
          <a:prstGeom prst="rect">
            <a:avLst/>
          </a:prstGeom>
          <a:noFill/>
          <a:ln/>
        </p:spPr>
        <p:txBody>
          <a:bodyPr wrap="square" lIns="0" tIns="0" rIns="0" bIns="0" rtlCol="0" anchor="t"/>
          <a:lstStyle>
            <a:lvl1pPr algn="l" indent="0" marL="0">
              <a:lnSpc>
                <a:spcPct val="115000"/>
              </a:lnSpc>
              <a:buNone/>
              <a:defRPr lang="en-US" sz="3600" dirty="0">
                <a:solidFill>
                  <a:srgbClr val="002F63"/>
                </a:solidFill>
                <a:latin typeface="Merriweather" pitchFamily="34" charset="0"/>
                <a:ea typeface="Merriweather" pitchFamily="34" charset="-122"/>
                <a:cs typeface="Merriweather"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66230"/>
            <a:ext cx="10566400" cy="4378970"/>
          </a:xfrm>
          <a:prstGeom prst="rect">
            <a:avLst/>
          </a:prstGeom>
          <a:noFill/>
          <a:ln/>
        </p:spPr>
        <p:txBody>
          <a:bodyPr wrap="square" lIns="0" tIns="0" rIns="0" bIns="0" rtlCol="0" anchor="t"/>
          <a:lstStyle>
            <a:lvl1pPr algn="l" indent="0" marL="0">
              <a:lnSpc>
                <a:spcPct val="140000"/>
              </a:lnSpc>
              <a:buNone/>
              <a:defRPr lang="en-US" sz="1600" dirty="0">
                <a:solidFill>
                  <a:srgbClr val="002F63"/>
                </a:solidFill>
                <a:latin typeface="Roboto Flex" pitchFamily="34" charset="0"/>
                <a:ea typeface="Roboto Flex" pitchFamily="34" charset="-122"/>
                <a:cs typeface="Roboto Flex"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48630"/>
          </a:xfrm>
          <a:prstGeom prst="rect">
            <a:avLst/>
          </a:prstGeom>
          <a:noFill/>
          <a:ln/>
        </p:spPr>
        <p:txBody>
          <a:bodyPr wrap="square" lIns="0" tIns="0" rIns="0" bIns="0" rtlCol="0" anchor="t"/>
          <a:lstStyle>
            <a:lvl1pPr algn="l" indent="0" marL="0">
              <a:lnSpc>
                <a:spcPct val="115000"/>
              </a:lnSpc>
              <a:buNone/>
              <a:defRPr lang="en-US" sz="3600" dirty="0">
                <a:solidFill>
                  <a:srgbClr val="002F63"/>
                </a:solidFill>
                <a:latin typeface="Merriweather" pitchFamily="34" charset="0"/>
                <a:ea typeface="Merriweather" pitchFamily="34" charset="-122"/>
                <a:cs typeface="Merriweather"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66230"/>
            <a:ext cx="10566400" cy="4378970"/>
          </a:xfrm>
          <a:prstGeom prst="rect">
            <a:avLst/>
          </a:prstGeom>
          <a:noFill/>
          <a:ln/>
        </p:spPr>
        <p:txBody>
          <a:bodyPr wrap="square" lIns="0" tIns="0" rIns="0" bIns="0" rtlCol="0" anchor="t"/>
          <a:lstStyle>
            <a:lvl1pPr algn="l" indent="0" marL="0">
              <a:lnSpc>
                <a:spcPct val="140000"/>
              </a:lnSpc>
              <a:buNone/>
              <a:defRPr lang="en-US" sz="1600" dirty="0">
                <a:solidFill>
                  <a:srgbClr val="002F63"/>
                </a:solidFill>
                <a:latin typeface="Roboto Flex" pitchFamily="34" charset="0"/>
                <a:ea typeface="Roboto Flex" pitchFamily="34" charset="-122"/>
                <a:cs typeface="Roboto Flex"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F7FD"/>
        </a:solidFill>
      </p:bgPr>
    </p:bg>
    <p:spTree>
      <p:nvGrpSpPr>
        <p:cNvPr id="1" name=""/>
        <p:cNvGrpSpPr/>
        <p:nvPr/>
      </p:nvGrpSpPr>
      <p:grpSpPr>
        <a:xfrm>
          <a:off x="0" y="0"/>
          <a:ext cx="0" cy="0"/>
          <a:chOff x="0" y="0"/>
          <a:chExt cx="0" cy="0"/>
        </a:xfrm>
      </p:grpSpPr>
      <p:sp>
        <p:nvSpPr>
          <p:cNvPr id="2" name="Shape 0"/>
          <p:cNvSpPr/>
          <p:nvPr/>
        </p:nvSpPr>
        <p:spPr>
          <a:xfrm>
            <a:off x="812800" y="2459980"/>
            <a:ext cx="762000" cy="50800"/>
          </a:xfrm>
          <a:prstGeom prst="roundRect">
            <a:avLst>
              <a:gd name="adj" fmla="val 50000"/>
            </a:avLst>
          </a:prstGeom>
          <a:solidFill>
            <a:srgbClr val="00AEEA"/>
          </a:solidFill>
          <a:ln/>
        </p:spPr>
      </p:sp>
      <p:sp>
        <p:nvSpPr>
          <p:cNvPr id="3" name="Text 1"/>
          <p:cNvSpPr/>
          <p:nvPr>
            <p:ph type="title"/>
          </p:nvPr>
        </p:nvSpPr>
        <p:spPr>
          <a:xfrm>
            <a:off x="812800" y="2713980"/>
            <a:ext cx="10883392" cy="1143000"/>
          </a:xfrm>
          <a:prstGeom prst="rect">
            <a:avLst/>
          </a:prstGeom>
          <a:noFill/>
          <a:ln/>
        </p:spPr>
        <p:txBody>
          <a:bodyPr wrap="square" lIns="0" tIns="0" rIns="0" bIns="0" rtlCol="0" anchor="t">
            <a:normAutofit/>
          </a:bodyPr>
          <a:lstStyle/>
          <a:p>
            <a:pPr algn="l" indent="0" marL="0">
              <a:lnSpc>
                <a:spcPts val="8800"/>
              </a:lnSpc>
              <a:buNone/>
            </a:pPr>
            <a:r>
              <a:rPr lang="en-US" sz="8000" b="1" i="0" dirty="0">
                <a:solidFill>
                  <a:srgbClr val="002F63"/>
                </a:solidFill>
                <a:latin typeface="Merriweather" pitchFamily="18" charset="0"/>
                <a:ea typeface="Merriweather" pitchFamily="18" charset="-122"/>
                <a:cs typeface="Merriweather" pitchFamily="18" charset="-120"/>
              </a:rPr>
              <a:t>Tuleva Kogum</a:t>
            </a:r>
            <a:endParaRPr lang="en-US" sz="8000" dirty="0"/>
          </a:p>
        </p:txBody>
      </p:sp>
      <p:sp>
        <p:nvSpPr>
          <p:cNvPr id="4" name="Text 2"/>
          <p:cNvSpPr/>
          <p:nvPr/>
        </p:nvSpPr>
        <p:spPr>
          <a:xfrm>
            <a:off x="812800" y="4034780"/>
            <a:ext cx="10883392" cy="38859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293036"/>
                </a:solidFill>
                <a:latin typeface="Roboto Flex" pitchFamily="34" charset="0"/>
                <a:ea typeface="Roboto Flex" pitchFamily="34" charset="-122"/>
                <a:cs typeface="Roboto Flex" pitchFamily="34" charset="-120"/>
              </a:rPr>
              <a:t>Mobiilside ühishange</a:t>
            </a:r>
            <a:endParaRPr lang="en-US" sz="22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Tuleva häkaton 2026 · kollektiivne ostujõud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2095500"/>
            <a:ext cx="10566400" cy="3556000"/>
          </a:xfrm>
          <a:prstGeom prst="roundRect">
            <a:avLst>
              <a:gd name="adj" fmla="val 2857"/>
            </a:avLst>
          </a:prstGeom>
          <a:solidFill>
            <a:srgbClr val="EDF7FD"/>
          </a:solidFill>
          <a:ln/>
        </p:spPr>
      </p:sp>
      <p:sp>
        <p:nvSpPr>
          <p:cNvPr id="3" name="Text 1"/>
          <p:cNvSpPr/>
          <p:nvPr>
            <p:ph type="title"/>
          </p:nvPr>
        </p:nvSpPr>
        <p:spPr>
          <a:xfrm>
            <a:off x="812800" y="812800"/>
            <a:ext cx="10883392" cy="574030"/>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002F63"/>
                </a:solidFill>
                <a:latin typeface="Merriweather" pitchFamily="18" charset="0"/>
                <a:ea typeface="Merriweather" pitchFamily="18" charset="-122"/>
                <a:cs typeface="Merriweather" pitchFamily="18" charset="-120"/>
              </a:rPr>
              <a:t>Sama pakett, </a:t>
            </a:r>
            <a:r>
              <a:rPr lang="en-US" sz="3600" b="1" i="0" dirty="0">
                <a:solidFill>
                  <a:srgbClr val="006CE6"/>
                </a:solidFill>
                <a:latin typeface="Merriweather" pitchFamily="18" charset="0"/>
                <a:ea typeface="Merriweather" pitchFamily="18" charset="-122"/>
                <a:cs typeface="Merriweather" pitchFamily="18" charset="-120"/>
              </a:rPr>
              <a:t>35–44 €</a:t>
            </a:r>
            <a:r>
              <a:rPr lang="en-US" sz="3600" b="1" i="0" dirty="0">
                <a:solidFill>
                  <a:srgbClr val="002F63"/>
                </a:solidFill>
                <a:latin typeface="Merriweather" pitchFamily="18" charset="0"/>
                <a:ea typeface="Merriweather" pitchFamily="18" charset="-122"/>
                <a:cs typeface="Merriweather" pitchFamily="18" charset="-120"/>
              </a:rPr>
              <a:t> kuus</a:t>
            </a:r>
            <a:endParaRPr lang="en-US" sz="3600" dirty="0"/>
          </a:p>
        </p:txBody>
      </p:sp>
      <p:sp>
        <p:nvSpPr>
          <p:cNvPr id="4" name="Text 2"/>
          <p:cNvSpPr/>
          <p:nvPr/>
        </p:nvSpPr>
        <p:spPr>
          <a:xfrm>
            <a:off x="812800" y="146303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6B7074"/>
                </a:solidFill>
                <a:latin typeface="Roboto Flex" pitchFamily="34" charset="0"/>
                <a:ea typeface="Roboto Flex" pitchFamily="34" charset="-122"/>
                <a:cs typeface="Roboto Flex" pitchFamily="34" charset="-120"/>
              </a:rPr>
              <a:t>Piiramatu mobiilipakett, tavahind ilma sidumiseta</a:t>
            </a:r>
            <a:endParaRPr lang="en-US" sz="1600" dirty="0"/>
          </a:p>
        </p:txBody>
      </p:sp>
      <p:sp>
        <p:nvSpPr>
          <p:cNvPr id="5" name="Shape 3"/>
          <p:cNvSpPr/>
          <p:nvPr/>
        </p:nvSpPr>
        <p:spPr>
          <a:xfrm>
            <a:off x="2603500" y="3206750"/>
            <a:ext cx="1397000" cy="2000250"/>
          </a:xfrm>
          <a:custGeom>
            <a:avLst/>
            <a:gdLst/>
            <a:ahLst/>
            <a:cxnLst/>
            <a:rect l="l" t="t" r="r" b="b"/>
            <a:pathLst>
              <a:path w="1397000" h="2000250">
                <a:moveTo>
                  <a:pt x="50800" y="0"/>
                </a:moveTo>
                <a:lnTo>
                  <a:pt x="1346200" y="0"/>
                </a:lnTo>
                <a:arcTo hR="50800" wR="50800" stAng="16200000" swAng="5400000"/>
                <a:lnTo>
                  <a:pt x="1397000" y="2000250"/>
                </a:lnTo>
                <a:lnTo>
                  <a:pt x="0" y="2000250"/>
                </a:lnTo>
                <a:lnTo>
                  <a:pt x="0" y="50800"/>
                </a:lnTo>
                <a:arcTo hR="50800" wR="50800" stAng="10800000" swAng="5400000"/>
                <a:close/>
              </a:path>
            </a:pathLst>
          </a:custGeom>
          <a:solidFill>
            <a:srgbClr val="293036"/>
          </a:solidFill>
          <a:ln/>
        </p:spPr>
      </p:sp>
      <p:sp>
        <p:nvSpPr>
          <p:cNvPr id="6" name="Shape 4"/>
          <p:cNvSpPr/>
          <p:nvPr/>
        </p:nvSpPr>
        <p:spPr>
          <a:xfrm>
            <a:off x="5397500" y="2825750"/>
            <a:ext cx="1397000" cy="2381250"/>
          </a:xfrm>
          <a:custGeom>
            <a:avLst/>
            <a:gdLst/>
            <a:ahLst/>
            <a:cxnLst/>
            <a:rect l="l" t="t" r="r" b="b"/>
            <a:pathLst>
              <a:path w="1397000" h="2381250">
                <a:moveTo>
                  <a:pt x="50800" y="0"/>
                </a:moveTo>
                <a:lnTo>
                  <a:pt x="1346200" y="0"/>
                </a:lnTo>
                <a:arcTo hR="50800" wR="50800" stAng="16200000" swAng="5400000"/>
                <a:lnTo>
                  <a:pt x="1397000" y="2381250"/>
                </a:lnTo>
                <a:lnTo>
                  <a:pt x="0" y="2381250"/>
                </a:lnTo>
                <a:lnTo>
                  <a:pt x="0" y="50800"/>
                </a:lnTo>
                <a:arcTo hR="50800" wR="50800" stAng="10800000" swAng="5400000"/>
                <a:close/>
              </a:path>
            </a:pathLst>
          </a:custGeom>
          <a:solidFill>
            <a:srgbClr val="293036"/>
          </a:solidFill>
          <a:ln/>
        </p:spPr>
      </p:sp>
      <p:sp>
        <p:nvSpPr>
          <p:cNvPr id="7" name="Shape 5"/>
          <p:cNvSpPr/>
          <p:nvPr/>
        </p:nvSpPr>
        <p:spPr>
          <a:xfrm>
            <a:off x="8191500" y="2692400"/>
            <a:ext cx="1397000" cy="2514600"/>
          </a:xfrm>
          <a:custGeom>
            <a:avLst/>
            <a:gdLst/>
            <a:ahLst/>
            <a:cxnLst/>
            <a:rect l="l" t="t" r="r" b="b"/>
            <a:pathLst>
              <a:path w="1397000" h="2514600">
                <a:moveTo>
                  <a:pt x="50800" y="0"/>
                </a:moveTo>
                <a:lnTo>
                  <a:pt x="1346200" y="0"/>
                </a:lnTo>
                <a:arcTo hR="50800" wR="50800" stAng="16200000" swAng="5400000"/>
                <a:lnTo>
                  <a:pt x="1397000" y="2514600"/>
                </a:lnTo>
                <a:lnTo>
                  <a:pt x="0" y="2514600"/>
                </a:lnTo>
                <a:lnTo>
                  <a:pt x="0" y="50800"/>
                </a:lnTo>
                <a:arcTo hR="50800" wR="50800" stAng="10800000" swAng="5400000"/>
                <a:close/>
              </a:path>
            </a:pathLst>
          </a:custGeom>
          <a:solidFill>
            <a:srgbClr val="293036"/>
          </a:solidFill>
          <a:ln/>
        </p:spPr>
      </p:sp>
      <p:sp>
        <p:nvSpPr>
          <p:cNvPr id="8" name="Shape 6"/>
          <p:cNvSpPr/>
          <p:nvPr/>
        </p:nvSpPr>
        <p:spPr>
          <a:xfrm>
            <a:off x="1625600" y="5207000"/>
            <a:ext cx="8940800" cy="12700"/>
          </a:xfrm>
          <a:prstGeom prst="rect">
            <a:avLst/>
          </a:prstGeom>
          <a:solidFill>
            <a:srgbClr val="293036"/>
          </a:solidFill>
          <a:ln/>
        </p:spPr>
      </p:sp>
      <p:sp>
        <p:nvSpPr>
          <p:cNvPr id="9" name="Text 7"/>
          <p:cNvSpPr/>
          <p:nvPr/>
        </p:nvSpPr>
        <p:spPr>
          <a:xfrm>
            <a:off x="2255520" y="2768600"/>
            <a:ext cx="2092960" cy="360660"/>
          </a:xfrm>
          <a:prstGeom prst="rect">
            <a:avLst/>
          </a:prstGeom>
          <a:noFill/>
          <a:ln/>
        </p:spPr>
        <p:txBody>
          <a:bodyPr wrap="square" lIns="0" tIns="0" rIns="0" bIns="0" rtlCol="0" anchor="t">
            <a:normAutofit/>
          </a:bodyPr>
          <a:lstStyle/>
          <a:p>
            <a:pPr algn="ctr"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34,99 €</a:t>
            </a:r>
            <a:endParaRPr lang="en-US" sz="2200" dirty="0"/>
          </a:p>
        </p:txBody>
      </p:sp>
      <p:sp>
        <p:nvSpPr>
          <p:cNvPr id="10" name="Text 8"/>
          <p:cNvSpPr/>
          <p:nvPr/>
        </p:nvSpPr>
        <p:spPr>
          <a:xfrm>
            <a:off x="5049520" y="2387600"/>
            <a:ext cx="2092960" cy="360660"/>
          </a:xfrm>
          <a:prstGeom prst="rect">
            <a:avLst/>
          </a:prstGeom>
          <a:noFill/>
          <a:ln/>
        </p:spPr>
        <p:txBody>
          <a:bodyPr wrap="square" lIns="0" tIns="0" rIns="0" bIns="0" rtlCol="0" anchor="t">
            <a:normAutofit/>
          </a:bodyPr>
          <a:lstStyle/>
          <a:p>
            <a:pPr algn="ctr"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41,65 €</a:t>
            </a:r>
            <a:endParaRPr lang="en-US" sz="2200" dirty="0"/>
          </a:p>
        </p:txBody>
      </p:sp>
      <p:sp>
        <p:nvSpPr>
          <p:cNvPr id="11" name="Text 9"/>
          <p:cNvSpPr/>
          <p:nvPr/>
        </p:nvSpPr>
        <p:spPr>
          <a:xfrm>
            <a:off x="7843520" y="2254250"/>
            <a:ext cx="2092960" cy="360660"/>
          </a:xfrm>
          <a:prstGeom prst="rect">
            <a:avLst/>
          </a:prstGeom>
          <a:noFill/>
          <a:ln/>
        </p:spPr>
        <p:txBody>
          <a:bodyPr wrap="square" lIns="0" tIns="0" rIns="0" bIns="0" rtlCol="0" anchor="t">
            <a:normAutofit/>
          </a:bodyPr>
          <a:lstStyle/>
          <a:p>
            <a:pPr algn="ctr"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43,99 €</a:t>
            </a:r>
            <a:endParaRPr lang="en-US" sz="2200" dirty="0"/>
          </a:p>
        </p:txBody>
      </p:sp>
      <p:sp>
        <p:nvSpPr>
          <p:cNvPr id="12" name="Text 10"/>
          <p:cNvSpPr/>
          <p:nvPr/>
        </p:nvSpPr>
        <p:spPr>
          <a:xfrm>
            <a:off x="2255520" y="5321300"/>
            <a:ext cx="2092960" cy="289520"/>
          </a:xfrm>
          <a:prstGeom prst="rect">
            <a:avLst/>
          </a:prstGeom>
          <a:noFill/>
          <a:ln/>
        </p:spPr>
        <p:txBody>
          <a:bodyPr wrap="square" lIns="0" tIns="0" rIns="0" bIns="0" rtlCol="0" anchor="t">
            <a:normAutofit/>
          </a:bodyPr>
          <a:lstStyle/>
          <a:p>
            <a:pPr algn="ctr" indent="0" marL="0">
              <a:lnSpc>
                <a:spcPts val="2080"/>
              </a:lnSpc>
              <a:buNone/>
            </a:pPr>
            <a:r>
              <a:rPr lang="en-US" sz="1600" dirty="0">
                <a:solidFill>
                  <a:srgbClr val="293036"/>
                </a:solidFill>
                <a:latin typeface="Roboto Flex" pitchFamily="34" charset="0"/>
                <a:ea typeface="Roboto Flex" pitchFamily="34" charset="-122"/>
                <a:cs typeface="Roboto Flex" pitchFamily="34" charset="-120"/>
              </a:rPr>
              <a:t>Tele2</a:t>
            </a:r>
            <a:endParaRPr lang="en-US" sz="1600" dirty="0"/>
          </a:p>
        </p:txBody>
      </p:sp>
      <p:sp>
        <p:nvSpPr>
          <p:cNvPr id="13" name="Text 11"/>
          <p:cNvSpPr/>
          <p:nvPr/>
        </p:nvSpPr>
        <p:spPr>
          <a:xfrm>
            <a:off x="5049520" y="5321300"/>
            <a:ext cx="2092960" cy="289520"/>
          </a:xfrm>
          <a:prstGeom prst="rect">
            <a:avLst/>
          </a:prstGeom>
          <a:noFill/>
          <a:ln/>
        </p:spPr>
        <p:txBody>
          <a:bodyPr wrap="square" lIns="0" tIns="0" rIns="0" bIns="0" rtlCol="0" anchor="t">
            <a:normAutofit/>
          </a:bodyPr>
          <a:lstStyle/>
          <a:p>
            <a:pPr algn="ctr" indent="0" marL="0">
              <a:lnSpc>
                <a:spcPts val="2080"/>
              </a:lnSpc>
              <a:buNone/>
            </a:pPr>
            <a:r>
              <a:rPr lang="en-US" sz="1600" dirty="0">
                <a:solidFill>
                  <a:srgbClr val="293036"/>
                </a:solidFill>
                <a:latin typeface="Roboto Flex" pitchFamily="34" charset="0"/>
                <a:ea typeface="Roboto Flex" pitchFamily="34" charset="-122"/>
                <a:cs typeface="Roboto Flex" pitchFamily="34" charset="-120"/>
              </a:rPr>
              <a:t>Telia</a:t>
            </a:r>
            <a:endParaRPr lang="en-US" sz="1600" dirty="0"/>
          </a:p>
        </p:txBody>
      </p:sp>
      <p:sp>
        <p:nvSpPr>
          <p:cNvPr id="14" name="Text 12"/>
          <p:cNvSpPr/>
          <p:nvPr/>
        </p:nvSpPr>
        <p:spPr>
          <a:xfrm>
            <a:off x="7843520" y="5321300"/>
            <a:ext cx="2092960" cy="289520"/>
          </a:xfrm>
          <a:prstGeom prst="rect">
            <a:avLst/>
          </a:prstGeom>
          <a:noFill/>
          <a:ln/>
        </p:spPr>
        <p:txBody>
          <a:bodyPr wrap="square" lIns="0" tIns="0" rIns="0" bIns="0" rtlCol="0" anchor="t">
            <a:normAutofit/>
          </a:bodyPr>
          <a:lstStyle/>
          <a:p>
            <a:pPr algn="ctr" indent="0" marL="0">
              <a:lnSpc>
                <a:spcPts val="2080"/>
              </a:lnSpc>
              <a:buNone/>
            </a:pPr>
            <a:r>
              <a:rPr lang="en-US" sz="1600" dirty="0">
                <a:solidFill>
                  <a:srgbClr val="293036"/>
                </a:solidFill>
                <a:latin typeface="Roboto Flex" pitchFamily="34" charset="0"/>
                <a:ea typeface="Roboto Flex" pitchFamily="34" charset="-122"/>
                <a:cs typeface="Roboto Flex" pitchFamily="34" charset="-120"/>
              </a:rPr>
              <a:t>Elisa</a:t>
            </a:r>
            <a:endParaRPr lang="en-US" sz="1600" dirty="0"/>
          </a:p>
        </p:txBody>
      </p:sp>
      <p:sp>
        <p:nvSpPr>
          <p:cNvPr id="15" name="Text 13"/>
          <p:cNvSpPr/>
          <p:nvPr/>
        </p:nvSpPr>
        <p:spPr>
          <a:xfrm>
            <a:off x="812800" y="6238280"/>
            <a:ext cx="636942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Tele2 Piiramatu Eesti, Telia Piiramatu, Elisa Võimas 5G+ · hinnad 27.09–10.10.2026</a:t>
            </a:r>
            <a:endParaRPr lang="en-US" sz="1200" dirty="0"/>
          </a:p>
        </p:txBody>
      </p:sp>
      <p:sp>
        <p:nvSpPr>
          <p:cNvPr id="16" name="Text 14"/>
          <p:cNvSpPr/>
          <p:nvPr/>
        </p:nvSpPr>
        <p:spPr>
          <a:xfrm>
            <a:off x="11246594" y="6238280"/>
            <a:ext cx="1326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74030"/>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002F63"/>
                </a:solidFill>
                <a:latin typeface="Merriweather" pitchFamily="18" charset="0"/>
                <a:ea typeface="Merriweather" pitchFamily="18" charset="-122"/>
                <a:cs typeface="Merriweather" pitchFamily="18" charset="-120"/>
              </a:rPr>
              <a:t>Üks hange, kord aastas</a:t>
            </a:r>
            <a:endParaRPr lang="en-US" sz="3600" dirty="0"/>
          </a:p>
        </p:txBody>
      </p:sp>
      <p:sp>
        <p:nvSpPr>
          <p:cNvPr id="3" name="Shape 1"/>
          <p:cNvSpPr/>
          <p:nvPr/>
        </p:nvSpPr>
        <p:spPr>
          <a:xfrm>
            <a:off x="812800" y="2900660"/>
            <a:ext cx="3318917" cy="1605260"/>
          </a:xfrm>
          <a:prstGeom prst="roundRect">
            <a:avLst>
              <a:gd name="adj" fmla="val 6329"/>
            </a:avLst>
          </a:prstGeom>
          <a:solidFill>
            <a:srgbClr val="EDF7FD"/>
          </a:solidFill>
          <a:ln/>
        </p:spPr>
      </p:sp>
      <p:sp>
        <p:nvSpPr>
          <p:cNvPr id="4" name="Text 2"/>
          <p:cNvSpPr/>
          <p:nvPr/>
        </p:nvSpPr>
        <p:spPr>
          <a:xfrm>
            <a:off x="1117600" y="3205460"/>
            <a:ext cx="457200" cy="457200"/>
          </a:xfrm>
          <a:prstGeom prst="roundRect">
            <a:avLst>
              <a:gd name="adj" fmla="val 50000"/>
            </a:avLst>
          </a:prstGeom>
          <a:solidFill>
            <a:srgbClr val="CCEDFA"/>
          </a:solidFill>
          <a:ln/>
        </p:spPr>
        <p:txBody>
          <a:bodyPr wrap="square" lIns="0" tIns="0" rIns="0" bIns="0" rtlCol="0" anchor="ctr">
            <a:normAutofit/>
          </a:bodyPr>
          <a:lstStyle/>
          <a:p>
            <a:pPr algn="ctr" indent="0" marL="0">
              <a:lnSpc>
                <a:spcPts val="2240"/>
              </a:lnSpc>
              <a:buNone/>
            </a:pPr>
            <a:r>
              <a:rPr lang="en-US" sz="1600" b="1" dirty="0">
                <a:solidFill>
                  <a:srgbClr val="002F63"/>
                </a:solidFill>
                <a:latin typeface="Roboto Flex" pitchFamily="34" charset="0"/>
                <a:ea typeface="Roboto Flex" pitchFamily="34" charset="-122"/>
                <a:cs typeface="Roboto Flex" pitchFamily="34" charset="-120"/>
              </a:rPr>
              <a:t>1</a:t>
            </a:r>
            <a:endParaRPr lang="en-US" sz="1600" dirty="0"/>
          </a:p>
        </p:txBody>
      </p:sp>
      <p:sp>
        <p:nvSpPr>
          <p:cNvPr id="5" name="Text 3"/>
          <p:cNvSpPr/>
          <p:nvPr/>
        </p:nvSpPr>
        <p:spPr>
          <a:xfrm>
            <a:off x="1117600" y="3865860"/>
            <a:ext cx="279059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Registreeru</a:t>
            </a:r>
            <a:endParaRPr lang="en-US" sz="2200" dirty="0"/>
          </a:p>
        </p:txBody>
      </p:sp>
      <p:sp>
        <p:nvSpPr>
          <p:cNvPr id="6" name="Shape 4"/>
          <p:cNvSpPr/>
          <p:nvPr/>
        </p:nvSpPr>
        <p:spPr>
          <a:xfrm>
            <a:off x="4436517" y="2900660"/>
            <a:ext cx="3318966" cy="1605260"/>
          </a:xfrm>
          <a:prstGeom prst="roundRect">
            <a:avLst>
              <a:gd name="adj" fmla="val 6329"/>
            </a:avLst>
          </a:prstGeom>
          <a:solidFill>
            <a:srgbClr val="EDF7FD"/>
          </a:solidFill>
          <a:ln/>
        </p:spPr>
      </p:sp>
      <p:sp>
        <p:nvSpPr>
          <p:cNvPr id="7" name="Text 5"/>
          <p:cNvSpPr/>
          <p:nvPr/>
        </p:nvSpPr>
        <p:spPr>
          <a:xfrm>
            <a:off x="4741317" y="3205460"/>
            <a:ext cx="457200" cy="457200"/>
          </a:xfrm>
          <a:prstGeom prst="roundRect">
            <a:avLst>
              <a:gd name="adj" fmla="val 50000"/>
            </a:avLst>
          </a:prstGeom>
          <a:solidFill>
            <a:srgbClr val="CCEDFA"/>
          </a:solidFill>
          <a:ln/>
        </p:spPr>
        <p:txBody>
          <a:bodyPr wrap="square" lIns="0" tIns="0" rIns="0" bIns="0" rtlCol="0" anchor="ctr">
            <a:normAutofit/>
          </a:bodyPr>
          <a:lstStyle/>
          <a:p>
            <a:pPr algn="ctr" indent="0" marL="0">
              <a:lnSpc>
                <a:spcPts val="2240"/>
              </a:lnSpc>
              <a:buNone/>
            </a:pPr>
            <a:r>
              <a:rPr lang="en-US" sz="1600" b="1" dirty="0">
                <a:solidFill>
                  <a:srgbClr val="002F63"/>
                </a:solidFill>
                <a:latin typeface="Roboto Flex" pitchFamily="34" charset="0"/>
                <a:ea typeface="Roboto Flex" pitchFamily="34" charset="-122"/>
                <a:cs typeface="Roboto Flex" pitchFamily="34" charset="-120"/>
              </a:rPr>
              <a:t>2</a:t>
            </a:r>
            <a:endParaRPr lang="en-US" sz="1600" dirty="0"/>
          </a:p>
        </p:txBody>
      </p:sp>
      <p:sp>
        <p:nvSpPr>
          <p:cNvPr id="8" name="Text 6"/>
          <p:cNvSpPr/>
          <p:nvPr/>
        </p:nvSpPr>
        <p:spPr>
          <a:xfrm>
            <a:off x="4741317" y="3865860"/>
            <a:ext cx="301416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Tuleva küsib hinna</a:t>
            </a:r>
            <a:endParaRPr lang="en-US" sz="2200" dirty="0"/>
          </a:p>
        </p:txBody>
      </p:sp>
      <p:sp>
        <p:nvSpPr>
          <p:cNvPr id="9" name="Shape 7"/>
          <p:cNvSpPr/>
          <p:nvPr/>
        </p:nvSpPr>
        <p:spPr>
          <a:xfrm>
            <a:off x="8060283" y="2900660"/>
            <a:ext cx="3318917" cy="1605260"/>
          </a:xfrm>
          <a:prstGeom prst="roundRect">
            <a:avLst>
              <a:gd name="adj" fmla="val 6329"/>
            </a:avLst>
          </a:prstGeom>
          <a:solidFill>
            <a:srgbClr val="EDF7FD"/>
          </a:solidFill>
          <a:ln/>
        </p:spPr>
      </p:sp>
      <p:sp>
        <p:nvSpPr>
          <p:cNvPr id="10" name="Text 8"/>
          <p:cNvSpPr/>
          <p:nvPr/>
        </p:nvSpPr>
        <p:spPr>
          <a:xfrm>
            <a:off x="8365083" y="3205460"/>
            <a:ext cx="457200" cy="457200"/>
          </a:xfrm>
          <a:prstGeom prst="roundRect">
            <a:avLst>
              <a:gd name="adj" fmla="val 50000"/>
            </a:avLst>
          </a:prstGeom>
          <a:solidFill>
            <a:srgbClr val="CCEDFA"/>
          </a:solidFill>
          <a:ln/>
        </p:spPr>
        <p:txBody>
          <a:bodyPr wrap="square" lIns="0" tIns="0" rIns="0" bIns="0" rtlCol="0" anchor="ctr">
            <a:normAutofit/>
          </a:bodyPr>
          <a:lstStyle/>
          <a:p>
            <a:pPr algn="ctr" indent="0" marL="0">
              <a:lnSpc>
                <a:spcPts val="2240"/>
              </a:lnSpc>
              <a:buNone/>
            </a:pPr>
            <a:r>
              <a:rPr lang="en-US" sz="1600" b="1" dirty="0">
                <a:solidFill>
                  <a:srgbClr val="002F63"/>
                </a:solidFill>
                <a:latin typeface="Roboto Flex" pitchFamily="34" charset="0"/>
                <a:ea typeface="Roboto Flex" pitchFamily="34" charset="-122"/>
                <a:cs typeface="Roboto Flex" pitchFamily="34" charset="-120"/>
              </a:rPr>
              <a:t>3</a:t>
            </a:r>
            <a:endParaRPr lang="en-US" sz="1600" dirty="0"/>
          </a:p>
        </p:txBody>
      </p:sp>
      <p:sp>
        <p:nvSpPr>
          <p:cNvPr id="11" name="Text 9"/>
          <p:cNvSpPr/>
          <p:nvPr/>
        </p:nvSpPr>
        <p:spPr>
          <a:xfrm>
            <a:off x="8365083" y="3865860"/>
            <a:ext cx="279059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Allkirjasta</a:t>
            </a:r>
            <a:endParaRPr lang="en-US" sz="2200" dirty="0"/>
          </a:p>
        </p:txBody>
      </p:sp>
      <p:sp>
        <p:nvSpPr>
          <p:cNvPr id="12" name="Text 10"/>
          <p:cNvSpPr/>
          <p:nvPr/>
        </p:nvSpPr>
        <p:spPr>
          <a:xfrm>
            <a:off x="11246594" y="6238280"/>
            <a:ext cx="1326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2F63"/>
        </a:solidFill>
      </p:bgPr>
    </p:bg>
    <p:spTree>
      <p:nvGrpSpPr>
        <p:cNvPr id="1" name=""/>
        <p:cNvGrpSpPr/>
        <p:nvPr/>
      </p:nvGrpSpPr>
      <p:grpSpPr>
        <a:xfrm>
          <a:off x="0" y="0"/>
          <a:ext cx="0" cy="0"/>
          <a:chOff x="0" y="0"/>
          <a:chExt cx="0" cy="0"/>
        </a:xfrm>
      </p:grpSpPr>
      <p:sp>
        <p:nvSpPr>
          <p:cNvPr id="2" name="Shape 0"/>
          <p:cNvSpPr/>
          <p:nvPr/>
        </p:nvSpPr>
        <p:spPr>
          <a:xfrm>
            <a:off x="812800" y="2459980"/>
            <a:ext cx="762000" cy="50800"/>
          </a:xfrm>
          <a:prstGeom prst="roundRect">
            <a:avLst>
              <a:gd name="adj" fmla="val 50000"/>
            </a:avLst>
          </a:prstGeom>
          <a:solidFill>
            <a:srgbClr val="00AEEA"/>
          </a:solidFill>
          <a:ln/>
        </p:spPr>
      </p:sp>
      <p:sp>
        <p:nvSpPr>
          <p:cNvPr id="3" name="Text 1"/>
          <p:cNvSpPr/>
          <p:nvPr>
            <p:ph type="title"/>
          </p:nvPr>
        </p:nvSpPr>
        <p:spPr>
          <a:xfrm>
            <a:off x="812800" y="2713980"/>
            <a:ext cx="10883392" cy="1143000"/>
          </a:xfrm>
          <a:prstGeom prst="rect">
            <a:avLst/>
          </a:prstGeom>
          <a:noFill/>
          <a:ln/>
        </p:spPr>
        <p:txBody>
          <a:bodyPr wrap="square" lIns="0" tIns="0" rIns="0" bIns="0" rtlCol="0" anchor="t">
            <a:normAutofit/>
          </a:bodyPr>
          <a:lstStyle/>
          <a:p>
            <a:pPr algn="l" indent="0" marL="0">
              <a:lnSpc>
                <a:spcPts val="8800"/>
              </a:lnSpc>
              <a:buNone/>
            </a:pPr>
            <a:r>
              <a:rPr lang="en-US" sz="8000" b="1" i="0" dirty="0">
                <a:solidFill>
                  <a:srgbClr val="FFFFFF"/>
                </a:solidFill>
                <a:latin typeface="Merriweather" pitchFamily="18" charset="0"/>
                <a:ea typeface="Merriweather" pitchFamily="18" charset="-122"/>
                <a:cs typeface="Merriweather" pitchFamily="18" charset="-120"/>
              </a:rPr>
              <a:t>Demo</a:t>
            </a:r>
            <a:endParaRPr lang="en-US" sz="8000" dirty="0"/>
          </a:p>
        </p:txBody>
      </p:sp>
      <p:sp>
        <p:nvSpPr>
          <p:cNvPr id="4" name="Text 2"/>
          <p:cNvSpPr/>
          <p:nvPr/>
        </p:nvSpPr>
        <p:spPr>
          <a:xfrm>
            <a:off x="812800" y="4034780"/>
            <a:ext cx="10883392" cy="38859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A9C6E2"/>
                </a:solidFill>
                <a:latin typeface="Roboto Flex" pitchFamily="34" charset="0"/>
                <a:ea typeface="Roboto Flex" pitchFamily="34" charset="-122"/>
                <a:cs typeface="Roboto Flex" pitchFamily="34" charset="-120"/>
              </a:rPr>
              <a:t>Kadri vahetab paketi ühe allkirjaga</a:t>
            </a:r>
            <a:endParaRPr lang="en-US" sz="22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DCA"/>
                </a:solidFill>
                <a:latin typeface="Roboto Flex" pitchFamily="34" charset="0"/>
                <a:ea typeface="Roboto Flex" pitchFamily="34" charset="-122"/>
                <a:cs typeface="Roboto Flex" pitchFamily="34" charset="-120"/>
              </a:rPr>
              <a:t>Prototüüp · andmed on näidis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2536180"/>
            <a:ext cx="5127752" cy="1143000"/>
          </a:xfrm>
          <a:prstGeom prst="rect">
            <a:avLst/>
          </a:prstGeom>
          <a:noFill/>
          <a:ln/>
        </p:spPr>
        <p:txBody>
          <a:bodyPr wrap="square" lIns="0" tIns="0" rIns="0" bIns="0" rtlCol="0" anchor="t">
            <a:normAutofit/>
          </a:bodyPr>
          <a:lstStyle/>
          <a:p>
            <a:pPr algn="l" indent="0" marL="0">
              <a:lnSpc>
                <a:spcPts val="8800"/>
              </a:lnSpc>
              <a:buNone/>
            </a:pPr>
            <a:r>
              <a:rPr lang="en-US" sz="8000" b="1" dirty="0">
                <a:solidFill>
                  <a:srgbClr val="006CE6"/>
                </a:solidFill>
                <a:latin typeface="Merriweather" pitchFamily="18" charset="0"/>
                <a:ea typeface="Merriweather" pitchFamily="18" charset="-122"/>
                <a:cs typeface="Merriweather" pitchFamily="18" charset="-120"/>
              </a:rPr>
              <a:t>6,50 €</a:t>
            </a:r>
            <a:endParaRPr lang="en-US" sz="8000" dirty="0"/>
          </a:p>
        </p:txBody>
      </p:sp>
      <p:sp>
        <p:nvSpPr>
          <p:cNvPr id="3" name="Text 1"/>
          <p:cNvSpPr/>
          <p:nvPr/>
        </p:nvSpPr>
        <p:spPr>
          <a:xfrm>
            <a:off x="812800" y="3755380"/>
            <a:ext cx="5127752" cy="38859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002F63"/>
                </a:solidFill>
                <a:latin typeface="Roboto Flex" pitchFamily="34" charset="0"/>
                <a:ea typeface="Roboto Flex" pitchFamily="34" charset="-122"/>
                <a:cs typeface="Roboto Flex" pitchFamily="34" charset="-120"/>
              </a:rPr>
              <a:t>kuus, ilma sidumiseta</a:t>
            </a:r>
            <a:endParaRPr lang="en-US" sz="2200" dirty="0"/>
          </a:p>
        </p:txBody>
      </p:sp>
      <p:sp>
        <p:nvSpPr>
          <p:cNvPr id="4" name="Text 2"/>
          <p:cNvSpPr/>
          <p:nvPr/>
        </p:nvSpPr>
        <p:spPr>
          <a:xfrm>
            <a:off x="6400800" y="2536180"/>
            <a:ext cx="5127752" cy="1143000"/>
          </a:xfrm>
          <a:prstGeom prst="rect">
            <a:avLst/>
          </a:prstGeom>
          <a:noFill/>
          <a:ln/>
        </p:spPr>
        <p:txBody>
          <a:bodyPr wrap="square" lIns="0" tIns="0" rIns="0" bIns="0" rtlCol="0" anchor="t">
            <a:normAutofit/>
          </a:bodyPr>
          <a:lstStyle/>
          <a:p>
            <a:pPr algn="l" indent="0" marL="0">
              <a:lnSpc>
                <a:spcPts val="8800"/>
              </a:lnSpc>
              <a:buNone/>
            </a:pPr>
            <a:r>
              <a:rPr lang="en-US" sz="8000" b="1" dirty="0">
                <a:solidFill>
                  <a:srgbClr val="006CE6"/>
                </a:solidFill>
                <a:latin typeface="Merriweather" pitchFamily="18" charset="0"/>
                <a:ea typeface="Merriweather" pitchFamily="18" charset="-122"/>
                <a:cs typeface="Merriweather" pitchFamily="18" charset="-120"/>
              </a:rPr>
              <a:t>405 €</a:t>
            </a:r>
            <a:endParaRPr lang="en-US" sz="8000" dirty="0"/>
          </a:p>
        </p:txBody>
      </p:sp>
      <p:sp>
        <p:nvSpPr>
          <p:cNvPr id="5" name="Text 3"/>
          <p:cNvSpPr/>
          <p:nvPr/>
        </p:nvSpPr>
        <p:spPr>
          <a:xfrm>
            <a:off x="6400800" y="3755380"/>
            <a:ext cx="5127752" cy="38859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002F63"/>
                </a:solidFill>
                <a:latin typeface="Roboto Flex" pitchFamily="34" charset="0"/>
                <a:ea typeface="Roboto Flex" pitchFamily="34" charset="-122"/>
                <a:cs typeface="Roboto Flex" pitchFamily="34" charset="-120"/>
              </a:rPr>
              <a:t>sääst aastas, kuni</a:t>
            </a:r>
            <a:endParaRPr lang="en-US" sz="2200" dirty="0"/>
          </a:p>
        </p:txBody>
      </p:sp>
      <p:sp>
        <p:nvSpPr>
          <p:cNvPr id="6" name="Text 4"/>
          <p:cNvSpPr/>
          <p:nvPr/>
        </p:nvSpPr>
        <p:spPr>
          <a:xfrm>
            <a:off x="812800" y="6238280"/>
            <a:ext cx="50651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Sihthind, mitte veel pakkumine · sääst on hinnang tavahinna vastu</a:t>
            </a:r>
            <a:endParaRPr lang="en-US" sz="1200" dirty="0"/>
          </a:p>
        </p:txBody>
      </p:sp>
      <p:sp>
        <p:nvSpPr>
          <p:cNvPr id="7" name="Text 5"/>
          <p:cNvSpPr/>
          <p:nvPr/>
        </p:nvSpPr>
        <p:spPr>
          <a:xfrm>
            <a:off x="11246594" y="6238280"/>
            <a:ext cx="1326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2070100"/>
            <a:ext cx="5755640"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002F63"/>
                </a:solidFill>
                <a:latin typeface="Merriweather" pitchFamily="18" charset="0"/>
                <a:ea typeface="Merriweather" pitchFamily="18" charset="-122"/>
                <a:cs typeface="Merriweather" pitchFamily="18" charset="-120"/>
              </a:rPr>
              <a:t>1 000</a:t>
            </a:r>
            <a:endParaRPr lang="en-US" sz="6000" dirty="0"/>
          </a:p>
        </p:txBody>
      </p:sp>
      <p:sp>
        <p:nvSpPr>
          <p:cNvPr id="3" name="Text 1"/>
          <p:cNvSpPr/>
          <p:nvPr/>
        </p:nvSpPr>
        <p:spPr>
          <a:xfrm>
            <a:off x="6400800" y="2307580"/>
            <a:ext cx="5127752" cy="38859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293036"/>
                </a:solidFill>
                <a:latin typeface="Roboto Flex" pitchFamily="34" charset="0"/>
                <a:ea typeface="Roboto Flex" pitchFamily="34" charset="-122"/>
                <a:cs typeface="Roboto Flex" pitchFamily="34" charset="-120"/>
              </a:rPr>
              <a:t>registreerunut</a:t>
            </a:r>
            <a:endParaRPr lang="en-US" sz="2200" dirty="0"/>
          </a:p>
        </p:txBody>
      </p:sp>
      <p:sp>
        <p:nvSpPr>
          <p:cNvPr id="4" name="Text 2"/>
          <p:cNvSpPr/>
          <p:nvPr/>
        </p:nvSpPr>
        <p:spPr>
          <a:xfrm>
            <a:off x="812800" y="2908300"/>
            <a:ext cx="5755640"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002F63"/>
                </a:solidFill>
                <a:latin typeface="Merriweather" pitchFamily="18" charset="0"/>
                <a:ea typeface="Merriweather" pitchFamily="18" charset="-122"/>
                <a:cs typeface="Merriweather" pitchFamily="18" charset="-120"/>
              </a:rPr>
              <a:t>560</a:t>
            </a:r>
            <a:endParaRPr lang="en-US" sz="6000" dirty="0"/>
          </a:p>
        </p:txBody>
      </p:sp>
      <p:sp>
        <p:nvSpPr>
          <p:cNvPr id="5" name="Text 3"/>
          <p:cNvSpPr/>
          <p:nvPr/>
        </p:nvSpPr>
        <p:spPr>
          <a:xfrm>
            <a:off x="6400800" y="3145780"/>
            <a:ext cx="5127752" cy="38859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293036"/>
                </a:solidFill>
                <a:latin typeface="Roboto Flex" pitchFamily="34" charset="0"/>
                <a:ea typeface="Roboto Flex" pitchFamily="34" charset="-122"/>
                <a:cs typeface="Roboto Flex" pitchFamily="34" charset="-120"/>
              </a:rPr>
              <a:t>lepingut</a:t>
            </a:r>
            <a:endParaRPr lang="en-US" sz="2200" dirty="0"/>
          </a:p>
        </p:txBody>
      </p:sp>
      <p:sp>
        <p:nvSpPr>
          <p:cNvPr id="6" name="Text 4"/>
          <p:cNvSpPr/>
          <p:nvPr/>
        </p:nvSpPr>
        <p:spPr>
          <a:xfrm>
            <a:off x="812800" y="3746500"/>
            <a:ext cx="5755640"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006CE6"/>
                </a:solidFill>
                <a:latin typeface="Merriweather" pitchFamily="18" charset="0"/>
                <a:ea typeface="Merriweather" pitchFamily="18" charset="-122"/>
                <a:cs typeface="Merriweather" pitchFamily="18" charset="-120"/>
              </a:rPr>
              <a:t>227 000 €</a:t>
            </a:r>
            <a:endParaRPr lang="en-US" sz="6000" dirty="0"/>
          </a:p>
        </p:txBody>
      </p:sp>
      <p:sp>
        <p:nvSpPr>
          <p:cNvPr id="7" name="Text 5"/>
          <p:cNvSpPr/>
          <p:nvPr/>
        </p:nvSpPr>
        <p:spPr>
          <a:xfrm>
            <a:off x="6400800" y="3983980"/>
            <a:ext cx="5127752" cy="38859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293036"/>
                </a:solidFill>
                <a:latin typeface="Roboto Flex" pitchFamily="34" charset="0"/>
                <a:ea typeface="Roboto Flex" pitchFamily="34" charset="-122"/>
                <a:cs typeface="Roboto Flex" pitchFamily="34" charset="-120"/>
              </a:rPr>
              <a:t>sääst aastas</a:t>
            </a:r>
            <a:endParaRPr lang="en-US" sz="2200" dirty="0"/>
          </a:p>
        </p:txBody>
      </p:sp>
      <p:sp>
        <p:nvSpPr>
          <p:cNvPr id="8" name="Text 6"/>
          <p:cNvSpPr/>
          <p:nvPr/>
        </p:nvSpPr>
        <p:spPr>
          <a:xfrm>
            <a:off x="812800" y="6238280"/>
            <a:ext cx="32017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Aasta pärast · näidis · sääst kuni, hinnang</a:t>
            </a:r>
            <a:endParaRPr lang="en-US" sz="1200" dirty="0"/>
          </a:p>
        </p:txBody>
      </p:sp>
      <p:sp>
        <p:nvSpPr>
          <p:cNvPr id="9" name="Text 7"/>
          <p:cNvSpPr/>
          <p:nvPr/>
        </p:nvSpPr>
        <p:spPr>
          <a:xfrm>
            <a:off x="11246594" y="6238280"/>
            <a:ext cx="1326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74030"/>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002F63"/>
                </a:solidFill>
                <a:latin typeface="Merriweather" pitchFamily="18" charset="0"/>
                <a:ea typeface="Merriweather" pitchFamily="18" charset="-122"/>
                <a:cs typeface="Merriweather" pitchFamily="18" charset="-120"/>
              </a:rPr>
              <a:t>Miks see on teistsugune</a:t>
            </a:r>
            <a:endParaRPr lang="en-US" sz="3600" dirty="0"/>
          </a:p>
        </p:txBody>
      </p:sp>
      <p:sp>
        <p:nvSpPr>
          <p:cNvPr id="3" name="Shape 1"/>
          <p:cNvSpPr/>
          <p:nvPr/>
        </p:nvSpPr>
        <p:spPr>
          <a:xfrm>
            <a:off x="812800" y="2926060"/>
            <a:ext cx="3318917" cy="1554460"/>
          </a:xfrm>
          <a:prstGeom prst="roundRect">
            <a:avLst>
              <a:gd name="adj" fmla="val 6536"/>
            </a:avLst>
          </a:prstGeom>
          <a:solidFill>
            <a:srgbClr val="EDF7FD"/>
          </a:solidFill>
          <a:ln/>
        </p:spPr>
      </p:sp>
      <p:pic>
        <p:nvPicPr>
          <p:cNvPr id="4" name="Image 0" descr="Clock">    </p:cNvPr>
          <p:cNvPicPr>
            <a:picLocks noChangeAspect="1"/>
          </p:cNvPicPr>
          <p:nvPr/>
        </p:nvPicPr>
        <p:blipFill>
          <a:blip r:embed="rId1"/>
          <a:srcRect l="0" r="0" t="0" b="0"/>
          <a:stretch/>
        </p:blipFill>
        <p:spPr>
          <a:xfrm>
            <a:off x="1117600" y="3230860"/>
            <a:ext cx="406400" cy="406400"/>
          </a:xfrm>
          <a:prstGeom prst="rect">
            <a:avLst/>
          </a:prstGeom>
        </p:spPr>
      </p:pic>
      <p:sp>
        <p:nvSpPr>
          <p:cNvPr id="5" name="Text 2"/>
          <p:cNvSpPr/>
          <p:nvPr/>
        </p:nvSpPr>
        <p:spPr>
          <a:xfrm>
            <a:off x="1117600" y="3840460"/>
            <a:ext cx="279059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Hange igal aastal</a:t>
            </a:r>
            <a:endParaRPr lang="en-US" sz="2200" dirty="0"/>
          </a:p>
        </p:txBody>
      </p:sp>
      <p:sp>
        <p:nvSpPr>
          <p:cNvPr id="6" name="Shape 3"/>
          <p:cNvSpPr/>
          <p:nvPr/>
        </p:nvSpPr>
        <p:spPr>
          <a:xfrm>
            <a:off x="4436517" y="2926060"/>
            <a:ext cx="3318966" cy="1554460"/>
          </a:xfrm>
          <a:prstGeom prst="roundRect">
            <a:avLst>
              <a:gd name="adj" fmla="val 6536"/>
            </a:avLst>
          </a:prstGeom>
          <a:solidFill>
            <a:srgbClr val="EDF7FD"/>
          </a:solidFill>
          <a:ln/>
        </p:spPr>
      </p:sp>
      <p:pic>
        <p:nvPicPr>
          <p:cNvPr id="7" name="Image 1" descr="Check">    </p:cNvPr>
          <p:cNvPicPr>
            <a:picLocks noChangeAspect="1"/>
          </p:cNvPicPr>
          <p:nvPr/>
        </p:nvPicPr>
        <p:blipFill>
          <a:blip r:embed="rId2"/>
          <a:srcRect l="0" r="0" t="0" b="0"/>
          <a:stretch/>
        </p:blipFill>
        <p:spPr>
          <a:xfrm>
            <a:off x="4741317" y="3230860"/>
            <a:ext cx="406400" cy="406400"/>
          </a:xfrm>
          <a:prstGeom prst="rect">
            <a:avLst/>
          </a:prstGeom>
        </p:spPr>
      </p:pic>
      <p:sp>
        <p:nvSpPr>
          <p:cNvPr id="8" name="Text 4"/>
          <p:cNvSpPr/>
          <p:nvPr/>
        </p:nvSpPr>
        <p:spPr>
          <a:xfrm>
            <a:off x="4741317" y="3840460"/>
            <a:ext cx="2790647"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Leping on valmis</a:t>
            </a:r>
            <a:endParaRPr lang="en-US" sz="2200" dirty="0"/>
          </a:p>
        </p:txBody>
      </p:sp>
      <p:sp>
        <p:nvSpPr>
          <p:cNvPr id="9" name="Shape 5"/>
          <p:cNvSpPr/>
          <p:nvPr/>
        </p:nvSpPr>
        <p:spPr>
          <a:xfrm>
            <a:off x="8060283" y="2926060"/>
            <a:ext cx="3318917" cy="1554460"/>
          </a:xfrm>
          <a:prstGeom prst="roundRect">
            <a:avLst>
              <a:gd name="adj" fmla="val 6536"/>
            </a:avLst>
          </a:prstGeom>
          <a:solidFill>
            <a:srgbClr val="EDF7FD"/>
          </a:solidFill>
          <a:ln/>
        </p:spPr>
      </p:sp>
      <p:pic>
        <p:nvPicPr>
          <p:cNvPr id="10" name="Image 2" descr="Trust">    </p:cNvPr>
          <p:cNvPicPr>
            <a:picLocks noChangeAspect="1"/>
          </p:cNvPicPr>
          <p:nvPr/>
        </p:nvPicPr>
        <p:blipFill>
          <a:blip r:embed="rId3"/>
          <a:srcRect l="0" r="0" t="0" b="0"/>
          <a:stretch/>
        </p:blipFill>
        <p:spPr>
          <a:xfrm>
            <a:off x="8365083" y="3230860"/>
            <a:ext cx="406400" cy="406400"/>
          </a:xfrm>
          <a:prstGeom prst="rect">
            <a:avLst/>
          </a:prstGeom>
        </p:spPr>
      </p:pic>
      <p:sp>
        <p:nvSpPr>
          <p:cNvPr id="11" name="Text 6"/>
          <p:cNvSpPr/>
          <p:nvPr/>
        </p:nvSpPr>
        <p:spPr>
          <a:xfrm>
            <a:off x="8365083" y="3840460"/>
            <a:ext cx="279059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Tasu on nähtav</a:t>
            </a:r>
            <a:endParaRPr lang="en-US" sz="2200" dirty="0"/>
          </a:p>
        </p:txBody>
      </p:sp>
      <p:sp>
        <p:nvSpPr>
          <p:cNvPr id="12" name="Text 7"/>
          <p:cNvSpPr/>
          <p:nvPr/>
        </p:nvSpPr>
        <p:spPr>
          <a:xfrm>
            <a:off x="812800" y="6238280"/>
            <a:ext cx="278981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Null infomüra · usaldus · järjekindlus</a:t>
            </a:r>
            <a:endParaRPr lang="en-US" sz="1200" dirty="0"/>
          </a:p>
        </p:txBody>
      </p:sp>
      <p:sp>
        <p:nvSpPr>
          <p:cNvPr id="13" name="Text 8"/>
          <p:cNvSpPr/>
          <p:nvPr/>
        </p:nvSpPr>
        <p:spPr>
          <a:xfrm>
            <a:off x="11246594" y="6238280"/>
            <a:ext cx="1326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2095500"/>
            <a:ext cx="6604000" cy="3556000"/>
          </a:xfrm>
          <a:prstGeom prst="roundRect">
            <a:avLst>
              <a:gd name="adj" fmla="val 2857"/>
            </a:avLst>
          </a:prstGeom>
          <a:solidFill>
            <a:srgbClr val="EDF7FD"/>
          </a:solidFill>
          <a:ln/>
        </p:spPr>
      </p:sp>
      <p:sp>
        <p:nvSpPr>
          <p:cNvPr id="3" name="Text 1"/>
          <p:cNvSpPr/>
          <p:nvPr>
            <p:ph type="title"/>
          </p:nvPr>
        </p:nvSpPr>
        <p:spPr>
          <a:xfrm>
            <a:off x="812800" y="812800"/>
            <a:ext cx="10883392" cy="574030"/>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002F63"/>
                </a:solidFill>
                <a:latin typeface="Merriweather" pitchFamily="18" charset="0"/>
                <a:ea typeface="Merriweather" pitchFamily="18" charset="-122"/>
                <a:cs typeface="Merriweather" pitchFamily="18" charset="-120"/>
              </a:rPr>
              <a:t>Tulu katab kulud teisel aastal</a:t>
            </a:r>
            <a:endParaRPr lang="en-US" sz="3600" dirty="0"/>
          </a:p>
        </p:txBody>
      </p:sp>
      <p:sp>
        <p:nvSpPr>
          <p:cNvPr id="4" name="Text 2"/>
          <p:cNvSpPr/>
          <p:nvPr/>
        </p:nvSpPr>
        <p:spPr>
          <a:xfrm>
            <a:off x="812800" y="146303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6B7074"/>
                </a:solidFill>
                <a:latin typeface="Roboto Flex" pitchFamily="34" charset="0"/>
                <a:ea typeface="Roboto Flex" pitchFamily="34" charset="-122"/>
                <a:cs typeface="Roboto Flex" pitchFamily="34" charset="-120"/>
              </a:rPr>
              <a:t>Baasprognoos, Tuleva tasu 1 € kuus lepingu kohta</a:t>
            </a:r>
            <a:endParaRPr lang="en-US" sz="1600" dirty="0"/>
          </a:p>
        </p:txBody>
      </p:sp>
      <p:sp>
        <p:nvSpPr>
          <p:cNvPr id="5" name="Shape 3"/>
          <p:cNvSpPr/>
          <p:nvPr/>
        </p:nvSpPr>
        <p:spPr>
          <a:xfrm>
            <a:off x="1117600" y="2324100"/>
            <a:ext cx="152400" cy="152400"/>
          </a:xfrm>
          <a:prstGeom prst="roundRect">
            <a:avLst>
              <a:gd name="adj" fmla="val 16667"/>
            </a:avLst>
          </a:prstGeom>
          <a:solidFill>
            <a:srgbClr val="008300"/>
          </a:solidFill>
          <a:ln/>
        </p:spPr>
      </p:sp>
      <p:sp>
        <p:nvSpPr>
          <p:cNvPr id="6" name="Text 4"/>
          <p:cNvSpPr/>
          <p:nvPr/>
        </p:nvSpPr>
        <p:spPr>
          <a:xfrm>
            <a:off x="1346200" y="2298700"/>
            <a:ext cx="132080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293036"/>
                </a:solidFill>
                <a:latin typeface="Roboto Flex" pitchFamily="34" charset="0"/>
                <a:ea typeface="Roboto Flex" pitchFamily="34" charset="-122"/>
                <a:cs typeface="Roboto Flex" pitchFamily="34" charset="-120"/>
              </a:rPr>
              <a:t>Tuleva tulu</a:t>
            </a:r>
            <a:endParaRPr lang="en-US" sz="1200" dirty="0"/>
          </a:p>
        </p:txBody>
      </p:sp>
      <p:sp>
        <p:nvSpPr>
          <p:cNvPr id="7" name="Shape 5"/>
          <p:cNvSpPr/>
          <p:nvPr/>
        </p:nvSpPr>
        <p:spPr>
          <a:xfrm>
            <a:off x="2667000" y="2324100"/>
            <a:ext cx="152400" cy="152400"/>
          </a:xfrm>
          <a:prstGeom prst="roundRect">
            <a:avLst>
              <a:gd name="adj" fmla="val 16667"/>
            </a:avLst>
          </a:prstGeom>
          <a:solidFill>
            <a:srgbClr val="DB2200"/>
          </a:solidFill>
          <a:ln/>
        </p:spPr>
      </p:sp>
      <p:sp>
        <p:nvSpPr>
          <p:cNvPr id="8" name="Text 6"/>
          <p:cNvSpPr/>
          <p:nvPr/>
        </p:nvSpPr>
        <p:spPr>
          <a:xfrm>
            <a:off x="2895600" y="2298700"/>
            <a:ext cx="132080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293036"/>
                </a:solidFill>
                <a:latin typeface="Roboto Flex" pitchFamily="34" charset="0"/>
                <a:ea typeface="Roboto Flex" pitchFamily="34" charset="-122"/>
                <a:cs typeface="Roboto Flex" pitchFamily="34" charset="-120"/>
              </a:rPr>
              <a:t>Kulu</a:t>
            </a:r>
            <a:endParaRPr lang="en-US" sz="1200" dirty="0"/>
          </a:p>
        </p:txBody>
      </p:sp>
      <p:sp>
        <p:nvSpPr>
          <p:cNvPr id="9" name="Shape 7"/>
          <p:cNvSpPr/>
          <p:nvPr/>
        </p:nvSpPr>
        <p:spPr>
          <a:xfrm>
            <a:off x="1441450" y="4673600"/>
            <a:ext cx="635000" cy="533400"/>
          </a:xfrm>
          <a:custGeom>
            <a:avLst/>
            <a:gdLst/>
            <a:ahLst/>
            <a:cxnLst/>
            <a:rect l="l" t="t" r="r" b="b"/>
            <a:pathLst>
              <a:path w="635000" h="533400">
                <a:moveTo>
                  <a:pt x="50800" y="0"/>
                </a:moveTo>
                <a:lnTo>
                  <a:pt x="584200" y="0"/>
                </a:lnTo>
                <a:arcTo hR="50800" wR="50800" stAng="16200000" swAng="5400000"/>
                <a:lnTo>
                  <a:pt x="635000" y="533400"/>
                </a:lnTo>
                <a:lnTo>
                  <a:pt x="0" y="533400"/>
                </a:lnTo>
                <a:lnTo>
                  <a:pt x="0" y="50800"/>
                </a:lnTo>
                <a:arcTo hR="50800" wR="50800" stAng="10800000" swAng="5400000"/>
                <a:close/>
              </a:path>
            </a:pathLst>
          </a:custGeom>
          <a:solidFill>
            <a:srgbClr val="008300"/>
          </a:solidFill>
          <a:ln/>
        </p:spPr>
      </p:sp>
      <p:sp>
        <p:nvSpPr>
          <p:cNvPr id="10" name="Shape 8"/>
          <p:cNvSpPr/>
          <p:nvPr/>
        </p:nvSpPr>
        <p:spPr>
          <a:xfrm>
            <a:off x="2152650" y="3016250"/>
            <a:ext cx="635000" cy="2190750"/>
          </a:xfrm>
          <a:custGeom>
            <a:avLst/>
            <a:gdLst/>
            <a:ahLst/>
            <a:cxnLst/>
            <a:rect l="l" t="t" r="r" b="b"/>
            <a:pathLst>
              <a:path w="635000" h="2190750">
                <a:moveTo>
                  <a:pt x="50800" y="0"/>
                </a:moveTo>
                <a:lnTo>
                  <a:pt x="584200" y="0"/>
                </a:lnTo>
                <a:arcTo hR="50800" wR="50800" stAng="16200000" swAng="5400000"/>
                <a:lnTo>
                  <a:pt x="635000" y="2190750"/>
                </a:lnTo>
                <a:lnTo>
                  <a:pt x="0" y="2190750"/>
                </a:lnTo>
                <a:lnTo>
                  <a:pt x="0" y="50800"/>
                </a:lnTo>
                <a:arcTo hR="50800" wR="50800" stAng="10800000" swAng="5400000"/>
                <a:close/>
              </a:path>
            </a:pathLst>
          </a:custGeom>
          <a:solidFill>
            <a:srgbClr val="DB2200"/>
          </a:solidFill>
          <a:ln/>
        </p:spPr>
      </p:sp>
      <p:sp>
        <p:nvSpPr>
          <p:cNvPr id="11" name="Shape 9"/>
          <p:cNvSpPr/>
          <p:nvPr/>
        </p:nvSpPr>
        <p:spPr>
          <a:xfrm>
            <a:off x="3441700" y="3486150"/>
            <a:ext cx="635000" cy="1720850"/>
          </a:xfrm>
          <a:custGeom>
            <a:avLst/>
            <a:gdLst/>
            <a:ahLst/>
            <a:cxnLst/>
            <a:rect l="l" t="t" r="r" b="b"/>
            <a:pathLst>
              <a:path w="635000" h="1720850">
                <a:moveTo>
                  <a:pt x="50800" y="0"/>
                </a:moveTo>
                <a:lnTo>
                  <a:pt x="584200" y="0"/>
                </a:lnTo>
                <a:arcTo hR="50800" wR="50800" stAng="16200000" swAng="5400000"/>
                <a:lnTo>
                  <a:pt x="635000" y="1720850"/>
                </a:lnTo>
                <a:lnTo>
                  <a:pt x="0" y="1720850"/>
                </a:lnTo>
                <a:lnTo>
                  <a:pt x="0" y="50800"/>
                </a:lnTo>
                <a:arcTo hR="50800" wR="50800" stAng="10800000" swAng="5400000"/>
                <a:close/>
              </a:path>
            </a:pathLst>
          </a:custGeom>
          <a:solidFill>
            <a:srgbClr val="008300"/>
          </a:solidFill>
          <a:ln/>
        </p:spPr>
      </p:sp>
      <p:sp>
        <p:nvSpPr>
          <p:cNvPr id="12" name="Shape 10"/>
          <p:cNvSpPr/>
          <p:nvPr/>
        </p:nvSpPr>
        <p:spPr>
          <a:xfrm>
            <a:off x="4152900" y="4108450"/>
            <a:ext cx="635000" cy="1098550"/>
          </a:xfrm>
          <a:custGeom>
            <a:avLst/>
            <a:gdLst/>
            <a:ahLst/>
            <a:cxnLst/>
            <a:rect l="l" t="t" r="r" b="b"/>
            <a:pathLst>
              <a:path w="635000" h="1098550">
                <a:moveTo>
                  <a:pt x="50800" y="0"/>
                </a:moveTo>
                <a:lnTo>
                  <a:pt x="584200" y="0"/>
                </a:lnTo>
                <a:arcTo hR="50800" wR="50800" stAng="16200000" swAng="5400000"/>
                <a:lnTo>
                  <a:pt x="635000" y="1098550"/>
                </a:lnTo>
                <a:lnTo>
                  <a:pt x="0" y="1098550"/>
                </a:lnTo>
                <a:lnTo>
                  <a:pt x="0" y="50800"/>
                </a:lnTo>
                <a:arcTo hR="50800" wR="50800" stAng="10800000" swAng="5400000"/>
                <a:close/>
              </a:path>
            </a:pathLst>
          </a:custGeom>
          <a:solidFill>
            <a:srgbClr val="DB2200"/>
          </a:solidFill>
          <a:ln/>
        </p:spPr>
      </p:sp>
      <p:sp>
        <p:nvSpPr>
          <p:cNvPr id="13" name="Shape 11"/>
          <p:cNvSpPr/>
          <p:nvPr/>
        </p:nvSpPr>
        <p:spPr>
          <a:xfrm>
            <a:off x="5441950" y="3009900"/>
            <a:ext cx="635000" cy="2197100"/>
          </a:xfrm>
          <a:custGeom>
            <a:avLst/>
            <a:gdLst/>
            <a:ahLst/>
            <a:cxnLst/>
            <a:rect l="l" t="t" r="r" b="b"/>
            <a:pathLst>
              <a:path w="635000" h="2197100">
                <a:moveTo>
                  <a:pt x="50800" y="0"/>
                </a:moveTo>
                <a:lnTo>
                  <a:pt x="584200" y="0"/>
                </a:lnTo>
                <a:arcTo hR="50800" wR="50800" stAng="16200000" swAng="5400000"/>
                <a:lnTo>
                  <a:pt x="635000" y="2197100"/>
                </a:lnTo>
                <a:lnTo>
                  <a:pt x="0" y="2197100"/>
                </a:lnTo>
                <a:lnTo>
                  <a:pt x="0" y="50800"/>
                </a:lnTo>
                <a:arcTo hR="50800" wR="50800" stAng="10800000" swAng="5400000"/>
                <a:close/>
              </a:path>
            </a:pathLst>
          </a:custGeom>
          <a:solidFill>
            <a:srgbClr val="008300"/>
          </a:solidFill>
          <a:ln/>
        </p:spPr>
      </p:sp>
      <p:sp>
        <p:nvSpPr>
          <p:cNvPr id="14" name="Shape 12"/>
          <p:cNvSpPr/>
          <p:nvPr/>
        </p:nvSpPr>
        <p:spPr>
          <a:xfrm>
            <a:off x="6153150" y="4108450"/>
            <a:ext cx="635000" cy="1098550"/>
          </a:xfrm>
          <a:custGeom>
            <a:avLst/>
            <a:gdLst/>
            <a:ahLst/>
            <a:cxnLst/>
            <a:rect l="l" t="t" r="r" b="b"/>
            <a:pathLst>
              <a:path w="635000" h="1098550">
                <a:moveTo>
                  <a:pt x="50800" y="0"/>
                </a:moveTo>
                <a:lnTo>
                  <a:pt x="584200" y="0"/>
                </a:lnTo>
                <a:arcTo hR="50800" wR="50800" stAng="16200000" swAng="5400000"/>
                <a:lnTo>
                  <a:pt x="635000" y="1098550"/>
                </a:lnTo>
                <a:lnTo>
                  <a:pt x="0" y="1098550"/>
                </a:lnTo>
                <a:lnTo>
                  <a:pt x="0" y="50800"/>
                </a:lnTo>
                <a:arcTo hR="50800" wR="50800" stAng="10800000" swAng="5400000"/>
                <a:close/>
              </a:path>
            </a:pathLst>
          </a:custGeom>
          <a:solidFill>
            <a:srgbClr val="DB2200"/>
          </a:solidFill>
          <a:ln/>
        </p:spPr>
      </p:sp>
      <p:sp>
        <p:nvSpPr>
          <p:cNvPr id="15" name="Shape 13"/>
          <p:cNvSpPr/>
          <p:nvPr/>
        </p:nvSpPr>
        <p:spPr>
          <a:xfrm>
            <a:off x="1117600" y="5207000"/>
            <a:ext cx="5994400" cy="12700"/>
          </a:xfrm>
          <a:prstGeom prst="rect">
            <a:avLst/>
          </a:prstGeom>
          <a:solidFill>
            <a:srgbClr val="293036"/>
          </a:solidFill>
          <a:ln/>
        </p:spPr>
      </p:sp>
      <p:sp>
        <p:nvSpPr>
          <p:cNvPr id="16" name="Text 14"/>
          <p:cNvSpPr/>
          <p:nvPr/>
        </p:nvSpPr>
        <p:spPr>
          <a:xfrm>
            <a:off x="1289050" y="4419600"/>
            <a:ext cx="939800" cy="223490"/>
          </a:xfrm>
          <a:prstGeom prst="rect">
            <a:avLst/>
          </a:prstGeom>
          <a:noFill/>
          <a:ln/>
        </p:spPr>
        <p:txBody>
          <a:bodyPr wrap="square" lIns="0" tIns="0" rIns="0" bIns="0" rtlCol="0" anchor="t">
            <a:normAutofit/>
          </a:bodyPr>
          <a:lstStyle/>
          <a:p>
            <a:pPr algn="ctr" indent="0" marL="0">
              <a:lnSpc>
                <a:spcPts val="1560"/>
              </a:lnSpc>
              <a:buNone/>
            </a:pPr>
            <a:r>
              <a:rPr lang="en-US" sz="1200" b="1" dirty="0">
                <a:solidFill>
                  <a:srgbClr val="008300"/>
                </a:solidFill>
                <a:latin typeface="Roboto Flex" pitchFamily="34" charset="0"/>
                <a:ea typeface="Roboto Flex" pitchFamily="34" charset="-122"/>
                <a:cs typeface="Roboto Flex" pitchFamily="34" charset="-120"/>
              </a:rPr>
              <a:t>16,8k €</a:t>
            </a:r>
            <a:endParaRPr lang="en-US" sz="1200" dirty="0"/>
          </a:p>
        </p:txBody>
      </p:sp>
      <p:sp>
        <p:nvSpPr>
          <p:cNvPr id="17" name="Text 15"/>
          <p:cNvSpPr/>
          <p:nvPr/>
        </p:nvSpPr>
        <p:spPr>
          <a:xfrm>
            <a:off x="2000250" y="2762250"/>
            <a:ext cx="939800" cy="223490"/>
          </a:xfrm>
          <a:prstGeom prst="rect">
            <a:avLst/>
          </a:prstGeom>
          <a:noFill/>
          <a:ln/>
        </p:spPr>
        <p:txBody>
          <a:bodyPr wrap="square" lIns="0" tIns="0" rIns="0" bIns="0" rtlCol="0" anchor="t">
            <a:normAutofit/>
          </a:bodyPr>
          <a:lstStyle/>
          <a:p>
            <a:pPr algn="ctr" indent="0" marL="0">
              <a:lnSpc>
                <a:spcPts val="1560"/>
              </a:lnSpc>
              <a:buNone/>
            </a:pPr>
            <a:r>
              <a:rPr lang="en-US" sz="1200" b="1" dirty="0">
                <a:solidFill>
                  <a:srgbClr val="DB2200"/>
                </a:solidFill>
                <a:latin typeface="Roboto Flex" pitchFamily="34" charset="0"/>
                <a:ea typeface="Roboto Flex" pitchFamily="34" charset="-122"/>
                <a:cs typeface="Roboto Flex" pitchFamily="34" charset="-120"/>
              </a:rPr>
              <a:t>69k €</a:t>
            </a:r>
            <a:endParaRPr lang="en-US" sz="1200" dirty="0"/>
          </a:p>
        </p:txBody>
      </p:sp>
      <p:sp>
        <p:nvSpPr>
          <p:cNvPr id="18" name="Text 16"/>
          <p:cNvSpPr/>
          <p:nvPr/>
        </p:nvSpPr>
        <p:spPr>
          <a:xfrm>
            <a:off x="3289300" y="3232150"/>
            <a:ext cx="939800" cy="223490"/>
          </a:xfrm>
          <a:prstGeom prst="rect">
            <a:avLst/>
          </a:prstGeom>
          <a:noFill/>
          <a:ln/>
        </p:spPr>
        <p:txBody>
          <a:bodyPr wrap="square" lIns="0" tIns="0" rIns="0" bIns="0" rtlCol="0" anchor="t">
            <a:normAutofit/>
          </a:bodyPr>
          <a:lstStyle/>
          <a:p>
            <a:pPr algn="ctr" indent="0" marL="0">
              <a:lnSpc>
                <a:spcPts val="1560"/>
              </a:lnSpc>
              <a:buNone/>
            </a:pPr>
            <a:r>
              <a:rPr lang="en-US" sz="1200" b="1" dirty="0">
                <a:solidFill>
                  <a:srgbClr val="008300"/>
                </a:solidFill>
                <a:latin typeface="Roboto Flex" pitchFamily="34" charset="0"/>
                <a:ea typeface="Roboto Flex" pitchFamily="34" charset="-122"/>
                <a:cs typeface="Roboto Flex" pitchFamily="34" charset="-120"/>
              </a:rPr>
              <a:t>54,2k €</a:t>
            </a:r>
            <a:endParaRPr lang="en-US" sz="1200" dirty="0"/>
          </a:p>
        </p:txBody>
      </p:sp>
      <p:sp>
        <p:nvSpPr>
          <p:cNvPr id="19" name="Text 17"/>
          <p:cNvSpPr/>
          <p:nvPr/>
        </p:nvSpPr>
        <p:spPr>
          <a:xfrm>
            <a:off x="4000500" y="3854450"/>
            <a:ext cx="939800" cy="223490"/>
          </a:xfrm>
          <a:prstGeom prst="rect">
            <a:avLst/>
          </a:prstGeom>
          <a:noFill/>
          <a:ln/>
        </p:spPr>
        <p:txBody>
          <a:bodyPr wrap="square" lIns="0" tIns="0" rIns="0" bIns="0" rtlCol="0" anchor="t">
            <a:normAutofit/>
          </a:bodyPr>
          <a:lstStyle/>
          <a:p>
            <a:pPr algn="ctr" indent="0" marL="0">
              <a:lnSpc>
                <a:spcPts val="1560"/>
              </a:lnSpc>
              <a:buNone/>
            </a:pPr>
            <a:r>
              <a:rPr lang="en-US" sz="1200" b="1" dirty="0">
                <a:solidFill>
                  <a:srgbClr val="DB2200"/>
                </a:solidFill>
                <a:latin typeface="Roboto Flex" pitchFamily="34" charset="0"/>
                <a:ea typeface="Roboto Flex" pitchFamily="34" charset="-122"/>
                <a:cs typeface="Roboto Flex" pitchFamily="34" charset="-120"/>
              </a:rPr>
              <a:t>34,5k €</a:t>
            </a:r>
            <a:endParaRPr lang="en-US" sz="1200" dirty="0"/>
          </a:p>
        </p:txBody>
      </p:sp>
      <p:sp>
        <p:nvSpPr>
          <p:cNvPr id="20" name="Text 18"/>
          <p:cNvSpPr/>
          <p:nvPr/>
        </p:nvSpPr>
        <p:spPr>
          <a:xfrm>
            <a:off x="5289550" y="2755900"/>
            <a:ext cx="939800" cy="223490"/>
          </a:xfrm>
          <a:prstGeom prst="rect">
            <a:avLst/>
          </a:prstGeom>
          <a:noFill/>
          <a:ln/>
        </p:spPr>
        <p:txBody>
          <a:bodyPr wrap="square" lIns="0" tIns="0" rIns="0" bIns="0" rtlCol="0" anchor="t">
            <a:normAutofit/>
          </a:bodyPr>
          <a:lstStyle/>
          <a:p>
            <a:pPr algn="ctr" indent="0" marL="0">
              <a:lnSpc>
                <a:spcPts val="1560"/>
              </a:lnSpc>
              <a:buNone/>
            </a:pPr>
            <a:r>
              <a:rPr lang="en-US" sz="1200" b="1" dirty="0">
                <a:solidFill>
                  <a:srgbClr val="008300"/>
                </a:solidFill>
                <a:latin typeface="Roboto Flex" pitchFamily="34" charset="0"/>
                <a:ea typeface="Roboto Flex" pitchFamily="34" charset="-122"/>
                <a:cs typeface="Roboto Flex" pitchFamily="34" charset="-120"/>
              </a:rPr>
              <a:t>69,1k €</a:t>
            </a:r>
            <a:endParaRPr lang="en-US" sz="1200" dirty="0"/>
          </a:p>
        </p:txBody>
      </p:sp>
      <p:sp>
        <p:nvSpPr>
          <p:cNvPr id="21" name="Text 19"/>
          <p:cNvSpPr/>
          <p:nvPr/>
        </p:nvSpPr>
        <p:spPr>
          <a:xfrm>
            <a:off x="6000750" y="3854450"/>
            <a:ext cx="939800" cy="223490"/>
          </a:xfrm>
          <a:prstGeom prst="rect">
            <a:avLst/>
          </a:prstGeom>
          <a:noFill/>
          <a:ln/>
        </p:spPr>
        <p:txBody>
          <a:bodyPr wrap="square" lIns="0" tIns="0" rIns="0" bIns="0" rtlCol="0" anchor="t">
            <a:normAutofit/>
          </a:bodyPr>
          <a:lstStyle/>
          <a:p>
            <a:pPr algn="ctr" indent="0" marL="0">
              <a:lnSpc>
                <a:spcPts val="1560"/>
              </a:lnSpc>
              <a:buNone/>
            </a:pPr>
            <a:r>
              <a:rPr lang="en-US" sz="1200" b="1" dirty="0">
                <a:solidFill>
                  <a:srgbClr val="DB2200"/>
                </a:solidFill>
                <a:latin typeface="Roboto Flex" pitchFamily="34" charset="0"/>
                <a:ea typeface="Roboto Flex" pitchFamily="34" charset="-122"/>
                <a:cs typeface="Roboto Flex" pitchFamily="34" charset="-120"/>
              </a:rPr>
              <a:t>34,5k €</a:t>
            </a:r>
            <a:endParaRPr lang="en-US" sz="1200" dirty="0"/>
          </a:p>
        </p:txBody>
      </p:sp>
      <p:sp>
        <p:nvSpPr>
          <p:cNvPr id="22" name="Text 20"/>
          <p:cNvSpPr/>
          <p:nvPr/>
        </p:nvSpPr>
        <p:spPr>
          <a:xfrm>
            <a:off x="1327150" y="5321300"/>
            <a:ext cx="1574800" cy="289520"/>
          </a:xfrm>
          <a:prstGeom prst="rect">
            <a:avLst/>
          </a:prstGeom>
          <a:noFill/>
          <a:ln/>
        </p:spPr>
        <p:txBody>
          <a:bodyPr wrap="square" lIns="0" tIns="0" rIns="0" bIns="0" rtlCol="0" anchor="t">
            <a:normAutofit/>
          </a:bodyPr>
          <a:lstStyle/>
          <a:p>
            <a:pPr algn="ctr" indent="0" marL="0">
              <a:lnSpc>
                <a:spcPts val="2080"/>
              </a:lnSpc>
              <a:buNone/>
            </a:pPr>
            <a:r>
              <a:rPr lang="en-US" sz="1600" dirty="0">
                <a:solidFill>
                  <a:srgbClr val="293036"/>
                </a:solidFill>
                <a:latin typeface="Roboto Flex" pitchFamily="34" charset="0"/>
                <a:ea typeface="Roboto Flex" pitchFamily="34" charset="-122"/>
                <a:cs typeface="Roboto Flex" pitchFamily="34" charset="-120"/>
              </a:rPr>
              <a:t>1. aasta</a:t>
            </a:r>
            <a:endParaRPr lang="en-US" sz="1600" dirty="0"/>
          </a:p>
        </p:txBody>
      </p:sp>
      <p:sp>
        <p:nvSpPr>
          <p:cNvPr id="23" name="Text 21"/>
          <p:cNvSpPr/>
          <p:nvPr/>
        </p:nvSpPr>
        <p:spPr>
          <a:xfrm>
            <a:off x="3327400" y="5321300"/>
            <a:ext cx="1574800" cy="289520"/>
          </a:xfrm>
          <a:prstGeom prst="rect">
            <a:avLst/>
          </a:prstGeom>
          <a:noFill/>
          <a:ln/>
        </p:spPr>
        <p:txBody>
          <a:bodyPr wrap="square" lIns="0" tIns="0" rIns="0" bIns="0" rtlCol="0" anchor="t">
            <a:normAutofit/>
          </a:bodyPr>
          <a:lstStyle/>
          <a:p>
            <a:pPr algn="ctr" indent="0" marL="0">
              <a:lnSpc>
                <a:spcPts val="2080"/>
              </a:lnSpc>
              <a:buNone/>
            </a:pPr>
            <a:r>
              <a:rPr lang="en-US" sz="1600" dirty="0">
                <a:solidFill>
                  <a:srgbClr val="293036"/>
                </a:solidFill>
                <a:latin typeface="Roboto Flex" pitchFamily="34" charset="0"/>
                <a:ea typeface="Roboto Flex" pitchFamily="34" charset="-122"/>
                <a:cs typeface="Roboto Flex" pitchFamily="34" charset="-120"/>
              </a:rPr>
              <a:t>3. aasta</a:t>
            </a:r>
            <a:endParaRPr lang="en-US" sz="1600" dirty="0"/>
          </a:p>
        </p:txBody>
      </p:sp>
      <p:sp>
        <p:nvSpPr>
          <p:cNvPr id="24" name="Text 22"/>
          <p:cNvSpPr/>
          <p:nvPr/>
        </p:nvSpPr>
        <p:spPr>
          <a:xfrm>
            <a:off x="5327650" y="5321300"/>
            <a:ext cx="1574800" cy="289520"/>
          </a:xfrm>
          <a:prstGeom prst="rect">
            <a:avLst/>
          </a:prstGeom>
          <a:noFill/>
          <a:ln/>
        </p:spPr>
        <p:txBody>
          <a:bodyPr wrap="square" lIns="0" tIns="0" rIns="0" bIns="0" rtlCol="0" anchor="t">
            <a:normAutofit/>
          </a:bodyPr>
          <a:lstStyle/>
          <a:p>
            <a:pPr algn="ctr" indent="0" marL="0">
              <a:lnSpc>
                <a:spcPts val="2080"/>
              </a:lnSpc>
              <a:buNone/>
            </a:pPr>
            <a:r>
              <a:rPr lang="en-US" sz="1600" dirty="0">
                <a:solidFill>
                  <a:srgbClr val="293036"/>
                </a:solidFill>
                <a:latin typeface="Roboto Flex" pitchFamily="34" charset="0"/>
                <a:ea typeface="Roboto Flex" pitchFamily="34" charset="-122"/>
                <a:cs typeface="Roboto Flex" pitchFamily="34" charset="-120"/>
              </a:rPr>
              <a:t>5. aasta</a:t>
            </a:r>
            <a:endParaRPr lang="en-US" sz="1600" dirty="0"/>
          </a:p>
        </p:txBody>
      </p:sp>
      <p:sp>
        <p:nvSpPr>
          <p:cNvPr id="25" name="Text 23"/>
          <p:cNvSpPr/>
          <p:nvPr/>
        </p:nvSpPr>
        <p:spPr>
          <a:xfrm>
            <a:off x="7823200" y="2159000"/>
            <a:ext cx="3662680"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006CE6"/>
                </a:solidFill>
                <a:latin typeface="Merriweather" pitchFamily="18" charset="0"/>
                <a:ea typeface="Merriweather" pitchFamily="18" charset="-122"/>
                <a:cs typeface="Merriweather" pitchFamily="18" charset="-120"/>
              </a:rPr>
              <a:t>1 €</a:t>
            </a:r>
            <a:endParaRPr lang="en-US" sz="6000" dirty="0"/>
          </a:p>
        </p:txBody>
      </p:sp>
      <p:sp>
        <p:nvSpPr>
          <p:cNvPr id="26" name="Text 24"/>
          <p:cNvSpPr/>
          <p:nvPr/>
        </p:nvSpPr>
        <p:spPr>
          <a:xfrm>
            <a:off x="7823200" y="3086100"/>
            <a:ext cx="366268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02F63"/>
                </a:solidFill>
                <a:latin typeface="Roboto Flex" pitchFamily="34" charset="0"/>
                <a:ea typeface="Roboto Flex" pitchFamily="34" charset="-122"/>
                <a:cs typeface="Roboto Flex" pitchFamily="34" charset="-120"/>
              </a:rPr>
              <a:t>kuus lepingu kohta, maksab operaator</a:t>
            </a:r>
            <a:endParaRPr lang="en-US" sz="1600" dirty="0"/>
          </a:p>
        </p:txBody>
      </p:sp>
      <p:sp>
        <p:nvSpPr>
          <p:cNvPr id="27" name="Text 25"/>
          <p:cNvSpPr/>
          <p:nvPr/>
        </p:nvSpPr>
        <p:spPr>
          <a:xfrm>
            <a:off x="7823200" y="3937000"/>
            <a:ext cx="3662680"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006CE6"/>
                </a:solidFill>
                <a:latin typeface="Merriweather" pitchFamily="18" charset="0"/>
                <a:ea typeface="Merriweather" pitchFamily="18" charset="-122"/>
                <a:cs typeface="Merriweather" pitchFamily="18" charset="-120"/>
              </a:rPr>
              <a:t>2 900</a:t>
            </a:r>
            <a:endParaRPr lang="en-US" sz="6000" dirty="0"/>
          </a:p>
        </p:txBody>
      </p:sp>
      <p:sp>
        <p:nvSpPr>
          <p:cNvPr id="28" name="Text 26"/>
          <p:cNvSpPr/>
          <p:nvPr/>
        </p:nvSpPr>
        <p:spPr>
          <a:xfrm>
            <a:off x="7823200" y="4864100"/>
            <a:ext cx="366268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02F63"/>
                </a:solidFill>
                <a:latin typeface="Roboto Flex" pitchFamily="34" charset="0"/>
                <a:ea typeface="Roboto Flex" pitchFamily="34" charset="-122"/>
                <a:cs typeface="Roboto Flex" pitchFamily="34" charset="-120"/>
              </a:rPr>
              <a:t>lepingut katab jooksvad kulud</a:t>
            </a:r>
            <a:endParaRPr lang="en-US" sz="1600" dirty="0"/>
          </a:p>
        </p:txBody>
      </p:sp>
      <p:sp>
        <p:nvSpPr>
          <p:cNvPr id="29" name="Text 27"/>
          <p:cNvSpPr/>
          <p:nvPr/>
        </p:nvSpPr>
        <p:spPr>
          <a:xfrm>
            <a:off x="812800" y="6238280"/>
            <a:ext cx="70074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Hinnang · kulu 1 töötaja, mobiilile 1. aastal 100%, edasi 50% · kumulatiivselt nullis 4. aastal</a:t>
            </a:r>
            <a:endParaRPr lang="en-US" sz="1200" dirty="0"/>
          </a:p>
        </p:txBody>
      </p:sp>
      <p:sp>
        <p:nvSpPr>
          <p:cNvPr id="30" name="Text 28"/>
          <p:cNvSpPr/>
          <p:nvPr/>
        </p:nvSpPr>
        <p:spPr>
          <a:xfrm>
            <a:off x="11246594" y="6238280"/>
            <a:ext cx="1326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74030"/>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002F63"/>
                </a:solidFill>
                <a:latin typeface="Merriweather" pitchFamily="18" charset="0"/>
                <a:ea typeface="Merriweather" pitchFamily="18" charset="-122"/>
                <a:cs typeface="Merriweather" pitchFamily="18" charset="-120"/>
              </a:rPr>
              <a:t>Ühine ostujõud igas valdkonnas</a:t>
            </a:r>
            <a:endParaRPr lang="en-US" sz="3600" dirty="0"/>
          </a:p>
        </p:txBody>
      </p:sp>
      <p:sp>
        <p:nvSpPr>
          <p:cNvPr id="3" name="Text 1"/>
          <p:cNvSpPr/>
          <p:nvPr/>
        </p:nvSpPr>
        <p:spPr>
          <a:xfrm>
            <a:off x="812800" y="146303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6B7074"/>
                </a:solidFill>
                <a:latin typeface="Roboto Flex" pitchFamily="34" charset="0"/>
                <a:ea typeface="Roboto Flex" pitchFamily="34" charset="-122"/>
                <a:cs typeface="Roboto Flex" pitchFamily="34" charset="-120"/>
              </a:rPr>
              <a:t>Mobiilside on esimene</a:t>
            </a:r>
            <a:endParaRPr lang="en-US" sz="1600" dirty="0"/>
          </a:p>
        </p:txBody>
      </p:sp>
      <p:sp>
        <p:nvSpPr>
          <p:cNvPr id="4" name="Shape 2"/>
          <p:cNvSpPr/>
          <p:nvPr/>
        </p:nvSpPr>
        <p:spPr>
          <a:xfrm>
            <a:off x="812800" y="2910830"/>
            <a:ext cx="2489200" cy="1869380"/>
          </a:xfrm>
          <a:prstGeom prst="roundRect">
            <a:avLst>
              <a:gd name="adj" fmla="val 5435"/>
            </a:avLst>
          </a:prstGeom>
          <a:solidFill>
            <a:srgbClr val="002F63"/>
          </a:solidFill>
          <a:ln/>
        </p:spPr>
      </p:sp>
      <p:pic>
        <p:nvPicPr>
          <p:cNvPr id="5" name="Image 0" descr="Chat">    </p:cNvPr>
          <p:cNvPicPr>
            <a:picLocks noChangeAspect="1"/>
          </p:cNvPicPr>
          <p:nvPr/>
        </p:nvPicPr>
        <p:blipFill>
          <a:blip r:embed="rId1"/>
          <a:srcRect l="0" r="0" t="0" b="0"/>
          <a:stretch/>
        </p:blipFill>
        <p:spPr>
          <a:xfrm>
            <a:off x="1066800" y="3164830"/>
            <a:ext cx="406400" cy="406400"/>
          </a:xfrm>
          <a:prstGeom prst="rect">
            <a:avLst/>
          </a:prstGeom>
        </p:spPr>
      </p:pic>
      <p:sp>
        <p:nvSpPr>
          <p:cNvPr id="6" name="Text 3"/>
          <p:cNvSpPr/>
          <p:nvPr/>
        </p:nvSpPr>
        <p:spPr>
          <a:xfrm>
            <a:off x="1066800" y="3774430"/>
            <a:ext cx="20406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FFFFF"/>
                </a:solidFill>
                <a:latin typeface="Merriweather" pitchFamily="18" charset="0"/>
                <a:ea typeface="Merriweather" pitchFamily="18" charset="-122"/>
                <a:cs typeface="Merriweather" pitchFamily="18" charset="-120"/>
              </a:rPr>
              <a:t>Mobiilside</a:t>
            </a:r>
            <a:endParaRPr lang="en-US" sz="2200" dirty="0"/>
          </a:p>
        </p:txBody>
      </p:sp>
      <p:sp>
        <p:nvSpPr>
          <p:cNvPr id="7" name="Text 4"/>
          <p:cNvSpPr/>
          <p:nvPr/>
        </p:nvSpPr>
        <p:spPr>
          <a:xfrm>
            <a:off x="1066800" y="4312890"/>
            <a:ext cx="204063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9C6E2"/>
                </a:solidFill>
                <a:latin typeface="Roboto Flex" pitchFamily="34" charset="0"/>
                <a:ea typeface="Roboto Flex" pitchFamily="34" charset="-122"/>
                <a:cs typeface="Roboto Flex" pitchFamily="34" charset="-120"/>
              </a:rPr>
              <a:t>TÄNA</a:t>
            </a:r>
            <a:endParaRPr lang="en-US" sz="1200" dirty="0"/>
          </a:p>
        </p:txBody>
      </p:sp>
      <p:sp>
        <p:nvSpPr>
          <p:cNvPr id="8" name="Shape 5"/>
          <p:cNvSpPr/>
          <p:nvPr/>
        </p:nvSpPr>
        <p:spPr>
          <a:xfrm>
            <a:off x="3505200" y="2910830"/>
            <a:ext cx="2489200" cy="1869380"/>
          </a:xfrm>
          <a:prstGeom prst="roundRect">
            <a:avLst>
              <a:gd name="adj" fmla="val 5435"/>
            </a:avLst>
          </a:prstGeom>
          <a:solidFill>
            <a:srgbClr val="EDF7FD"/>
          </a:solidFill>
          <a:ln/>
        </p:spPr>
      </p:sp>
      <p:pic>
        <p:nvPicPr>
          <p:cNvPr id="9" name="Image 1" descr="Lightning">    </p:cNvPr>
          <p:cNvPicPr>
            <a:picLocks noChangeAspect="1"/>
          </p:cNvPicPr>
          <p:nvPr/>
        </p:nvPicPr>
        <p:blipFill>
          <a:blip r:embed="rId2"/>
          <a:srcRect l="0" r="0" t="0" b="0"/>
          <a:stretch/>
        </p:blipFill>
        <p:spPr>
          <a:xfrm>
            <a:off x="3759200" y="3164830"/>
            <a:ext cx="406400" cy="406400"/>
          </a:xfrm>
          <a:prstGeom prst="rect">
            <a:avLst/>
          </a:prstGeom>
        </p:spPr>
      </p:pic>
      <p:sp>
        <p:nvSpPr>
          <p:cNvPr id="10" name="Text 6"/>
          <p:cNvSpPr/>
          <p:nvPr/>
        </p:nvSpPr>
        <p:spPr>
          <a:xfrm>
            <a:off x="3759200" y="3774430"/>
            <a:ext cx="20406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Elekter</a:t>
            </a:r>
            <a:endParaRPr lang="en-US" sz="2200" dirty="0"/>
          </a:p>
        </p:txBody>
      </p:sp>
      <p:sp>
        <p:nvSpPr>
          <p:cNvPr id="11" name="Text 7"/>
          <p:cNvSpPr/>
          <p:nvPr/>
        </p:nvSpPr>
        <p:spPr>
          <a:xfrm>
            <a:off x="3759200" y="4312890"/>
            <a:ext cx="204063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B7074"/>
                </a:solidFill>
                <a:latin typeface="Roboto Flex" pitchFamily="34" charset="0"/>
                <a:ea typeface="Roboto Flex" pitchFamily="34" charset="-122"/>
                <a:cs typeface="Roboto Flex" pitchFamily="34" charset="-120"/>
              </a:rPr>
              <a:t>TULEVIKUS</a:t>
            </a:r>
            <a:endParaRPr lang="en-US" sz="1200" dirty="0"/>
          </a:p>
        </p:txBody>
      </p:sp>
      <p:sp>
        <p:nvSpPr>
          <p:cNvPr id="12" name="Shape 8"/>
          <p:cNvSpPr/>
          <p:nvPr/>
        </p:nvSpPr>
        <p:spPr>
          <a:xfrm>
            <a:off x="6197600" y="2910830"/>
            <a:ext cx="2489200" cy="1869380"/>
          </a:xfrm>
          <a:prstGeom prst="roundRect">
            <a:avLst>
              <a:gd name="adj" fmla="val 5435"/>
            </a:avLst>
          </a:prstGeom>
          <a:solidFill>
            <a:srgbClr val="EDF7FD"/>
          </a:solidFill>
          <a:ln/>
        </p:spPr>
      </p:sp>
      <p:pic>
        <p:nvPicPr>
          <p:cNvPr id="13" name="Image 2" descr="Trust">    </p:cNvPr>
          <p:cNvPicPr>
            <a:picLocks noChangeAspect="1"/>
          </p:cNvPicPr>
          <p:nvPr/>
        </p:nvPicPr>
        <p:blipFill>
          <a:blip r:embed="rId3"/>
          <a:srcRect l="0" r="0" t="0" b="0"/>
          <a:stretch/>
        </p:blipFill>
        <p:spPr>
          <a:xfrm>
            <a:off x="6451600" y="3164830"/>
            <a:ext cx="406400" cy="406400"/>
          </a:xfrm>
          <a:prstGeom prst="rect">
            <a:avLst/>
          </a:prstGeom>
        </p:spPr>
      </p:pic>
      <p:sp>
        <p:nvSpPr>
          <p:cNvPr id="14" name="Text 9"/>
          <p:cNvSpPr/>
          <p:nvPr/>
        </p:nvSpPr>
        <p:spPr>
          <a:xfrm>
            <a:off x="6451600" y="3774430"/>
            <a:ext cx="20406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Kindlustus</a:t>
            </a:r>
            <a:endParaRPr lang="en-US" sz="2200" dirty="0"/>
          </a:p>
        </p:txBody>
      </p:sp>
      <p:sp>
        <p:nvSpPr>
          <p:cNvPr id="15" name="Text 10"/>
          <p:cNvSpPr/>
          <p:nvPr/>
        </p:nvSpPr>
        <p:spPr>
          <a:xfrm>
            <a:off x="6451600" y="4312890"/>
            <a:ext cx="204063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B7074"/>
                </a:solidFill>
                <a:latin typeface="Roboto Flex" pitchFamily="34" charset="0"/>
                <a:ea typeface="Roboto Flex" pitchFamily="34" charset="-122"/>
                <a:cs typeface="Roboto Flex" pitchFamily="34" charset="-120"/>
              </a:rPr>
              <a:t>TULEVIKUS</a:t>
            </a:r>
            <a:endParaRPr lang="en-US" sz="1200" dirty="0"/>
          </a:p>
        </p:txBody>
      </p:sp>
      <p:sp>
        <p:nvSpPr>
          <p:cNvPr id="16" name="Shape 11"/>
          <p:cNvSpPr/>
          <p:nvPr/>
        </p:nvSpPr>
        <p:spPr>
          <a:xfrm>
            <a:off x="8890000" y="2910830"/>
            <a:ext cx="2489200" cy="1869380"/>
          </a:xfrm>
          <a:prstGeom prst="roundRect">
            <a:avLst>
              <a:gd name="adj" fmla="val 5435"/>
            </a:avLst>
          </a:prstGeom>
          <a:solidFill>
            <a:srgbClr val="EDF7FD"/>
          </a:solidFill>
          <a:ln/>
        </p:spPr>
      </p:sp>
      <p:pic>
        <p:nvPicPr>
          <p:cNvPr id="17" name="Image 3" descr="Book">    </p:cNvPr>
          <p:cNvPicPr>
            <a:picLocks noChangeAspect="1"/>
          </p:cNvPicPr>
          <p:nvPr/>
        </p:nvPicPr>
        <p:blipFill>
          <a:blip r:embed="rId4"/>
          <a:srcRect l="0" r="0" t="0" b="0"/>
          <a:stretch/>
        </p:blipFill>
        <p:spPr>
          <a:xfrm>
            <a:off x="9144000" y="3164830"/>
            <a:ext cx="406400" cy="406400"/>
          </a:xfrm>
          <a:prstGeom prst="rect">
            <a:avLst/>
          </a:prstGeom>
        </p:spPr>
      </p:pic>
      <p:sp>
        <p:nvSpPr>
          <p:cNvPr id="18" name="Text 12"/>
          <p:cNvSpPr/>
          <p:nvPr/>
        </p:nvSpPr>
        <p:spPr>
          <a:xfrm>
            <a:off x="9144000" y="3774430"/>
            <a:ext cx="20406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02F63"/>
                </a:solidFill>
                <a:latin typeface="Merriweather" pitchFamily="18" charset="0"/>
                <a:ea typeface="Merriweather" pitchFamily="18" charset="-122"/>
                <a:cs typeface="Merriweather" pitchFamily="18" charset="-120"/>
              </a:rPr>
              <a:t>Uudised</a:t>
            </a:r>
            <a:endParaRPr lang="en-US" sz="2200" dirty="0"/>
          </a:p>
        </p:txBody>
      </p:sp>
      <p:sp>
        <p:nvSpPr>
          <p:cNvPr id="19" name="Text 13"/>
          <p:cNvSpPr/>
          <p:nvPr/>
        </p:nvSpPr>
        <p:spPr>
          <a:xfrm>
            <a:off x="9144000" y="4312890"/>
            <a:ext cx="204063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B7074"/>
                </a:solidFill>
                <a:latin typeface="Roboto Flex" pitchFamily="34" charset="0"/>
                <a:ea typeface="Roboto Flex" pitchFamily="34" charset="-122"/>
                <a:cs typeface="Roboto Flex" pitchFamily="34" charset="-120"/>
              </a:rPr>
              <a:t>TULEVIKUS</a:t>
            </a:r>
            <a:endParaRPr lang="en-US" sz="1200" dirty="0"/>
          </a:p>
        </p:txBody>
      </p:sp>
      <p:sp>
        <p:nvSpPr>
          <p:cNvPr id="20" name="Text 14"/>
          <p:cNvSpPr/>
          <p:nvPr/>
        </p:nvSpPr>
        <p:spPr>
          <a:xfrm>
            <a:off x="812800" y="6238280"/>
            <a:ext cx="54640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Visioon · uudiste ja muud tellimused, iga valdkond vajab eraldi analüüsi</a:t>
            </a:r>
            <a:endParaRPr lang="en-US" sz="1200" dirty="0"/>
          </a:p>
        </p:txBody>
      </p:sp>
      <p:sp>
        <p:nvSpPr>
          <p:cNvPr id="21" name="Text 15"/>
          <p:cNvSpPr/>
          <p:nvPr/>
        </p:nvSpPr>
        <p:spPr>
          <a:xfrm>
            <a:off x="11246594" y="6238280"/>
            <a:ext cx="1326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74"/>
                </a:solidFill>
                <a:latin typeface="Roboto Flex" pitchFamily="34" charset="0"/>
                <a:ea typeface="Roboto Flex" pitchFamily="34" charset="-122"/>
                <a:cs typeface="Roboto Flex"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2F63"/>
        </a:solidFill>
      </p:bgPr>
    </p:bg>
    <p:spTree>
      <p:nvGrpSpPr>
        <p:cNvPr id="1" name=""/>
        <p:cNvGrpSpPr/>
        <p:nvPr/>
      </p:nvGrpSpPr>
      <p:grpSpPr>
        <a:xfrm>
          <a:off x="0" y="0"/>
          <a:ext cx="0" cy="0"/>
          <a:chOff x="0" y="0"/>
          <a:chExt cx="0" cy="0"/>
        </a:xfrm>
      </p:grpSpPr>
      <p:sp>
        <p:nvSpPr>
          <p:cNvPr id="2" name="Shape 0"/>
          <p:cNvSpPr/>
          <p:nvPr/>
        </p:nvSpPr>
        <p:spPr>
          <a:xfrm>
            <a:off x="812800" y="2727970"/>
            <a:ext cx="762000" cy="50800"/>
          </a:xfrm>
          <a:prstGeom prst="roundRect">
            <a:avLst>
              <a:gd name="adj" fmla="val 50000"/>
            </a:avLst>
          </a:prstGeom>
          <a:solidFill>
            <a:srgbClr val="00AEEA"/>
          </a:solidFill>
          <a:ln/>
        </p:spPr>
      </p:sp>
      <p:sp>
        <p:nvSpPr>
          <p:cNvPr id="3" name="Text 1"/>
          <p:cNvSpPr/>
          <p:nvPr>
            <p:ph type="title"/>
          </p:nvPr>
        </p:nvSpPr>
        <p:spPr>
          <a:xfrm>
            <a:off x="812800" y="3032770"/>
            <a:ext cx="9810750" cy="1122660"/>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FFFFFF"/>
                </a:solidFill>
                <a:latin typeface="Merriweather" pitchFamily="18" charset="0"/>
                <a:ea typeface="Merriweather" pitchFamily="18" charset="-122"/>
                <a:cs typeface="Merriweather" pitchFamily="18" charset="-120"/>
              </a:rPr>
              <a:t>Üksi pole sul läbirääkimisjõudu. Tuhandel inimesel on.</a:t>
            </a:r>
            <a:endParaRPr lang="en-US" sz="3600" dirty="0"/>
          </a:p>
        </p:txBody>
      </p:sp>
      <p:sp>
        <p:nvSpPr>
          <p:cNvPr id="4"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DCA"/>
                </a:solidFill>
                <a:latin typeface="Roboto Flex" pitchFamily="34" charset="0"/>
                <a:ea typeface="Roboto Flex" pitchFamily="34" charset="-122"/>
                <a:cs typeface="Roboto Flex" pitchFamily="34" charset="-120"/>
              </a:rPr>
              <a:t>Tuleva Kogum</a:t>
            </a:r>
            <a:endParaRPr lang="en-US" sz="1200" dirty="0"/>
          </a:p>
        </p:txBody>
      </p:sp>
    </p:spTree>
  </p:cSld>
  <p:clrMapOvr>
    <a:masterClrMapping/>
  </p:clrMapOvr>
</p:sld>
</file>

<file path=ppt/theme/theme1.xml><?xml version="1.0" encoding="utf-8"?>
<a:theme xmlns:a="http://schemas.openxmlformats.org/drawingml/2006/main" name="Tuleva Kogum pitch">
  <a:themeElements>
    <a:clrScheme name="Tuleva Kogum pitch">
      <a:dk1>
        <a:srgbClr val="002F63"/>
      </a:dk1>
      <a:lt1>
        <a:srgbClr val="FFFFFF"/>
      </a:lt1>
      <a:dk2>
        <a:srgbClr val="40638A"/>
      </a:dk2>
      <a:lt2>
        <a:srgbClr val="E6EAEF"/>
      </a:lt2>
      <a:accent1>
        <a:srgbClr val="008300"/>
      </a:accent1>
      <a:accent2>
        <a:srgbClr val="DB2200"/>
      </a:accent2>
      <a:accent3>
        <a:srgbClr val="006CE6"/>
      </a:accent3>
      <a:accent4>
        <a:srgbClr val="00AEEA"/>
      </a:accent4>
      <a:accent5>
        <a:srgbClr val="CCEDFA"/>
      </a:accent5>
      <a:accent6>
        <a:srgbClr val="A9C6E2"/>
      </a:accent6>
      <a:hlink>
        <a:srgbClr val="0563C1"/>
      </a:hlink>
      <a:folHlink>
        <a:srgbClr val="954F72"/>
      </a:folHlink>
    </a:clrScheme>
    <a:fontScheme name="Tuleva Kogum pitch">
      <a:majorFont>
        <a:latin typeface="Merriweath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Flex"/>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Tuleva Kogum pitch</dc:title>
  <dc:subject/>
  <dc:creator/>
  <cp:lastModifiedBy/>
  <cp:revision>1</cp:revision>
  <dcterms:created xsi:type="dcterms:W3CDTF">2026-10-10T13:43:40Z</dcterms:created>
  <dcterms:modified xsi:type="dcterms:W3CDTF">2026-10-10T13:43:40Z</dcterms:modified>
</cp:coreProperties>
</file>