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õhislaidid (3 min)" id="{43EECAC1-9EA2-8F0B-650F-D35A3F4AB36B}">
          <p14:sldIdLst>
            <p14:sldId id="256"/>
            <p14:sldId id="257"/>
            <p14:sldId id="258"/>
            <p14:sldId id="259"/>
            <p14:sldId id="260"/>
            <p14:sldId id="261"/>
            <p14:sldId id="262"/>
          </p14:sldIdLst>
        </p14:section>
        <p14:section name="Varuslaidid" id="{DEEA9053-5336-C9B3-8DA3-44A5F72EC490}">
          <p14:sldIdLst>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45"/>
    <p:restoredTop sz="82051"/>
  </p:normalViewPr>
  <p:slideViewPr>
    <p:cSldViewPr snapToGrid="0" snapToObjects="1">
      <p:cViewPr varScale="1">
        <p:scale>
          <a:sx n="99" d="100"/>
          <a:sy n="99" d="100"/>
        </p:scale>
        <p:origin x="944" y="1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Tele2 kampaania, siis tavahind</c:v>
                </c:pt>
              </c:strCache>
            </c:strRef>
          </c:tx>
          <c:spPr>
            <a:ln w="38100" cap="flat">
              <a:solidFill>
                <a:srgbClr val="5A6F8C"/>
              </a:solidFill>
              <a:prstDash val="solid"/>
              <a:round/>
            </a:ln>
            <a:effectLst/>
          </c:spPr>
          <c:marker>
            <c:symbol val="none"/>
          </c:marker>
          <c:cat>
            <c:strRef>
              <c:f>Sheet1!$A$2:$A$37</c:f>
              <c:strCache>
                <c:ptCount val="36"/>
                <c:pt idx="0">
                  <c:v>1</c:v>
                </c:pt>
                <c:pt idx="1">
                  <c:v> </c:v>
                </c:pt>
                <c:pt idx="2">
                  <c:v> </c:v>
                </c:pt>
                <c:pt idx="3">
                  <c:v> </c:v>
                </c:pt>
                <c:pt idx="4">
                  <c:v> </c:v>
                </c:pt>
                <c:pt idx="5">
                  <c:v>6</c:v>
                </c:pt>
                <c:pt idx="6">
                  <c:v> </c:v>
                </c:pt>
                <c:pt idx="7">
                  <c:v> </c:v>
                </c:pt>
                <c:pt idx="8">
                  <c:v> </c:v>
                </c:pt>
                <c:pt idx="9">
                  <c:v> </c:v>
                </c:pt>
                <c:pt idx="10">
                  <c:v> </c:v>
                </c:pt>
                <c:pt idx="11">
                  <c:v>12</c:v>
                </c:pt>
                <c:pt idx="12">
                  <c:v> </c:v>
                </c:pt>
                <c:pt idx="13">
                  <c:v> </c:v>
                </c:pt>
                <c:pt idx="14">
                  <c:v> </c:v>
                </c:pt>
                <c:pt idx="15">
                  <c:v> </c:v>
                </c:pt>
                <c:pt idx="16">
                  <c:v> </c:v>
                </c:pt>
                <c:pt idx="17">
                  <c:v>18</c:v>
                </c:pt>
                <c:pt idx="18">
                  <c:v> </c:v>
                </c:pt>
                <c:pt idx="19">
                  <c:v> </c:v>
                </c:pt>
                <c:pt idx="20">
                  <c:v> </c:v>
                </c:pt>
                <c:pt idx="21">
                  <c:v> </c:v>
                </c:pt>
                <c:pt idx="22">
                  <c:v> </c:v>
                </c:pt>
                <c:pt idx="23">
                  <c:v>24</c:v>
                </c:pt>
                <c:pt idx="24">
                  <c:v> </c:v>
                </c:pt>
                <c:pt idx="25">
                  <c:v> </c:v>
                </c:pt>
                <c:pt idx="26">
                  <c:v> </c:v>
                </c:pt>
                <c:pt idx="27">
                  <c:v> </c:v>
                </c:pt>
                <c:pt idx="28">
                  <c:v> </c:v>
                </c:pt>
                <c:pt idx="29">
                  <c:v>30</c:v>
                </c:pt>
                <c:pt idx="30">
                  <c:v> </c:v>
                </c:pt>
                <c:pt idx="31">
                  <c:v> </c:v>
                </c:pt>
                <c:pt idx="32">
                  <c:v> </c:v>
                </c:pt>
                <c:pt idx="33">
                  <c:v> </c:v>
                </c:pt>
                <c:pt idx="34">
                  <c:v> </c:v>
                </c:pt>
                <c:pt idx="35">
                  <c:v>36</c:v>
                </c:pt>
              </c:strCache>
            </c:strRef>
          </c:cat>
          <c:val>
            <c:numRef>
              <c:f>Sheet1!$B$2:$B$37</c:f>
              <c:numCache>
                <c:formatCode>General</c:formatCode>
                <c:ptCount val="36"/>
                <c:pt idx="0">
                  <c:v>15.5</c:v>
                </c:pt>
                <c:pt idx="1">
                  <c:v>15.5</c:v>
                </c:pt>
                <c:pt idx="2">
                  <c:v>15.5</c:v>
                </c:pt>
                <c:pt idx="3">
                  <c:v>15.5</c:v>
                </c:pt>
                <c:pt idx="4">
                  <c:v>15.5</c:v>
                </c:pt>
                <c:pt idx="5">
                  <c:v>15.5</c:v>
                </c:pt>
                <c:pt idx="6">
                  <c:v>15.5</c:v>
                </c:pt>
                <c:pt idx="7">
                  <c:v>15.5</c:v>
                </c:pt>
                <c:pt idx="8">
                  <c:v>15.5</c:v>
                </c:pt>
                <c:pt idx="9">
                  <c:v>15.5</c:v>
                </c:pt>
                <c:pt idx="10">
                  <c:v>15.5</c:v>
                </c:pt>
                <c:pt idx="11">
                  <c:v>15.5</c:v>
                </c:pt>
                <c:pt idx="12">
                  <c:v>15.5</c:v>
                </c:pt>
                <c:pt idx="13">
                  <c:v>15.5</c:v>
                </c:pt>
                <c:pt idx="14">
                  <c:v>15.5</c:v>
                </c:pt>
                <c:pt idx="15">
                  <c:v>15.5</c:v>
                </c:pt>
                <c:pt idx="16">
                  <c:v>15.5</c:v>
                </c:pt>
                <c:pt idx="17">
                  <c:v>15.5</c:v>
                </c:pt>
                <c:pt idx="18">
                  <c:v>15.5</c:v>
                </c:pt>
                <c:pt idx="19">
                  <c:v>15.5</c:v>
                </c:pt>
                <c:pt idx="20">
                  <c:v>15.5</c:v>
                </c:pt>
                <c:pt idx="21">
                  <c:v>15.5</c:v>
                </c:pt>
                <c:pt idx="22">
                  <c:v>15.5</c:v>
                </c:pt>
                <c:pt idx="23">
                  <c:v>15.5</c:v>
                </c:pt>
                <c:pt idx="24">
                  <c:v>34.99</c:v>
                </c:pt>
                <c:pt idx="25">
                  <c:v>34.99</c:v>
                </c:pt>
                <c:pt idx="26">
                  <c:v>34.99</c:v>
                </c:pt>
                <c:pt idx="27">
                  <c:v>34.99</c:v>
                </c:pt>
                <c:pt idx="28">
                  <c:v>34.99</c:v>
                </c:pt>
                <c:pt idx="29">
                  <c:v>34.99</c:v>
                </c:pt>
                <c:pt idx="30">
                  <c:v>34.99</c:v>
                </c:pt>
                <c:pt idx="31">
                  <c:v>34.99</c:v>
                </c:pt>
                <c:pt idx="32">
                  <c:v>34.99</c:v>
                </c:pt>
                <c:pt idx="33">
                  <c:v>34.99</c:v>
                </c:pt>
                <c:pt idx="34">
                  <c:v>34.99</c:v>
                </c:pt>
                <c:pt idx="35">
                  <c:v>34.99</c:v>
                </c:pt>
              </c:numCache>
            </c:numRef>
          </c:val>
          <c:smooth val="0"/>
          <c:extLst>
            <c:ext xmlns:c16="http://schemas.microsoft.com/office/drawing/2014/chart" uri="{C3380CC4-5D6E-409C-BE32-E72D297353CC}">
              <c16:uniqueId val="{00000000-7B6C-214B-A422-C051E19486EB}"/>
            </c:ext>
          </c:extLst>
        </c:ser>
        <c:ser>
          <c:idx val="1"/>
          <c:order val="1"/>
          <c:tx>
            <c:strRef>
              <c:f>Sheet1!$C$1</c:f>
              <c:strCache>
                <c:ptCount val="1"/>
                <c:pt idx="0">
                  <c:v>Tuleva Kogum: sihthind 6,50 €</c:v>
                </c:pt>
              </c:strCache>
            </c:strRef>
          </c:tx>
          <c:spPr>
            <a:ln w="38100" cap="flat">
              <a:solidFill>
                <a:srgbClr val="006CE6"/>
              </a:solidFill>
              <a:prstDash val="solid"/>
              <a:round/>
            </a:ln>
            <a:effectLst/>
          </c:spPr>
          <c:marker>
            <c:symbol val="none"/>
          </c:marker>
          <c:cat>
            <c:strRef>
              <c:f>Sheet1!$A$2:$A$37</c:f>
              <c:strCache>
                <c:ptCount val="36"/>
                <c:pt idx="0">
                  <c:v>1</c:v>
                </c:pt>
                <c:pt idx="1">
                  <c:v> </c:v>
                </c:pt>
                <c:pt idx="2">
                  <c:v> </c:v>
                </c:pt>
                <c:pt idx="3">
                  <c:v> </c:v>
                </c:pt>
                <c:pt idx="4">
                  <c:v> </c:v>
                </c:pt>
                <c:pt idx="5">
                  <c:v>6</c:v>
                </c:pt>
                <c:pt idx="6">
                  <c:v> </c:v>
                </c:pt>
                <c:pt idx="7">
                  <c:v> </c:v>
                </c:pt>
                <c:pt idx="8">
                  <c:v> </c:v>
                </c:pt>
                <c:pt idx="9">
                  <c:v> </c:v>
                </c:pt>
                <c:pt idx="10">
                  <c:v> </c:v>
                </c:pt>
                <c:pt idx="11">
                  <c:v>12</c:v>
                </c:pt>
                <c:pt idx="12">
                  <c:v> </c:v>
                </c:pt>
                <c:pt idx="13">
                  <c:v> </c:v>
                </c:pt>
                <c:pt idx="14">
                  <c:v> </c:v>
                </c:pt>
                <c:pt idx="15">
                  <c:v> </c:v>
                </c:pt>
                <c:pt idx="16">
                  <c:v> </c:v>
                </c:pt>
                <c:pt idx="17">
                  <c:v>18</c:v>
                </c:pt>
                <c:pt idx="18">
                  <c:v> </c:v>
                </c:pt>
                <c:pt idx="19">
                  <c:v> </c:v>
                </c:pt>
                <c:pt idx="20">
                  <c:v> </c:v>
                </c:pt>
                <c:pt idx="21">
                  <c:v> </c:v>
                </c:pt>
                <c:pt idx="22">
                  <c:v> </c:v>
                </c:pt>
                <c:pt idx="23">
                  <c:v>24</c:v>
                </c:pt>
                <c:pt idx="24">
                  <c:v> </c:v>
                </c:pt>
                <c:pt idx="25">
                  <c:v> </c:v>
                </c:pt>
                <c:pt idx="26">
                  <c:v> </c:v>
                </c:pt>
                <c:pt idx="27">
                  <c:v> </c:v>
                </c:pt>
                <c:pt idx="28">
                  <c:v> </c:v>
                </c:pt>
                <c:pt idx="29">
                  <c:v>30</c:v>
                </c:pt>
                <c:pt idx="30">
                  <c:v> </c:v>
                </c:pt>
                <c:pt idx="31">
                  <c:v> </c:v>
                </c:pt>
                <c:pt idx="32">
                  <c:v> </c:v>
                </c:pt>
                <c:pt idx="33">
                  <c:v> </c:v>
                </c:pt>
                <c:pt idx="34">
                  <c:v> </c:v>
                </c:pt>
                <c:pt idx="35">
                  <c:v>36</c:v>
                </c:pt>
              </c:strCache>
            </c:strRef>
          </c:cat>
          <c:val>
            <c:numRef>
              <c:f>Sheet1!$C$2:$C$37</c:f>
              <c:numCache>
                <c:formatCode>General</c:formatCode>
                <c:ptCount val="36"/>
                <c:pt idx="0">
                  <c:v>6.5</c:v>
                </c:pt>
                <c:pt idx="1">
                  <c:v>6.5</c:v>
                </c:pt>
                <c:pt idx="2">
                  <c:v>6.5</c:v>
                </c:pt>
                <c:pt idx="3">
                  <c:v>6.5</c:v>
                </c:pt>
                <c:pt idx="4">
                  <c:v>6.5</c:v>
                </c:pt>
                <c:pt idx="5">
                  <c:v>6.5</c:v>
                </c:pt>
                <c:pt idx="6">
                  <c:v>6.5</c:v>
                </c:pt>
                <c:pt idx="7">
                  <c:v>6.5</c:v>
                </c:pt>
                <c:pt idx="8">
                  <c:v>6.5</c:v>
                </c:pt>
                <c:pt idx="9">
                  <c:v>6.5</c:v>
                </c:pt>
                <c:pt idx="10">
                  <c:v>6.5</c:v>
                </c:pt>
                <c:pt idx="11">
                  <c:v>6.5</c:v>
                </c:pt>
                <c:pt idx="12">
                  <c:v>6.5</c:v>
                </c:pt>
                <c:pt idx="13">
                  <c:v>6.5</c:v>
                </c:pt>
                <c:pt idx="14">
                  <c:v>6.5</c:v>
                </c:pt>
                <c:pt idx="15">
                  <c:v>6.5</c:v>
                </c:pt>
                <c:pt idx="16">
                  <c:v>6.5</c:v>
                </c:pt>
                <c:pt idx="17">
                  <c:v>6.5</c:v>
                </c:pt>
                <c:pt idx="18">
                  <c:v>6.5</c:v>
                </c:pt>
                <c:pt idx="19">
                  <c:v>6.5</c:v>
                </c:pt>
                <c:pt idx="20">
                  <c:v>6.5</c:v>
                </c:pt>
                <c:pt idx="21">
                  <c:v>6.5</c:v>
                </c:pt>
                <c:pt idx="22">
                  <c:v>6.5</c:v>
                </c:pt>
                <c:pt idx="23">
                  <c:v>6.5</c:v>
                </c:pt>
                <c:pt idx="24">
                  <c:v>6.5</c:v>
                </c:pt>
                <c:pt idx="25">
                  <c:v>6.5</c:v>
                </c:pt>
                <c:pt idx="26">
                  <c:v>6.5</c:v>
                </c:pt>
                <c:pt idx="27">
                  <c:v>6.5</c:v>
                </c:pt>
                <c:pt idx="28">
                  <c:v>6.5</c:v>
                </c:pt>
                <c:pt idx="29">
                  <c:v>6.5</c:v>
                </c:pt>
                <c:pt idx="30">
                  <c:v>6.5</c:v>
                </c:pt>
                <c:pt idx="31">
                  <c:v>6.5</c:v>
                </c:pt>
                <c:pt idx="32">
                  <c:v>6.5</c:v>
                </c:pt>
                <c:pt idx="33">
                  <c:v>6.5</c:v>
                </c:pt>
                <c:pt idx="34">
                  <c:v>6.5</c:v>
                </c:pt>
                <c:pt idx="35">
                  <c:v>6.5</c:v>
                </c:pt>
              </c:numCache>
            </c:numRef>
          </c:val>
          <c:smooth val="0"/>
          <c:extLst>
            <c:ext xmlns:c16="http://schemas.microsoft.com/office/drawing/2014/chart" uri="{C3380CC4-5D6E-409C-BE32-E72D297353CC}">
              <c16:uniqueId val="{00000001-7B6C-214B-A422-C051E19486EB}"/>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A6F8C"/>
                    </a:solidFill>
                    <a:latin typeface="Arial"/>
                  </a:defRPr>
                </a:pPr>
                <a:r>
                  <a:rPr lang="en-US" sz="1100" b="0" i="0" u="none" strike="noStrike">
                    <a:solidFill>
                      <a:srgbClr val="5A6F8C"/>
                    </a:solidFill>
                    <a:latin typeface="Arial"/>
                  </a:rPr>
                  <a:t>kuu</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F8C"/>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D6DEE6"/>
              </a:solidFill>
              <a:prstDash val="solid"/>
              <a:round/>
            </a:ln>
          </c:spPr>
        </c:majorGridlines>
        <c:numFmt formatCode="0\ \€"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F8C"/>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solidFill>
                <a:srgbClr val="29303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02F63"/>
                </a:solidFill>
                <a:latin typeface="+mn-lt"/>
              </a:defRPr>
            </a:pPr>
            <a:r>
              <a:rPr lang="en-US" sz="1400" b="0" i="0" u="none" strike="noStrike">
                <a:solidFill>
                  <a:srgbClr val="002F63"/>
                </a:solidFill>
                <a:latin typeface="+mn-lt"/>
              </a:rPr>
              <a:t>Aktiivseid lepinguid aasta lõpus</a:t>
            </a:r>
          </a:p>
        </c:rich>
      </c:tx>
      <c:overlay val="0"/>
    </c:title>
    <c:autoTitleDeleted val="0"/>
    <c:plotArea>
      <c:layout/>
      <c:barChart>
        <c:barDir val="col"/>
        <c:grouping val="clustered"/>
        <c:varyColors val="0"/>
        <c:ser>
          <c:idx val="0"/>
          <c:order val="0"/>
          <c:tx>
            <c:strRef>
              <c:f>Sheet1!$B$1</c:f>
              <c:strCache>
                <c:ptCount val="1"/>
                <c:pt idx="0">
                  <c:v>Pessimistlik</c:v>
                </c:pt>
              </c:strCache>
            </c:strRef>
          </c:tx>
          <c:spPr>
            <a:solidFill>
              <a:srgbClr val="C4C5C6"/>
            </a:solidFill>
            <a:effectLst/>
          </c:spPr>
          <c:invertIfNegative val="0"/>
          <c:dLbls>
            <c:numFmt formatCode="#\ ##0" sourceLinked="0"/>
            <c:spPr>
              <a:noFill/>
              <a:ln>
                <a:noFill/>
              </a:ln>
              <a:effectLst/>
            </c:spPr>
            <c:txPr>
              <a:bodyPr/>
              <a:lstStyle/>
              <a:p>
                <a:pPr>
                  <a:defRPr sz="1100" b="0" i="0" u="none" strike="noStrike">
                    <a:solidFill>
                      <a:srgbClr val="2930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aasta</c:v>
                </c:pt>
                <c:pt idx="1">
                  <c:v>3. aasta</c:v>
                </c:pt>
                <c:pt idx="2">
                  <c:v>5. aasta</c:v>
                </c:pt>
              </c:strCache>
            </c:strRef>
          </c:cat>
          <c:val>
            <c:numRef>
              <c:f>Sheet1!$B$2:$B$4</c:f>
              <c:numCache>
                <c:formatCode>General</c:formatCode>
                <c:ptCount val="3"/>
                <c:pt idx="0">
                  <c:v>820</c:v>
                </c:pt>
                <c:pt idx="1">
                  <c:v>1580</c:v>
                </c:pt>
                <c:pt idx="2">
                  <c:v>1900</c:v>
                </c:pt>
              </c:numCache>
            </c:numRef>
          </c:val>
          <c:extLst>
            <c:ext xmlns:c16="http://schemas.microsoft.com/office/drawing/2014/chart" uri="{C3380CC4-5D6E-409C-BE32-E72D297353CC}">
              <c16:uniqueId val="{00000000-6EE5-9942-B92E-19F2B5D46339}"/>
            </c:ext>
          </c:extLst>
        </c:ser>
        <c:ser>
          <c:idx val="1"/>
          <c:order val="1"/>
          <c:tx>
            <c:strRef>
              <c:f>Sheet1!$C$1</c:f>
              <c:strCache>
                <c:ptCount val="1"/>
                <c:pt idx="0">
                  <c:v>Baas</c:v>
                </c:pt>
              </c:strCache>
            </c:strRef>
          </c:tx>
          <c:spPr>
            <a:solidFill>
              <a:srgbClr val="006CE6"/>
            </a:solidFill>
            <a:effectLst/>
          </c:spPr>
          <c:invertIfNegative val="0"/>
          <c:dLbls>
            <c:numFmt formatCode="#\ ##0" sourceLinked="0"/>
            <c:spPr>
              <a:noFill/>
              <a:ln>
                <a:noFill/>
              </a:ln>
              <a:effectLst/>
            </c:spPr>
            <c:txPr>
              <a:bodyPr/>
              <a:lstStyle/>
              <a:p>
                <a:pPr>
                  <a:defRPr sz="1100" b="0" i="0" u="none" strike="noStrike">
                    <a:solidFill>
                      <a:srgbClr val="2930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aasta</c:v>
                </c:pt>
                <c:pt idx="1">
                  <c:v>3. aasta</c:v>
                </c:pt>
                <c:pt idx="2">
                  <c:v>5. aasta</c:v>
                </c:pt>
              </c:strCache>
            </c:strRef>
          </c:cat>
          <c:val>
            <c:numRef>
              <c:f>Sheet1!$C$2:$C$4</c:f>
              <c:numCache>
                <c:formatCode>General</c:formatCode>
                <c:ptCount val="3"/>
                <c:pt idx="0">
                  <c:v>2670</c:v>
                </c:pt>
                <c:pt idx="1">
                  <c:v>5130</c:v>
                </c:pt>
                <c:pt idx="2">
                  <c:v>6180</c:v>
                </c:pt>
              </c:numCache>
            </c:numRef>
          </c:val>
          <c:extLst>
            <c:ext xmlns:c16="http://schemas.microsoft.com/office/drawing/2014/chart" uri="{C3380CC4-5D6E-409C-BE32-E72D297353CC}">
              <c16:uniqueId val="{00000001-6EE5-9942-B92E-19F2B5D46339}"/>
            </c:ext>
          </c:extLst>
        </c:ser>
        <c:ser>
          <c:idx val="2"/>
          <c:order val="2"/>
          <c:tx>
            <c:strRef>
              <c:f>Sheet1!$D$1</c:f>
              <c:strCache>
                <c:ptCount val="1"/>
                <c:pt idx="0">
                  <c:v>Optimistlik</c:v>
                </c:pt>
              </c:strCache>
            </c:strRef>
          </c:tx>
          <c:spPr>
            <a:solidFill>
              <a:srgbClr val="002F63"/>
            </a:solidFill>
            <a:effectLst/>
          </c:spPr>
          <c:invertIfNegative val="0"/>
          <c:dLbls>
            <c:numFmt formatCode="#\ ##0" sourceLinked="0"/>
            <c:spPr>
              <a:noFill/>
              <a:ln>
                <a:noFill/>
              </a:ln>
              <a:effectLst/>
            </c:spPr>
            <c:txPr>
              <a:bodyPr/>
              <a:lstStyle/>
              <a:p>
                <a:pPr>
                  <a:defRPr sz="1100" b="0" i="0" u="none" strike="noStrike">
                    <a:solidFill>
                      <a:srgbClr val="2930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aasta</c:v>
                </c:pt>
                <c:pt idx="1">
                  <c:v>3. aasta</c:v>
                </c:pt>
                <c:pt idx="2">
                  <c:v>5. aasta</c:v>
                </c:pt>
              </c:strCache>
            </c:strRef>
          </c:cat>
          <c:val>
            <c:numRef>
              <c:f>Sheet1!$D$2:$D$4</c:f>
              <c:numCache>
                <c:formatCode>General</c:formatCode>
                <c:ptCount val="3"/>
                <c:pt idx="0">
                  <c:v>5450</c:v>
                </c:pt>
                <c:pt idx="1">
                  <c:v>10450</c:v>
                </c:pt>
                <c:pt idx="2">
                  <c:v>12600</c:v>
                </c:pt>
              </c:numCache>
            </c:numRef>
          </c:val>
          <c:extLst>
            <c:ext xmlns:c16="http://schemas.microsoft.com/office/drawing/2014/chart" uri="{C3380CC4-5D6E-409C-BE32-E72D297353CC}">
              <c16:uniqueId val="{00000002-6EE5-9942-B92E-19F2B5D4633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F8C"/>
                </a:solidFill>
                <a:latin typeface="+mn-lt"/>
              </a:defRPr>
            </a:pPr>
            <a:endParaRPr lang="en-US"/>
          </a:p>
        </c:txPr>
        <c:crossAx val="2094734552"/>
        <c:crosses val="autoZero"/>
        <c:auto val="1"/>
        <c:lblAlgn val="ctr"/>
        <c:lblOffset val="100"/>
        <c:noMultiLvlLbl val="1"/>
      </c:catAx>
      <c:valAx>
        <c:axId val="2094734552"/>
        <c:scaling>
          <c:orientation val="minMax"/>
          <c:max val="14000"/>
        </c:scaling>
        <c:delete val="0"/>
        <c:axPos val="l"/>
        <c:majorGridlines>
          <c:spPr>
            <a:ln w="9525" cap="flat">
              <a:solidFill>
                <a:srgbClr val="D6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F8C"/>
                </a:solidFill>
                <a:latin typeface="+mn-lt"/>
              </a:defRPr>
            </a:pPr>
            <a:endParaRPr lang="en-US"/>
          </a:p>
        </c:txPr>
        <c:crossAx val="2094734554"/>
        <c:crosses val="autoZero"/>
        <c:crossBetween val="between"/>
        <c:majorUnit val="200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Sääst</c:v>
                </c:pt>
              </c:strCache>
            </c:strRef>
          </c:tx>
          <c:spPr>
            <a:solidFill>
              <a:srgbClr val="006CE6"/>
            </a:solidFill>
            <a:effectLst/>
          </c:spPr>
          <c:invertIfNegative val="0"/>
          <c:dLbls>
            <c:numFmt formatCode="0\ \€" sourceLinked="0"/>
            <c:spPr>
              <a:noFill/>
              <a:ln>
                <a:noFill/>
              </a:ln>
              <a:effectLst/>
            </c:spPr>
            <c:txPr>
              <a:bodyPr/>
              <a:lstStyle/>
              <a:p>
                <a:pPr>
                  <a:defRPr sz="1400" b="0" i="0" u="none" strike="noStrike">
                    <a:solidFill>
                      <a:srgbClr val="2930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Tavahinna vastu, aastas</c:v>
                </c:pt>
                <c:pt idx="1">
                  <c:v>Kampaaniahinna vastu, 1. aastas</c:v>
                </c:pt>
                <c:pt idx="2">
                  <c:v>Kampaania vastu 3 aastaga</c:v>
                </c:pt>
              </c:strCache>
            </c:strRef>
          </c:cat>
          <c:val>
            <c:numRef>
              <c:f>Sheet1!$B$2:$B$4</c:f>
              <c:numCache>
                <c:formatCode>General</c:formatCode>
                <c:ptCount val="3"/>
                <c:pt idx="0">
                  <c:v>405</c:v>
                </c:pt>
                <c:pt idx="1">
                  <c:v>108</c:v>
                </c:pt>
                <c:pt idx="2">
                  <c:v>558</c:v>
                </c:pt>
              </c:numCache>
            </c:numRef>
          </c:val>
          <c:extLst>
            <c:ext xmlns:c16="http://schemas.microsoft.com/office/drawing/2014/chart" uri="{C3380CC4-5D6E-409C-BE32-E72D297353CC}">
              <c16:uniqueId val="{00000000-AADA-094A-BFC0-0BEB0AAF1647}"/>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93036"/>
                </a:solidFill>
                <a:latin typeface="+mn-lt"/>
              </a:defRPr>
            </a:pPr>
            <a:endParaRPr lang="en-US"/>
          </a:p>
        </c:txPr>
        <c:crossAx val="2094734552"/>
        <c:crosses val="autoZero"/>
        <c:auto val="1"/>
        <c:lblAlgn val="ctr"/>
        <c:lblOffset val="100"/>
        <c:noMultiLvlLbl val="1"/>
      </c:catAx>
      <c:valAx>
        <c:axId val="2094734552"/>
        <c:scaling>
          <c:orientation val="minMax"/>
          <c:max val="7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78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(≈30 sõna)
Tõstke käsi, kes teab, mida ta oma telefonipaketi eest kuus maksab. (paus)
Tuleva Kogum. Kord aastas küsib Tuleva kõigilt operaatoritelt ühe hinna ja sina ainult allkirjastad. Väljakutse kolm: kollektiivne ostujõud.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(≈55 sõna)
Kadri on 38. Ta helistas operaatorile, kauples ja sai piiramatu paketi 15,50 euroga. Aga ainult 24 kuuks. 25. kuul on arve 34,99, see on 126% rohkem, ja ring algab otsast. Võrdlusportaal teda ei aita, sest teenib operaatori vahendustasust. Üksi pole Kadril läbirääkimisjõudu. Tuhandel inimesel on.
Küsimuseks: liikmeküsitluses (13.04–03.05.2026, 5 014 vastajat) pidas 83% püsikulusid probleemiks. Eestis on 1,8 mln lepingulist mobiilikasutajat (TTJA 2025).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0:40–1:37 · video 49 s (</a:t>
            </a:r>
            <a:r>
              <a:rPr dirty="0" err="1"/>
              <a:t>ainult</a:t>
            </a:r>
            <a:r>
              <a:rPr dirty="0"/>
              <a:t> </a:t>
            </a:r>
            <a:r>
              <a:rPr dirty="0" err="1"/>
              <a:t>liikme</a:t>
            </a:r>
            <a:r>
              <a:rPr dirty="0"/>
              <a:t> </a:t>
            </a:r>
            <a:r>
              <a:rPr dirty="0" err="1"/>
              <a:t>vaade</a:t>
            </a:r>
            <a:r>
              <a:rPr dirty="0"/>
              <a:t>), </a:t>
            </a:r>
            <a:r>
              <a:rPr dirty="0" err="1"/>
              <a:t>käivita</a:t>
            </a:r>
            <a:r>
              <a:rPr dirty="0"/>
              <a:t> </a:t>
            </a:r>
            <a:r>
              <a:rPr dirty="0" err="1"/>
              <a:t>klikiga</a:t>
            </a:r>
            <a:r>
              <a:rPr dirty="0"/>
              <a:t>. </a:t>
            </a:r>
            <a:r>
              <a:rPr dirty="0" err="1"/>
              <a:t>Räägi</a:t>
            </a:r>
            <a:r>
              <a:rPr dirty="0"/>
              <a:t> </a:t>
            </a:r>
            <a:r>
              <a:rPr dirty="0" err="1"/>
              <a:t>seda</a:t>
            </a:r>
            <a:r>
              <a:rPr dirty="0"/>
              <a:t>, </a:t>
            </a:r>
            <a:r>
              <a:rPr dirty="0" err="1"/>
              <a:t>mida</a:t>
            </a:r>
            <a:r>
              <a:rPr dirty="0"/>
              <a:t> </a:t>
            </a:r>
            <a:r>
              <a:rPr dirty="0" err="1"/>
              <a:t>ekraanil</a:t>
            </a:r>
            <a:r>
              <a:rPr dirty="0"/>
              <a:t> </a:t>
            </a:r>
            <a:r>
              <a:rPr dirty="0" err="1"/>
              <a:t>ei</a:t>
            </a:r>
            <a:r>
              <a:rPr dirty="0"/>
              <a:t> </a:t>
            </a:r>
            <a:r>
              <a:rPr dirty="0" err="1"/>
              <a:t>näe</a:t>
            </a:r>
            <a:r>
              <a:rPr dirty="0"/>
              <a:t> (≈110 </a:t>
            </a:r>
            <a:r>
              <a:rPr dirty="0" err="1"/>
              <a:t>sõna</a:t>
            </a:r>
            <a:r>
              <a:rPr dirty="0"/>
              <a:t>). </a:t>
            </a:r>
            <a:r>
              <a:rPr dirty="0" err="1"/>
              <a:t>Pärast</a:t>
            </a:r>
            <a:r>
              <a:rPr dirty="0"/>
              <a:t> </a:t>
            </a:r>
            <a:r>
              <a:rPr dirty="0" err="1"/>
              <a:t>videot</a:t>
            </a:r>
            <a:r>
              <a:rPr dirty="0"/>
              <a:t> </a:t>
            </a:r>
            <a:r>
              <a:rPr dirty="0" err="1"/>
              <a:t>testimise</a:t>
            </a:r>
            <a:r>
              <a:rPr dirty="0"/>
              <a:t> </a:t>
            </a:r>
            <a:r>
              <a:rPr dirty="0" err="1"/>
              <a:t>lause</a:t>
            </a:r>
            <a:r>
              <a:rPr dirty="0"/>
              <a:t>.</a:t>
            </a:r>
          </a:p>
          <a:p>
            <a:endParaRPr dirty="0"/>
          </a:p>
          <a:p>
            <a:r>
              <a:rPr dirty="0"/>
              <a:t>[0–5 s, </a:t>
            </a:r>
            <a:r>
              <a:rPr dirty="0" err="1"/>
              <a:t>registreerumine</a:t>
            </a:r>
            <a:r>
              <a:rPr dirty="0"/>
              <a:t>] Kadri </a:t>
            </a:r>
            <a:r>
              <a:rPr dirty="0" err="1"/>
              <a:t>annab</a:t>
            </a:r>
            <a:r>
              <a:rPr dirty="0"/>
              <a:t> </a:t>
            </a:r>
            <a:r>
              <a:rPr dirty="0" err="1"/>
              <a:t>nõusoleku</a:t>
            </a:r>
            <a:r>
              <a:rPr dirty="0"/>
              <a:t> ja e-</a:t>
            </a:r>
            <a:r>
              <a:rPr dirty="0" err="1"/>
              <a:t>posti</a:t>
            </a:r>
            <a:r>
              <a:rPr dirty="0"/>
              <a:t>. </a:t>
            </a:r>
            <a:r>
              <a:rPr dirty="0" err="1"/>
              <a:t>Rohkem</a:t>
            </a:r>
            <a:r>
              <a:rPr dirty="0"/>
              <a:t> </a:t>
            </a:r>
            <a:r>
              <a:rPr dirty="0" err="1"/>
              <a:t>mitte</a:t>
            </a:r>
            <a:r>
              <a:rPr dirty="0"/>
              <a:t> </a:t>
            </a:r>
            <a:r>
              <a:rPr dirty="0" err="1"/>
              <a:t>midagi</a:t>
            </a:r>
            <a:r>
              <a:rPr dirty="0"/>
              <a:t>: </a:t>
            </a:r>
            <a:r>
              <a:rPr dirty="0" err="1"/>
              <a:t>ei</a:t>
            </a:r>
            <a:r>
              <a:rPr dirty="0"/>
              <a:t> </a:t>
            </a:r>
            <a:r>
              <a:rPr dirty="0" err="1"/>
              <a:t>paketti</a:t>
            </a:r>
            <a:r>
              <a:rPr dirty="0"/>
              <a:t>, </a:t>
            </a:r>
            <a:r>
              <a:rPr dirty="0" err="1"/>
              <a:t>ei</a:t>
            </a:r>
            <a:r>
              <a:rPr dirty="0"/>
              <a:t> </a:t>
            </a:r>
            <a:r>
              <a:rPr dirty="0" err="1"/>
              <a:t>hinda</a:t>
            </a:r>
            <a:r>
              <a:rPr dirty="0"/>
              <a:t>, </a:t>
            </a:r>
            <a:r>
              <a:rPr dirty="0" err="1"/>
              <a:t>ei</a:t>
            </a:r>
            <a:r>
              <a:rPr dirty="0"/>
              <a:t> </a:t>
            </a:r>
            <a:r>
              <a:rPr dirty="0" err="1"/>
              <a:t>isikukoodi</a:t>
            </a:r>
            <a:r>
              <a:rPr dirty="0"/>
              <a:t>.</a:t>
            </a:r>
          </a:p>
          <a:p>
            <a:r>
              <a:rPr dirty="0"/>
              <a:t>[5–9 s, Minu </a:t>
            </a:r>
            <a:r>
              <a:rPr dirty="0" err="1"/>
              <a:t>Kogum</a:t>
            </a:r>
            <a:r>
              <a:rPr dirty="0"/>
              <a:t>] </a:t>
            </a:r>
            <a:r>
              <a:rPr dirty="0" err="1"/>
              <a:t>Novembris</a:t>
            </a:r>
            <a:r>
              <a:rPr dirty="0"/>
              <a:t> </a:t>
            </a:r>
            <a:r>
              <a:rPr dirty="0" err="1"/>
              <a:t>küsib</a:t>
            </a:r>
            <a:r>
              <a:rPr dirty="0"/>
              <a:t> Tuleva </a:t>
            </a:r>
            <a:r>
              <a:rPr dirty="0" err="1"/>
              <a:t>kõigilt</a:t>
            </a:r>
            <a:r>
              <a:rPr dirty="0"/>
              <a:t> </a:t>
            </a:r>
            <a:r>
              <a:rPr dirty="0" err="1"/>
              <a:t>operaatoritelt</a:t>
            </a:r>
            <a:r>
              <a:rPr dirty="0"/>
              <a:t> </a:t>
            </a:r>
            <a:r>
              <a:rPr dirty="0" err="1"/>
              <a:t>ühe</a:t>
            </a:r>
            <a:r>
              <a:rPr dirty="0"/>
              <a:t> </a:t>
            </a:r>
            <a:r>
              <a:rPr dirty="0" err="1"/>
              <a:t>hinna</a:t>
            </a:r>
            <a:r>
              <a:rPr dirty="0"/>
              <a:t>.</a:t>
            </a:r>
          </a:p>
          <a:p>
            <a:r>
              <a:rPr dirty="0"/>
              <a:t>[9–21 s, </a:t>
            </a:r>
            <a:r>
              <a:rPr dirty="0" err="1"/>
              <a:t>pakkumine</a:t>
            </a:r>
            <a:r>
              <a:rPr dirty="0"/>
              <a:t>] </a:t>
            </a:r>
            <a:r>
              <a:rPr dirty="0" err="1"/>
              <a:t>Pakkumine</a:t>
            </a:r>
            <a:r>
              <a:rPr dirty="0"/>
              <a:t> on </a:t>
            </a:r>
            <a:r>
              <a:rPr dirty="0" err="1"/>
              <a:t>käes</a:t>
            </a:r>
            <a:r>
              <a:rPr dirty="0"/>
              <a:t>. 6,50 </a:t>
            </a:r>
            <a:r>
              <a:rPr dirty="0" err="1"/>
              <a:t>eurot</a:t>
            </a:r>
            <a:r>
              <a:rPr dirty="0"/>
              <a:t> on </a:t>
            </a:r>
            <a:r>
              <a:rPr dirty="0" err="1"/>
              <a:t>meie</a:t>
            </a:r>
            <a:r>
              <a:rPr dirty="0"/>
              <a:t> </a:t>
            </a:r>
            <a:r>
              <a:rPr dirty="0" err="1"/>
              <a:t>sihthind</a:t>
            </a:r>
            <a:r>
              <a:rPr dirty="0"/>
              <a:t>, </a:t>
            </a:r>
            <a:r>
              <a:rPr dirty="0" err="1"/>
              <a:t>mitte</a:t>
            </a:r>
            <a:r>
              <a:rPr dirty="0"/>
              <a:t> </a:t>
            </a:r>
            <a:r>
              <a:rPr dirty="0" err="1"/>
              <a:t>veel</a:t>
            </a:r>
            <a:r>
              <a:rPr dirty="0"/>
              <a:t> </a:t>
            </a:r>
            <a:r>
              <a:rPr dirty="0" err="1"/>
              <a:t>operaatori</a:t>
            </a:r>
            <a:r>
              <a:rPr dirty="0"/>
              <a:t> </a:t>
            </a:r>
            <a:r>
              <a:rPr dirty="0" err="1"/>
              <a:t>pakkumine</a:t>
            </a:r>
            <a:r>
              <a:rPr dirty="0"/>
              <a:t>. </a:t>
            </a:r>
            <a:r>
              <a:rPr dirty="0" err="1"/>
              <a:t>Tavahinna</a:t>
            </a:r>
            <a:r>
              <a:rPr dirty="0"/>
              <a:t> </a:t>
            </a:r>
            <a:r>
              <a:rPr dirty="0" err="1"/>
              <a:t>vastu</a:t>
            </a:r>
            <a:r>
              <a:rPr dirty="0"/>
              <a:t> </a:t>
            </a:r>
            <a:r>
              <a:rPr dirty="0" err="1"/>
              <a:t>säästab</a:t>
            </a:r>
            <a:r>
              <a:rPr dirty="0"/>
              <a:t> Kadri </a:t>
            </a:r>
            <a:r>
              <a:rPr dirty="0" err="1"/>
              <a:t>kuni</a:t>
            </a:r>
            <a:r>
              <a:rPr dirty="0"/>
              <a:t> 405 </a:t>
            </a:r>
            <a:r>
              <a:rPr dirty="0" err="1"/>
              <a:t>eurot</a:t>
            </a:r>
            <a:r>
              <a:rPr dirty="0"/>
              <a:t> </a:t>
            </a:r>
            <a:r>
              <a:rPr dirty="0" err="1"/>
              <a:t>aastas</a:t>
            </a:r>
            <a:r>
              <a:rPr dirty="0"/>
              <a:t>, </a:t>
            </a:r>
            <a:r>
              <a:rPr dirty="0" err="1"/>
              <a:t>kampaaniahinna</a:t>
            </a:r>
            <a:r>
              <a:rPr dirty="0"/>
              <a:t> </a:t>
            </a:r>
            <a:r>
              <a:rPr dirty="0" err="1"/>
              <a:t>vastu</a:t>
            </a:r>
            <a:r>
              <a:rPr dirty="0"/>
              <a:t> </a:t>
            </a:r>
            <a:r>
              <a:rPr dirty="0" err="1"/>
              <a:t>vähem</a:t>
            </a:r>
            <a:r>
              <a:rPr dirty="0"/>
              <a:t>. </a:t>
            </a:r>
            <a:r>
              <a:rPr dirty="0" err="1"/>
              <a:t>Sidumist</a:t>
            </a:r>
            <a:r>
              <a:rPr dirty="0"/>
              <a:t> pole. All on </a:t>
            </a:r>
            <a:r>
              <a:rPr dirty="0" err="1"/>
              <a:t>kirjas</a:t>
            </a:r>
            <a:r>
              <a:rPr dirty="0"/>
              <a:t>, </a:t>
            </a:r>
            <a:r>
              <a:rPr dirty="0" err="1"/>
              <a:t>mida</a:t>
            </a:r>
            <a:r>
              <a:rPr dirty="0"/>
              <a:t> Tuleva </a:t>
            </a:r>
            <a:r>
              <a:rPr dirty="0" err="1"/>
              <a:t>teenib</a:t>
            </a:r>
            <a:r>
              <a:rPr dirty="0"/>
              <a:t>: 1 euro </a:t>
            </a:r>
            <a:r>
              <a:rPr dirty="0" err="1"/>
              <a:t>kuus</a:t>
            </a:r>
            <a:r>
              <a:rPr dirty="0"/>
              <a:t>, </a:t>
            </a:r>
            <a:r>
              <a:rPr dirty="0" err="1"/>
              <a:t>kõigilt</a:t>
            </a:r>
            <a:r>
              <a:rPr dirty="0"/>
              <a:t> </a:t>
            </a:r>
            <a:r>
              <a:rPr dirty="0" err="1"/>
              <a:t>sama</a:t>
            </a:r>
            <a:r>
              <a:rPr dirty="0"/>
              <a:t>.</a:t>
            </a:r>
          </a:p>
          <a:p>
            <a:r>
              <a:rPr dirty="0"/>
              <a:t>[21–36 s, </a:t>
            </a:r>
            <a:r>
              <a:rPr dirty="0" err="1"/>
              <a:t>andmed</a:t>
            </a:r>
            <a:r>
              <a:rPr dirty="0"/>
              <a:t> ja </a:t>
            </a:r>
            <a:r>
              <a:rPr dirty="0" err="1"/>
              <a:t>leping</a:t>
            </a:r>
            <a:r>
              <a:rPr dirty="0"/>
              <a:t>] Kadri </a:t>
            </a:r>
            <a:r>
              <a:rPr dirty="0" err="1"/>
              <a:t>lisab</a:t>
            </a:r>
            <a:r>
              <a:rPr dirty="0"/>
              <a:t> </a:t>
            </a:r>
            <a:r>
              <a:rPr dirty="0" err="1"/>
              <a:t>nime</a:t>
            </a:r>
            <a:r>
              <a:rPr dirty="0"/>
              <a:t>, </a:t>
            </a:r>
            <a:r>
              <a:rPr dirty="0" err="1"/>
              <a:t>isikukoodi</a:t>
            </a:r>
            <a:r>
              <a:rPr dirty="0"/>
              <a:t> ja </a:t>
            </a:r>
            <a:r>
              <a:rPr dirty="0" err="1"/>
              <a:t>numbri</a:t>
            </a:r>
            <a:r>
              <a:rPr dirty="0"/>
              <a:t>. </a:t>
            </a:r>
            <a:r>
              <a:rPr dirty="0" err="1"/>
              <a:t>Leping</a:t>
            </a:r>
            <a:r>
              <a:rPr dirty="0"/>
              <a:t> on Kadri ja </a:t>
            </a:r>
            <a:r>
              <a:rPr dirty="0" err="1"/>
              <a:t>operaatori</a:t>
            </a:r>
            <a:r>
              <a:rPr dirty="0"/>
              <a:t> </a:t>
            </a:r>
            <a:r>
              <a:rPr dirty="0" err="1"/>
              <a:t>vahel</a:t>
            </a:r>
            <a:r>
              <a:rPr dirty="0"/>
              <a:t>, Tuleva </a:t>
            </a:r>
            <a:r>
              <a:rPr dirty="0" err="1"/>
              <a:t>ei</a:t>
            </a:r>
            <a:r>
              <a:rPr dirty="0"/>
              <a:t> ole pool. Kadri </a:t>
            </a:r>
            <a:r>
              <a:rPr dirty="0" err="1"/>
              <a:t>allkirjastab</a:t>
            </a:r>
            <a:r>
              <a:rPr dirty="0"/>
              <a:t>.</a:t>
            </a:r>
          </a:p>
          <a:p>
            <a:r>
              <a:rPr dirty="0"/>
              <a:t>[36–42 s, </a:t>
            </a:r>
            <a:r>
              <a:rPr dirty="0" err="1"/>
              <a:t>saadetud</a:t>
            </a:r>
            <a:r>
              <a:rPr dirty="0"/>
              <a:t>] Number </a:t>
            </a:r>
            <a:r>
              <a:rPr dirty="0" err="1"/>
              <a:t>jääb</a:t>
            </a:r>
            <a:r>
              <a:rPr dirty="0"/>
              <a:t> </a:t>
            </a:r>
            <a:r>
              <a:rPr dirty="0" err="1"/>
              <a:t>samaks</a:t>
            </a:r>
            <a:r>
              <a:rPr dirty="0"/>
              <a:t>, 14 </a:t>
            </a:r>
            <a:r>
              <a:rPr dirty="0" err="1"/>
              <a:t>päeva</a:t>
            </a:r>
            <a:r>
              <a:rPr dirty="0"/>
              <a:t> </a:t>
            </a:r>
            <a:r>
              <a:rPr dirty="0" err="1"/>
              <a:t>saab</a:t>
            </a:r>
            <a:r>
              <a:rPr dirty="0"/>
              <a:t> </a:t>
            </a:r>
            <a:r>
              <a:rPr dirty="0" err="1"/>
              <a:t>taganeda</a:t>
            </a:r>
            <a:r>
              <a:rPr dirty="0"/>
              <a:t>. Kadri </a:t>
            </a:r>
            <a:r>
              <a:rPr dirty="0" err="1"/>
              <a:t>ei</a:t>
            </a:r>
            <a:r>
              <a:rPr dirty="0"/>
              <a:t> </a:t>
            </a:r>
            <a:r>
              <a:rPr dirty="0" err="1"/>
              <a:t>pidanud</a:t>
            </a:r>
            <a:r>
              <a:rPr dirty="0"/>
              <a:t> </a:t>
            </a:r>
            <a:r>
              <a:rPr dirty="0" err="1"/>
              <a:t>kellelegi</a:t>
            </a:r>
            <a:r>
              <a:rPr dirty="0"/>
              <a:t> </a:t>
            </a:r>
            <a:r>
              <a:rPr dirty="0" err="1"/>
              <a:t>helistama</a:t>
            </a:r>
            <a:r>
              <a:rPr dirty="0"/>
              <a:t> </a:t>
            </a:r>
            <a:r>
              <a:rPr dirty="0" err="1"/>
              <a:t>ega</a:t>
            </a:r>
            <a:r>
              <a:rPr dirty="0"/>
              <a:t> </a:t>
            </a:r>
            <a:r>
              <a:rPr dirty="0" err="1"/>
              <a:t>kauplema</a:t>
            </a:r>
            <a:r>
              <a:rPr dirty="0"/>
              <a:t>.</a:t>
            </a:r>
          </a:p>
          <a:p>
            <a:r>
              <a:rPr dirty="0"/>
              <a:t>[42–49 s, </a:t>
            </a:r>
            <a:r>
              <a:rPr dirty="0" err="1"/>
              <a:t>aasta</a:t>
            </a:r>
            <a:r>
              <a:rPr dirty="0"/>
              <a:t> </a:t>
            </a:r>
            <a:r>
              <a:rPr dirty="0" err="1"/>
              <a:t>hiljem</a:t>
            </a:r>
            <a:r>
              <a:rPr dirty="0"/>
              <a:t>] Aasta </a:t>
            </a:r>
            <a:r>
              <a:rPr dirty="0" err="1"/>
              <a:t>pärast</a:t>
            </a:r>
            <a:r>
              <a:rPr dirty="0"/>
              <a:t> </a:t>
            </a:r>
            <a:r>
              <a:rPr dirty="0" err="1"/>
              <a:t>küsib</a:t>
            </a:r>
            <a:r>
              <a:rPr dirty="0"/>
              <a:t> Tuleva </a:t>
            </a:r>
            <a:r>
              <a:rPr dirty="0" err="1"/>
              <a:t>uuesti</a:t>
            </a:r>
            <a:r>
              <a:rPr dirty="0"/>
              <a:t>. Grupp on </a:t>
            </a:r>
            <a:r>
              <a:rPr dirty="0" err="1"/>
              <a:t>kasvanud</a:t>
            </a:r>
            <a:r>
              <a:rPr dirty="0"/>
              <a:t> ja hind </a:t>
            </a:r>
            <a:r>
              <a:rPr dirty="0" err="1"/>
              <a:t>langeb</a:t>
            </a:r>
            <a:r>
              <a:rPr dirty="0"/>
              <a:t> </a:t>
            </a:r>
            <a:r>
              <a:rPr dirty="0" err="1"/>
              <a:t>kõigil</a:t>
            </a:r>
            <a:r>
              <a:rPr dirty="0"/>
              <a:t>, ka </a:t>
            </a:r>
            <a:r>
              <a:rPr dirty="0" err="1"/>
              <a:t>Kadril</a:t>
            </a:r>
            <a:r>
              <a:rPr dirty="0"/>
              <a:t>. Tal pole </a:t>
            </a:r>
            <a:r>
              <a:rPr dirty="0" err="1"/>
              <a:t>vaja</a:t>
            </a:r>
            <a:r>
              <a:rPr dirty="0"/>
              <a:t> </a:t>
            </a:r>
            <a:r>
              <a:rPr dirty="0" err="1"/>
              <a:t>midagi</a:t>
            </a:r>
            <a:r>
              <a:rPr dirty="0"/>
              <a:t> </a:t>
            </a:r>
            <a:r>
              <a:rPr dirty="0" err="1"/>
              <a:t>teha</a:t>
            </a:r>
            <a:r>
              <a:rPr dirty="0"/>
              <a:t>.</a:t>
            </a:r>
          </a:p>
          <a:p>
            <a:endParaRPr dirty="0"/>
          </a:p>
          <a:p>
            <a:r>
              <a:rPr dirty="0"/>
              <a:t>TESTIMINE (</a:t>
            </a:r>
            <a:r>
              <a:rPr dirty="0" err="1"/>
              <a:t>kohustuslik</a:t>
            </a:r>
            <a:r>
              <a:rPr dirty="0"/>
              <a:t>, </a:t>
            </a:r>
            <a:r>
              <a:rPr dirty="0" err="1"/>
              <a:t>üks</a:t>
            </a:r>
            <a:r>
              <a:rPr dirty="0"/>
              <a:t> </a:t>
            </a:r>
            <a:r>
              <a:rPr dirty="0" err="1"/>
              <a:t>lause</a:t>
            </a:r>
            <a:r>
              <a:rPr dirty="0"/>
              <a:t>): [</a:t>
            </a:r>
            <a:r>
              <a:rPr dirty="0" err="1"/>
              <a:t>mida</a:t>
            </a:r>
            <a:r>
              <a:rPr dirty="0"/>
              <a:t> </a:t>
            </a:r>
            <a:r>
              <a:rPr dirty="0" err="1"/>
              <a:t>testisite</a:t>
            </a:r>
            <a:r>
              <a:rPr dirty="0"/>
              <a:t> ja mis </a:t>
            </a:r>
            <a:r>
              <a:rPr dirty="0" err="1"/>
              <a:t>selgus</a:t>
            </a:r>
            <a:r>
              <a:rPr dirty="0"/>
              <a:t>]. Kui </a:t>
            </a:r>
            <a:r>
              <a:rPr dirty="0" err="1"/>
              <a:t>ei</a:t>
            </a:r>
            <a:r>
              <a:rPr dirty="0"/>
              <a:t> </a:t>
            </a:r>
            <a:r>
              <a:rPr dirty="0" err="1"/>
              <a:t>jõudnud</a:t>
            </a:r>
            <a:r>
              <a:rPr dirty="0"/>
              <a:t>: „</a:t>
            </a:r>
            <a:r>
              <a:rPr dirty="0" err="1"/>
              <a:t>Testida</a:t>
            </a:r>
            <a:r>
              <a:rPr dirty="0"/>
              <a:t> me </a:t>
            </a:r>
            <a:r>
              <a:rPr dirty="0" err="1"/>
              <a:t>veel</a:t>
            </a:r>
            <a:r>
              <a:rPr dirty="0"/>
              <a:t> </a:t>
            </a:r>
            <a:r>
              <a:rPr dirty="0" err="1"/>
              <a:t>ei</a:t>
            </a:r>
            <a:r>
              <a:rPr dirty="0"/>
              <a:t> </a:t>
            </a:r>
            <a:r>
              <a:rPr dirty="0" err="1"/>
              <a:t>jõudnud</a:t>
            </a:r>
            <a:r>
              <a:rPr dirty="0"/>
              <a:t>. </a:t>
            </a:r>
            <a:r>
              <a:rPr dirty="0" err="1"/>
              <a:t>Esimene</a:t>
            </a:r>
            <a:r>
              <a:rPr dirty="0"/>
              <a:t> test on </a:t>
            </a:r>
            <a:r>
              <a:rPr dirty="0" err="1"/>
              <a:t>registreerumisvorm</a:t>
            </a:r>
            <a:r>
              <a:rPr dirty="0"/>
              <a:t>: </a:t>
            </a:r>
            <a:r>
              <a:rPr dirty="0" err="1"/>
              <a:t>kui</a:t>
            </a:r>
            <a:r>
              <a:rPr dirty="0"/>
              <a:t> </a:t>
            </a:r>
            <a:r>
              <a:rPr dirty="0" err="1"/>
              <a:t>tuhat</a:t>
            </a:r>
            <a:r>
              <a:rPr dirty="0"/>
              <a:t> </a:t>
            </a:r>
            <a:r>
              <a:rPr dirty="0" err="1"/>
              <a:t>inimest</a:t>
            </a:r>
            <a:r>
              <a:rPr dirty="0"/>
              <a:t> </a:t>
            </a:r>
            <a:r>
              <a:rPr dirty="0" err="1"/>
              <a:t>ei</a:t>
            </a:r>
            <a:r>
              <a:rPr dirty="0"/>
              <a:t> </a:t>
            </a:r>
            <a:r>
              <a:rPr dirty="0" err="1"/>
              <a:t>registreeru</a:t>
            </a:r>
            <a:r>
              <a:rPr dirty="0"/>
              <a:t>, </a:t>
            </a:r>
            <a:r>
              <a:rPr dirty="0" err="1"/>
              <a:t>hanget</a:t>
            </a:r>
            <a:r>
              <a:rPr dirty="0"/>
              <a:t> </a:t>
            </a:r>
            <a:r>
              <a:rPr dirty="0" err="1"/>
              <a:t>ei</a:t>
            </a:r>
            <a:r>
              <a:rPr dirty="0"/>
              <a:t> tee.”</a:t>
            </a:r>
          </a:p>
          <a:p>
            <a:endParaRPr dirty="0"/>
          </a:p>
          <a:p>
            <a:r>
              <a:rPr dirty="0" err="1"/>
              <a:t>Varuplaan</a:t>
            </a:r>
            <a:r>
              <a:rPr dirty="0"/>
              <a:t>: </a:t>
            </a:r>
            <a:r>
              <a:rPr dirty="0" err="1"/>
              <a:t>kui</a:t>
            </a:r>
            <a:r>
              <a:rPr dirty="0"/>
              <a:t> video </a:t>
            </a:r>
            <a:r>
              <a:rPr dirty="0" err="1"/>
              <a:t>ei</a:t>
            </a:r>
            <a:r>
              <a:rPr dirty="0"/>
              <a:t> </a:t>
            </a:r>
            <a:r>
              <a:rPr dirty="0" err="1"/>
              <a:t>käivitu</a:t>
            </a:r>
            <a:r>
              <a:rPr dirty="0"/>
              <a:t>, ava </a:t>
            </a:r>
            <a:r>
              <a:rPr dirty="0" err="1"/>
              <a:t>prototuup</a:t>
            </a:r>
            <a:r>
              <a:rPr dirty="0"/>
              <a:t>/</a:t>
            </a:r>
            <a:r>
              <a:rPr dirty="0" err="1"/>
              <a:t>ekraanid</a:t>
            </a:r>
            <a:r>
              <a:rPr dirty="0"/>
              <a:t> </a:t>
            </a:r>
            <a:r>
              <a:rPr dirty="0" err="1"/>
              <a:t>pildid</a:t>
            </a:r>
            <a:r>
              <a:rPr dirty="0"/>
              <a:t> </a:t>
            </a:r>
            <a:r>
              <a:rPr dirty="0" err="1"/>
              <a:t>või</a:t>
            </a:r>
            <a:r>
              <a:rPr dirty="0"/>
              <a:t> </a:t>
            </a:r>
            <a:r>
              <a:rPr dirty="0" err="1"/>
              <a:t>index.html</a:t>
            </a:r>
            <a:r>
              <a:rPr dirty="0"/>
              <a:t> ja </a:t>
            </a:r>
            <a:r>
              <a:rPr dirty="0" err="1"/>
              <a:t>räägi</a:t>
            </a:r>
            <a:r>
              <a:rPr dirty="0"/>
              <a:t> </a:t>
            </a:r>
            <a:r>
              <a:rPr dirty="0" err="1"/>
              <a:t>sama</a:t>
            </a:r>
            <a:r>
              <a:rPr dirty="0"/>
              <a:t> </a:t>
            </a:r>
            <a:r>
              <a:rPr dirty="0" err="1"/>
              <a:t>teksti</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1:37–2:10 (≈60 sõna)</a:t>
            </a:r>
          </a:p>
          <a:p>
            <a:r>
              <a:t>Ühishange pole uus: Hispaania tarbijaühing OCU tegi seda 2014. Tuleva teeb kolm asja teisiti. Tasu on 1 euro kuus, avalik ja kõigilt sama. Tuleva on ühistu ja kuulub liikmetele, mitte investoritele, seega pole meil põhjust kedagi kallima paketi poole lükata. Ja 85 745 inimest usaldavad Tulevat juba oma pensioniga. Tegime nähtavaks fondide tasud. Nüüd teeme sama telefoniarvega.</a:t>
            </a:r>
          </a:p>
          <a:p>
            <a:endParaRPr/>
          </a:p>
          <a:p>
            <a:r>
              <a:t>Küsimuseks: „Osaleda saavad kõik, mitte ainult liikmed?” Jah, mida rohkem osalejaid, seda tugevam ostujõud. Teenus jääb liikmete omaks ja tasu on kõigile sama. „Operaator maksab teile?” Tasu on fikseeritud ja avalik, sama igalt operaatorilt. See ei sõltu sellest, kes võidab ega millise paketi liige valib (varuslaid „Kes maksab 1 €?”).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2:10–2:37 (≈55 sõna)</a:t>
            </a:r>
          </a:p>
          <a:p>
            <a:r>
              <a:t>Operaator maksab Tulevale 1 euro kuus iga lepingu pealt: mobiil, kodune internet ja telepakett eraldi. Liikmele on see tasuta ja summa on kõigilt sama. Suurim kulu on üks inimene, umbes 69 000 eurot aastas, teisest aastast pool sellest mobiilile. Esimese hanke teeme käsitsi. Jooksva kulu katab umbes 5 750 lepingut. Baasprognoosis on kuutulu kuukulust suurem 16. kuul.</a:t>
            </a:r>
          </a:p>
          <a:p>
            <a:endParaRPr/>
          </a:p>
          <a:p>
            <a:r>
              <a:t>Küsimuseks: 34 500 € ÷ 12 € ≈ 2 900 lepingut (docs/13). Jooksev kulu kaetud: baas 16. kuul, optimistlik 13. kuul, pessimistlik mitte kunagi. Kumulatiivselt tasa: baas 5. aastal, optimistlik 2. aastal. Kui kogu 69 000 € läheks mobiilile, oleks vaja 5 750 lepingut ja baasis juhtuks see umbes 50. kuul. Prognoos arvestab ainult 9 560 liiget, avatud hange annab rohkem. Pessimistlik ei tasu end ära. Kui hind pole vähemalt 2 € alla turu parima, hanget ei toimu. IT 3 000–36 000 € 1. aastal (hinnang). Graafik varuslaidil.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2:37–2:47 (≈20 sõna)</a:t>
            </a:r>
          </a:p>
          <a:p>
            <a:r>
              <a:t>Mobiilside on alles algus. Sama ühist ostujõudu saab kasutada elektris, kindlustuses ja ühistellimustes.</a:t>
            </a:r>
          </a:p>
          <a:p>
            <a:endParaRPr/>
          </a:p>
          <a:p>
            <a:r>
              <a:t>Küsimuseks: iga valdkond vajab eraldi analüüsi. Kindlustuses on vaja vahendaja tegevusluba, elektris on sääst pigem õiges paketis kui grupihinnas.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2:47–3:00 (≈40 sõna)</a:t>
            </a:r>
          </a:p>
          <a:p>
            <a:r>
              <a:t>Järgmised sammud: avame registreerumise Tuleva kogukonnas, saadame hankepäringu kõigile operaatoritele ja teeme esimese hanke käsitsi. Selleks vajame Tuleva otsust ja ühte inimest, õigus- ja andmekaitseanalüüsi ning kontakti operaatoritega. Üksi pole sul läbirääkimisjõudu. Tuhandel inimesel on.</a:t>
            </a:r>
          </a:p>
          <a:p>
            <a:endParaRPr/>
          </a:p>
          <a:p>
            <a:r>
              <a:t>Jäta see slaid küsimuste ajaks ekraanile.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 küsitakse tasuvust. Baas: 2 670 / 5 130 / 6 180 lepingut 1./3./5. aasta lõpus, tulu 16,0k / 51,9k / 66,1k €. Kulu mobiilile 1. aastal 69 000 €, edasi 34 500 €. Kui kogu kulu oleks mobiilil, kataks tulu 5. aastal 96%. Pessimistlik (10% registreerub, 30% vahetab) ei tasu end ära. OCU energiahankes vahetas umbes 10% registreerunutest, mudel eeldab 45%: see on suurim risk.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 küsitakse, kust numbrid tulevad. Pessimistlik: 10% registreerub, 30% vahetab. Optimistlik: 30% ja 56%, 1. aasta lõpus 5 450 lepingut.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Arvutus: (15,50 − 6,50) × 12 = 108 €. 3 aastat: kampaania 24 × 15,50 + 12 × 34,99 = 791,88 €; Kogum 36 × 6,50 = 234 €; vahe ≈ 558 €. Hanke lae 13,50 € juures oleks 3 aasta vahe ≈ 306 €.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OCU registreerunuid 92 500, 50 261, 17 400. Võitja kõik kolm korda MásMóvil. Tasu tekitas vaidlusi ja osa pakkujaid jäi eemale. Vahetajate arvu OCU ei avaldanud, energiahankes vahetas umbes 10%.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 küsitakse huvide konflikti kohta. Kuni 10.10 oli meie põhimõte „Tuleva ei võta operaatorilt vahendustasu”. Fikseeritud ja avalik tasu ei mõjuta võitja valikut, aga lõpuks maksab selle ikkagi liige hinna sees. Seepärast küsime hinnapäringus kaks hinda.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Suurim teadmatus: kas operaator üldse pakub piisavalt head hinda. Teine: vahetajate osakaal.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as">
    <p:bg>
      <p:bgPr>
        <a:solidFill>
          <a:schemeClr val="bg2"/>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2"/>
          <a:stretch>
            <a:fillRect/>
          </a:stretch>
        </p:blipFill>
        <p:spPr>
          <a:xfrm>
            <a:off x="548640" y="502920"/>
            <a:ext cx="1417320" cy="640080"/>
          </a:xfrm>
          <a:prstGeom prst="rect">
            <a:avLst/>
          </a:prstGeom>
        </p:spPr>
      </p:pic>
      <p:sp>
        <p:nvSpPr>
          <p:cNvPr id="3" name="Shape 0"/>
          <p:cNvSpPr/>
          <p:nvPr/>
        </p:nvSpPr>
        <p:spPr>
          <a:xfrm>
            <a:off x="2148840" y="548640"/>
            <a:ext cx="0" cy="548640"/>
          </a:xfrm>
          <a:prstGeom prst="line">
            <a:avLst/>
          </a:prstGeom>
          <a:noFill/>
          <a:ln w="12700">
            <a:solidFill>
              <a:schemeClr val="accent4"/>
            </a:solidFill>
            <a:prstDash val="solid"/>
          </a:ln>
        </p:spPr>
        <p:txBody>
          <a:bodyPr/>
          <a:lstStyle/>
          <a:p>
            <a:endParaRPr lang="en-US"/>
          </a:p>
        </p:txBody>
      </p:sp>
      <p:sp>
        <p:nvSpPr>
          <p:cNvPr id="4" name="Text 1"/>
          <p:cNvSpPr/>
          <p:nvPr/>
        </p:nvSpPr>
        <p:spPr>
          <a:xfrm>
            <a:off x="2286000" y="548640"/>
            <a:ext cx="1828800" cy="228600"/>
          </a:xfrm>
          <a:prstGeom prst="rect">
            <a:avLst/>
          </a:prstGeom>
          <a:noFill/>
          <a:ln/>
        </p:spPr>
        <p:txBody>
          <a:bodyPr wrap="square" lIns="0" tIns="0" rIns="0" bIns="0" rtlCol="0" anchor="ctr"/>
          <a:lstStyle/>
          <a:p>
            <a:pPr marL="0" indent="0">
              <a:buNone/>
            </a:pPr>
            <a:r>
              <a:rPr lang="en-US" sz="900" b="1" kern="0" spc="200" dirty="0">
                <a:solidFill>
                  <a:schemeClr val="accent2"/>
                </a:solidFill>
              </a:rPr>
              <a:t>LIIKMETE</a:t>
            </a:r>
            <a:endParaRPr lang="en-US" sz="900" dirty="0"/>
          </a:p>
        </p:txBody>
      </p:sp>
      <p:sp>
        <p:nvSpPr>
          <p:cNvPr id="5" name="Text 2"/>
          <p:cNvSpPr/>
          <p:nvPr/>
        </p:nvSpPr>
        <p:spPr>
          <a:xfrm>
            <a:off x="2286000" y="768096"/>
            <a:ext cx="1828800" cy="320040"/>
          </a:xfrm>
          <a:prstGeom prst="rect">
            <a:avLst/>
          </a:prstGeom>
          <a:noFill/>
          <a:ln/>
        </p:spPr>
        <p:txBody>
          <a:bodyPr wrap="square" lIns="0" tIns="0" rIns="0" bIns="0" rtlCol="0" anchor="ctr"/>
          <a:lstStyle/>
          <a:p>
            <a:pPr marL="0" indent="0">
              <a:buNone/>
            </a:pPr>
            <a:r>
              <a:rPr lang="en-US" sz="1500" b="1" dirty="0">
                <a:solidFill>
                  <a:schemeClr val="tx2"/>
                </a:solidFill>
              </a:rPr>
              <a:t>Häkaton</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su">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6355080"/>
            <a:ext cx="10362895" cy="274320"/>
          </a:xfrm>
          <a:prstGeom prst="rect">
            <a:avLst/>
          </a:prstGeom>
          <a:noFill/>
          <a:ln/>
        </p:spPr>
        <p:txBody>
          <a:bodyPr wrap="square" rtlCol="0"/>
          <a:lstStyle>
            <a:lvl1pPr marL="0" indent="0">
              <a:buNone/>
              <a:defRPr lang="en-US" sz="1000" dirty="0">
                <a:solidFill>
                  <a:schemeClr val="accent3"/>
                </a:solidFill>
              </a:defRPr>
            </a:lvl1pPr>
          </a:lstStyle>
          <a:p>
            <a:pPr marL="0" indent="0">
              <a:buNone/>
            </a:pPr>
            <a:endParaRPr lang="en-US" sz="1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ideo">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aru">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 cy="228600"/>
          </a:xfrm>
          <a:prstGeom prst="rect">
            <a:avLst/>
          </a:prstGeom>
          <a:noFill/>
          <a:ln/>
        </p:spPr>
        <p:txBody>
          <a:bodyPr wrap="square" lIns="0" tIns="0" rIns="0" bIns="0" rtlCol="0" anchor="ctr"/>
          <a:lstStyle/>
          <a:p>
            <a:pPr marL="0" indent="0">
              <a:buNone/>
            </a:pPr>
            <a:r>
              <a:rPr lang="en-US" sz="900" b="1" kern="0" spc="200" dirty="0">
                <a:solidFill>
                  <a:schemeClr val="accent2"/>
                </a:solidFill>
              </a:rPr>
              <a:t>VARU</a:t>
            </a:r>
            <a:endParaRPr lang="en-US" sz="900" dirty="0"/>
          </a:p>
        </p:txBody>
      </p:sp>
      <p:sp>
        <p:nvSpPr>
          <p:cNvPr id="3" name="Text 1"/>
          <p:cNvSpPr>
            <a:spLocks noGrp="1"/>
          </p:cNvSpPr>
          <p:nvPr>
            <p:ph type="title" idx="101" hasCustomPrompt="1"/>
          </p:nvPr>
        </p:nvSpPr>
        <p:spPr>
          <a:xfrm>
            <a:off x="548640" y="502920"/>
            <a:ext cx="11094415"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1"/>
          <p:cNvSpPr>
            <a:spLocks noGrp="1"/>
          </p:cNvSpPr>
          <p:nvPr>
            <p:ph type="body" idx="102" hasCustomPrompt="1"/>
          </p:nvPr>
        </p:nvSpPr>
        <p:spPr>
          <a:xfrm>
            <a:off x="548640" y="6355080"/>
            <a:ext cx="10362895" cy="274320"/>
          </a:xfrm>
          <a:prstGeom prst="rect">
            <a:avLst/>
          </a:prstGeom>
          <a:noFill/>
          <a:ln/>
        </p:spPr>
        <p:txBody>
          <a:bodyPr wrap="square" rtlCol="0"/>
          <a:lstStyle>
            <a:lvl1pPr marL="0" indent="0">
              <a:buNone/>
              <a:defRPr lang="en-US" sz="1000" dirty="0">
                <a:solidFill>
                  <a:schemeClr val="accent3"/>
                </a:solidFill>
              </a:defRPr>
            </a:lvl1pPr>
          </a:lstStyle>
          <a:p>
            <a:pPr marL="0" indent="0">
              <a:buNone/>
            </a:pPr>
            <a:endParaRPr lang="en-US" sz="1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Nimi"/>
          <p:cNvSpPr txBox="1"/>
          <p:nvPr/>
        </p:nvSpPr>
        <p:spPr>
          <a:xfrm>
            <a:off x="548640" y="2011680"/>
            <a:ext cx="8229600" cy="1188720"/>
          </a:xfrm>
          <a:prstGeom prst="rect">
            <a:avLst/>
          </a:prstGeom>
          <a:noFill/>
          <a:ln/>
        </p:spPr>
        <p:txBody>
          <a:bodyPr wrap="square" lIns="0" tIns="0" rIns="0" bIns="0" rtlCol="0" anchor="ctr"/>
          <a:lstStyle/>
          <a:p>
            <a:pPr marL="0" indent="0">
              <a:buNone/>
            </a:pPr>
            <a:r>
              <a:rPr lang="en-US" sz="6600" b="1" dirty="0">
                <a:solidFill>
                  <a:schemeClr val="tx2"/>
                </a:solidFill>
                <a:latin typeface="Roboto" pitchFamily="34" charset="0"/>
                <a:ea typeface="Roboto" pitchFamily="34" charset="-122"/>
                <a:cs typeface="Roboto" pitchFamily="34" charset="-120"/>
              </a:rPr>
              <a:t>Tuleva Kogum</a:t>
            </a:r>
            <a:endParaRPr lang="en-US" sz="6600" dirty="0"/>
          </a:p>
        </p:txBody>
      </p:sp>
      <p:sp>
        <p:nvSpPr>
          <p:cNvPr id="3" name="Lause"/>
          <p:cNvSpPr txBox="1"/>
          <p:nvPr/>
        </p:nvSpPr>
        <p:spPr>
          <a:xfrm>
            <a:off x="548640" y="3291840"/>
            <a:ext cx="7863840" cy="914400"/>
          </a:xfrm>
          <a:prstGeom prst="rect">
            <a:avLst/>
          </a:prstGeom>
          <a:noFill/>
          <a:ln/>
        </p:spPr>
        <p:txBody>
          <a:bodyPr wrap="square" lIns="0" tIns="0" rIns="0" bIns="0" rtlCol="0" anchor="ctr"/>
          <a:lstStyle/>
          <a:p>
            <a:pPr marL="0" indent="0">
              <a:buNone/>
            </a:pPr>
            <a:r>
              <a:rPr lang="en-US" sz="2400" dirty="0">
                <a:solidFill>
                  <a:schemeClr val="tx1"/>
                </a:solidFill>
                <a:latin typeface="Roboto" pitchFamily="34" charset="0"/>
                <a:ea typeface="Roboto" pitchFamily="34" charset="-122"/>
                <a:cs typeface="Roboto" pitchFamily="34" charset="-120"/>
              </a:rPr>
              <a:t>Soodsam mobiilipakett ühe allkirjaga: ilma kauplemata ja ilma 24 kuu sidumiseta.</a:t>
            </a:r>
            <a:endParaRPr lang="en-US" sz="2400" dirty="0"/>
          </a:p>
        </p:txBody>
      </p:sp>
      <p:sp>
        <p:nvSpPr>
          <p:cNvPr id="4" name="Tiim"/>
          <p:cNvSpPr txBox="1"/>
          <p:nvPr/>
        </p:nvSpPr>
        <p:spPr>
          <a:xfrm>
            <a:off x="548640" y="5120640"/>
            <a:ext cx="7315200" cy="731520"/>
          </a:xfrm>
          <a:prstGeom prst="rect">
            <a:avLst/>
          </a:prstGeom>
          <a:noFill/>
          <a:ln/>
        </p:spPr>
        <p:txBody>
          <a:bodyPr wrap="square" lIns="0" tIns="0" rIns="0" bIns="0" rtlCol="0" anchor="ctr"/>
          <a:lstStyle/>
          <a:p>
            <a:pPr marL="0" indent="0">
              <a:buNone/>
            </a:pPr>
            <a:r>
              <a:rPr lang="en-US" sz="1400" b="1" dirty="0">
                <a:solidFill>
                  <a:schemeClr val="tx2"/>
                </a:solidFill>
                <a:latin typeface="Roboto" pitchFamily="34" charset="0"/>
                <a:ea typeface="Roboto" pitchFamily="34" charset="-122"/>
                <a:cs typeface="Roboto" pitchFamily="34" charset="-120"/>
              </a:rPr>
              <a:t>Väljakutse 3 · Kollektiivne ostujõud</a:t>
            </a:r>
            <a:endParaRPr lang="en-US" sz="1400" dirty="0"/>
          </a:p>
          <a:p>
            <a:pPr marL="0" indent="0">
              <a:buNone/>
            </a:pPr>
            <a:r>
              <a:rPr lang="en-US" sz="1400" dirty="0">
                <a:solidFill>
                  <a:schemeClr val="accent3"/>
                </a:solidFill>
                <a:latin typeface="Roboto" pitchFamily="34" charset="0"/>
                <a:ea typeface="Roboto" pitchFamily="34" charset="-122"/>
                <a:cs typeface="Roboto" pitchFamily="34" charset="-120"/>
              </a:rPr>
              <a:t>Tiim: Ülari Laurson, Taavi Pertman, Marju Maantoa, Mikk Mereküla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2"/>
                </a:solidFill>
              </a:rPr>
              <a:t>Hea hind kehtib 24 kuud, siis tõuseb see 126%</a:t>
            </a:r>
            <a:endParaRPr lang="en-US" sz="3400" dirty="0"/>
          </a:p>
        </p:txBody>
      </p:sp>
      <p:graphicFrame>
        <p:nvGraphicFramePr>
          <p:cNvPr id="3" name="Hinnakõver"/>
          <p:cNvGraphicFramePr/>
          <p:nvPr/>
        </p:nvGraphicFramePr>
        <p:xfrm>
          <a:off x="548640" y="1371600"/>
          <a:ext cx="76809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Kadri"/>
          <p:cNvSpPr/>
          <p:nvPr/>
        </p:nvSpPr>
        <p:spPr>
          <a:xfrm>
            <a:off x="8595360" y="1463040"/>
            <a:ext cx="3044952" cy="3749039"/>
          </a:xfrm>
          <a:prstGeom prst="roundRect">
            <a:avLst>
              <a:gd name="adj" fmla="val 2402"/>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869680" y="1691640"/>
            <a:ext cx="2560320" cy="365760"/>
          </a:xfrm>
          <a:prstGeom prst="rect">
            <a:avLst/>
          </a:prstGeom>
          <a:noFill/>
          <a:ln/>
        </p:spPr>
        <p:txBody>
          <a:bodyPr wrap="square" lIns="0" tIns="0" rIns="0" bIns="0" rtlCol="0" anchor="ctr"/>
          <a:lstStyle/>
          <a:p>
            <a:pPr marL="0" indent="0">
              <a:buNone/>
            </a:pPr>
            <a:r>
              <a:rPr lang="en-US" sz="1800" b="1" dirty="0">
                <a:solidFill>
                  <a:schemeClr val="tx2"/>
                </a:solidFill>
                <a:latin typeface="Roboto" pitchFamily="34" charset="0"/>
                <a:ea typeface="Roboto" pitchFamily="34" charset="-122"/>
                <a:cs typeface="Roboto" pitchFamily="34" charset="-120"/>
              </a:rPr>
              <a:t>Kadri, 38</a:t>
            </a:r>
            <a:endParaRPr lang="en-US" sz="1800" dirty="0"/>
          </a:p>
        </p:txBody>
      </p:sp>
      <p:sp>
        <p:nvSpPr>
          <p:cNvPr id="6" name="Text 3"/>
          <p:cNvSpPr txBox="1"/>
          <p:nvPr/>
        </p:nvSpPr>
        <p:spPr>
          <a:xfrm>
            <a:off x="8869680" y="2103120"/>
            <a:ext cx="2560320" cy="1463040"/>
          </a:xfrm>
          <a:prstGeom prst="rect">
            <a:avLst/>
          </a:prstGeom>
          <a:noFill/>
          <a:ln/>
        </p:spPr>
        <p:txBody>
          <a:bodyPr wrap="square" lIns="0" tIns="0" rIns="0" bIns="0" rtlCol="0" anchor="t"/>
          <a:lstStyle/>
          <a:p>
            <a:pPr marL="0" indent="0">
              <a:buNone/>
            </a:pPr>
            <a:r>
              <a:rPr lang="en-US" sz="1600" dirty="0">
                <a:solidFill>
                  <a:schemeClr val="tx1"/>
                </a:solidFill>
                <a:latin typeface="Roboto" pitchFamily="34" charset="0"/>
                <a:ea typeface="Roboto" pitchFamily="34" charset="-122"/>
                <a:cs typeface="Roboto" pitchFamily="34" charset="-120"/>
              </a:rPr>
              <a:t>Kauples operaatoriga ja sai piiramatu paketi 15,50 € eest. 25. kuul on arve 34,99 € ja ring algab otsast.</a:t>
            </a:r>
            <a:endParaRPr lang="en-US" sz="1500" dirty="0"/>
          </a:p>
        </p:txBody>
      </p:sp>
      <p:sp>
        <p:nvSpPr>
          <p:cNvPr id="7" name="Text 4"/>
          <p:cNvSpPr txBox="1"/>
          <p:nvPr/>
        </p:nvSpPr>
        <p:spPr>
          <a:xfrm>
            <a:off x="8869680" y="3657600"/>
            <a:ext cx="2560320" cy="822960"/>
          </a:xfrm>
          <a:prstGeom prst="rect">
            <a:avLst/>
          </a:prstGeom>
          <a:noFill/>
          <a:ln/>
        </p:spPr>
        <p:txBody>
          <a:bodyPr wrap="square" lIns="0" tIns="0" rIns="0" bIns="0" rtlCol="0" anchor="ctr"/>
          <a:lstStyle/>
          <a:p>
            <a:pPr marL="0" indent="0">
              <a:buNone/>
            </a:pPr>
            <a:r>
              <a:rPr lang="en-US" sz="4800" b="1" dirty="0">
                <a:solidFill>
                  <a:schemeClr val="tx2"/>
                </a:solidFill>
                <a:latin typeface="Roboto" pitchFamily="34" charset="0"/>
                <a:ea typeface="Roboto" pitchFamily="34" charset="-122"/>
                <a:cs typeface="Roboto" pitchFamily="34" charset="-120"/>
              </a:rPr>
              <a:t>+126%</a:t>
            </a:r>
            <a:endParaRPr lang="en-US" sz="4800" dirty="0"/>
          </a:p>
        </p:txBody>
      </p:sp>
      <p:sp>
        <p:nvSpPr>
          <p:cNvPr id="8" name="Text 5"/>
          <p:cNvSpPr txBox="1"/>
          <p:nvPr/>
        </p:nvSpPr>
        <p:spPr>
          <a:xfrm>
            <a:off x="8869680" y="4480560"/>
            <a:ext cx="2560320" cy="548640"/>
          </a:xfrm>
          <a:prstGeom prst="rect">
            <a:avLst/>
          </a:prstGeom>
          <a:noFill/>
          <a:ln/>
        </p:spPr>
        <p:txBody>
          <a:bodyPr wrap="square" lIns="0" tIns="0" rIns="0" bIns="0" rtlCol="0" anchor="t"/>
          <a:lstStyle/>
          <a:p>
            <a:pPr marL="0" indent="0">
              <a:buNone/>
            </a:pPr>
            <a:r>
              <a:rPr lang="en-US" sz="1300" dirty="0">
                <a:solidFill>
                  <a:schemeClr val="accent3"/>
                </a:solidFill>
                <a:latin typeface="Roboto" pitchFamily="34" charset="0"/>
                <a:ea typeface="Roboto" pitchFamily="34" charset="-122"/>
                <a:cs typeface="Roboto" pitchFamily="34" charset="-120"/>
              </a:rPr>
              <a:t>hinnatõus, kui kampaania lõpeb</a:t>
            </a:r>
            <a:endParaRPr lang="en-US" sz="1300" dirty="0"/>
          </a:p>
        </p:txBody>
      </p:sp>
      <p:sp>
        <p:nvSpPr>
          <p:cNvPr id="9" name="Text 0"/>
          <p:cNvSpPr>
            <a:spLocks noGrp="1"/>
          </p:cNvSpPr>
          <p:nvPr>
            <p:ph type="body" idx="101" hasCustomPrompt="1"/>
          </p:nvPr>
        </p:nvSpPr>
        <p:spPr>
          <a:xfrm>
            <a:off x="548640" y="6355080"/>
            <a:ext cx="10362895" cy="274320"/>
          </a:xfrm>
          <a:prstGeom prst="rect">
            <a:avLst/>
          </a:prstGeom>
          <a:noFill/>
          <a:ln/>
        </p:spPr>
        <p:txBody>
          <a:bodyPr wrap="square" lIns="0" tIns="0" rIns="0" bIns="0" rtlCol="0" anchor="ctr"/>
          <a:lstStyle/>
          <a:p>
            <a:pPr marL="0" indent="0">
              <a:buNone/>
            </a:pPr>
            <a:r>
              <a:rPr lang="en-US" sz="1000" dirty="0">
                <a:solidFill>
                  <a:schemeClr val="accent3"/>
                </a:solidFill>
              </a:rPr>
              <a:t>Tele2 kampaania 5.10–15.11.2026 ja tavahind, tele2.ee 10.10.2026 · Kogumi 6,50 € on sihthind, mitte operaatori pakkumine · Kadri on näidisliige</a:t>
            </a:r>
            <a:endParaRPr lang="en-US" sz="1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Demo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75208" y="502920"/>
            <a:ext cx="10241280" cy="5760720"/>
          </a:xfrm>
          <a:prstGeom prst="rect">
            <a:avLst/>
          </a:prstGeom>
        </p:spPr>
      </p:pic>
      <p:sp>
        <p:nvSpPr>
          <p:cNvPr id="2" name="Text 0"/>
          <p:cNvSpPr txBox="1"/>
          <p:nvPr/>
        </p:nvSpPr>
        <p:spPr>
          <a:xfrm>
            <a:off x="975208" y="6373368"/>
            <a:ext cx="10241280" cy="320040"/>
          </a:xfrm>
          <a:prstGeom prst="rect">
            <a:avLst/>
          </a:prstGeom>
          <a:noFill/>
          <a:ln/>
        </p:spPr>
        <p:txBody>
          <a:bodyPr wrap="square" lIns="0" tIns="0" rIns="0" bIns="0" rtlCol="0" anchor="ctr"/>
          <a:lstStyle/>
          <a:p>
            <a:pPr marL="0" indent="0" algn="l">
              <a:buNone/>
            </a:pPr>
            <a:r>
              <a:rPr lang="en-US" sz="1300" dirty="0">
                <a:solidFill>
                  <a:schemeClr val="bg2"/>
                </a:solidFill>
                <a:latin typeface="Roboto" pitchFamily="34" charset="0"/>
                <a:ea typeface="Roboto" pitchFamily="34" charset="-122"/>
                <a:cs typeface="Roboto" pitchFamily="34" charset="-120"/>
              </a:rPr>
              <a:t>Demo: Kadri vahetab paketi ühe allkirjaga · prototüüp, andmed on näidis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2"/>
                </a:solidFill>
              </a:rPr>
              <a:t>Miks Tuleva?</a:t>
            </a:r>
            <a:endParaRPr lang="en-US" sz="3400" dirty="0"/>
          </a:p>
        </p:txBody>
      </p:sp>
      <p:sp>
        <p:nvSpPr>
          <p:cNvPr id="3" name="Põhjus 1"/>
          <p:cNvSpPr/>
          <p:nvPr/>
        </p:nvSpPr>
        <p:spPr>
          <a:xfrm>
            <a:off x="548640" y="2057400"/>
            <a:ext cx="3454298" cy="3931920"/>
          </a:xfrm>
          <a:prstGeom prst="roundRect">
            <a:avLst>
              <a:gd name="adj" fmla="val 2118"/>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868680" y="2377440"/>
            <a:ext cx="2814218" cy="1097280"/>
          </a:xfrm>
          <a:prstGeom prst="rect">
            <a:avLst/>
          </a:prstGeom>
          <a:noFill/>
          <a:ln/>
        </p:spPr>
        <p:txBody>
          <a:bodyPr wrap="square" lIns="0" tIns="0" rIns="0" bIns="0" rtlCol="0" anchor="ctr"/>
          <a:lstStyle/>
          <a:p>
            <a:pPr marL="0" indent="0">
              <a:buNone/>
            </a:pPr>
            <a:r>
              <a:rPr lang="en-US" sz="4400" b="1" dirty="0">
                <a:solidFill>
                  <a:schemeClr val="accent1"/>
                </a:solidFill>
                <a:latin typeface="Roboto" pitchFamily="34" charset="0"/>
                <a:ea typeface="Roboto" pitchFamily="34" charset="-122"/>
                <a:cs typeface="Roboto" pitchFamily="34" charset="-120"/>
              </a:rPr>
              <a:t>1 €</a:t>
            </a:r>
            <a:endParaRPr lang="en-US" sz="4400" dirty="0"/>
          </a:p>
        </p:txBody>
      </p:sp>
      <p:sp>
        <p:nvSpPr>
          <p:cNvPr id="5" name="Text 3"/>
          <p:cNvSpPr txBox="1"/>
          <p:nvPr/>
        </p:nvSpPr>
        <p:spPr>
          <a:xfrm>
            <a:off x="868680" y="3657600"/>
            <a:ext cx="2814218" cy="914400"/>
          </a:xfrm>
          <a:prstGeom prst="rect">
            <a:avLst/>
          </a:prstGeom>
          <a:noFill/>
          <a:ln/>
        </p:spPr>
        <p:txBody>
          <a:bodyPr wrap="square" lIns="0" tIns="0" rIns="0" bIns="0" rtlCol="0" anchor="t"/>
          <a:lstStyle/>
          <a:p>
            <a:pPr marL="0" indent="0">
              <a:buNone/>
            </a:pPr>
            <a:r>
              <a:rPr lang="en-US" sz="2200" b="1" dirty="0">
                <a:solidFill>
                  <a:schemeClr val="tx2"/>
                </a:solidFill>
                <a:latin typeface="Roboto" pitchFamily="34" charset="0"/>
                <a:ea typeface="Roboto" pitchFamily="34" charset="-122"/>
                <a:cs typeface="Roboto" pitchFamily="34" charset="-120"/>
              </a:rPr>
              <a:t>Tasu avalik, kõigilt sama</a:t>
            </a:r>
            <a:endParaRPr lang="en-US" sz="2200" dirty="0"/>
          </a:p>
        </p:txBody>
      </p:sp>
      <p:sp>
        <p:nvSpPr>
          <p:cNvPr id="6" name="Text 4"/>
          <p:cNvSpPr txBox="1"/>
          <p:nvPr/>
        </p:nvSpPr>
        <p:spPr>
          <a:xfrm>
            <a:off x="868680" y="4709160"/>
            <a:ext cx="2814218" cy="914400"/>
          </a:xfrm>
          <a:prstGeom prst="rect">
            <a:avLst/>
          </a:prstGeom>
          <a:noFill/>
          <a:ln/>
        </p:spPr>
        <p:txBody>
          <a:bodyPr wrap="square" lIns="0" tIns="0" rIns="0" bIns="0" rtlCol="0" anchor="t"/>
          <a:lstStyle/>
          <a:p>
            <a:pPr marL="0" indent="0">
              <a:buNone/>
            </a:pPr>
            <a:r>
              <a:rPr lang="en-US" sz="1500" dirty="0">
                <a:solidFill>
                  <a:schemeClr val="accent3"/>
                </a:solidFill>
                <a:latin typeface="Roboto" pitchFamily="34" charset="0"/>
                <a:ea typeface="Roboto" pitchFamily="34" charset="-122"/>
                <a:cs typeface="Roboto" pitchFamily="34" charset="-120"/>
              </a:rPr>
              <a:t>Ei sõltu paketist ega sellest, kes võidab</a:t>
            </a:r>
            <a:endParaRPr lang="en-US" sz="1500" dirty="0"/>
          </a:p>
        </p:txBody>
      </p:sp>
      <p:sp>
        <p:nvSpPr>
          <p:cNvPr id="7" name="Põhjus 2"/>
          <p:cNvSpPr/>
          <p:nvPr/>
        </p:nvSpPr>
        <p:spPr>
          <a:xfrm>
            <a:off x="4368698" y="2057400"/>
            <a:ext cx="3454298" cy="3931920"/>
          </a:xfrm>
          <a:prstGeom prst="roundRect">
            <a:avLst>
              <a:gd name="adj" fmla="val 2118"/>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4688738" y="2377440"/>
            <a:ext cx="2814218" cy="1097280"/>
          </a:xfrm>
          <a:prstGeom prst="rect">
            <a:avLst/>
          </a:prstGeom>
          <a:noFill/>
          <a:ln/>
        </p:spPr>
        <p:txBody>
          <a:bodyPr wrap="square" lIns="0" tIns="0" rIns="0" bIns="0" rtlCol="0" anchor="ctr"/>
          <a:lstStyle/>
          <a:p>
            <a:pPr marL="0" indent="0">
              <a:buNone/>
            </a:pPr>
            <a:r>
              <a:rPr lang="en-US" sz="4400" b="1" dirty="0">
                <a:solidFill>
                  <a:schemeClr val="accent1"/>
                </a:solidFill>
                <a:latin typeface="Roboto" pitchFamily="34" charset="0"/>
                <a:ea typeface="Roboto" pitchFamily="34" charset="-122"/>
                <a:cs typeface="Roboto" pitchFamily="34" charset="-120"/>
              </a:rPr>
              <a:t>Ühistu</a:t>
            </a:r>
            <a:endParaRPr lang="en-US" sz="4400" dirty="0"/>
          </a:p>
        </p:txBody>
      </p:sp>
      <p:sp>
        <p:nvSpPr>
          <p:cNvPr id="9" name="Text 7"/>
          <p:cNvSpPr txBox="1"/>
          <p:nvPr/>
        </p:nvSpPr>
        <p:spPr>
          <a:xfrm>
            <a:off x="4688738" y="3657600"/>
            <a:ext cx="2814218" cy="914400"/>
          </a:xfrm>
          <a:prstGeom prst="rect">
            <a:avLst/>
          </a:prstGeom>
          <a:noFill/>
          <a:ln/>
        </p:spPr>
        <p:txBody>
          <a:bodyPr wrap="square" lIns="0" tIns="0" rIns="0" bIns="0" rtlCol="0" anchor="t"/>
          <a:lstStyle/>
          <a:p>
            <a:pPr marL="0" indent="0">
              <a:buNone/>
            </a:pPr>
            <a:r>
              <a:rPr lang="en-US" sz="2200" b="1" dirty="0">
                <a:solidFill>
                  <a:schemeClr val="tx2"/>
                </a:solidFill>
                <a:latin typeface="Roboto" pitchFamily="34" charset="0"/>
                <a:ea typeface="Roboto" pitchFamily="34" charset="-122"/>
                <a:cs typeface="Roboto" pitchFamily="34" charset="-120"/>
              </a:rPr>
              <a:t>Ühistu, mitte müüja</a:t>
            </a:r>
            <a:endParaRPr lang="en-US" sz="2200" dirty="0"/>
          </a:p>
        </p:txBody>
      </p:sp>
      <p:sp>
        <p:nvSpPr>
          <p:cNvPr id="10" name="Text 8"/>
          <p:cNvSpPr txBox="1"/>
          <p:nvPr/>
        </p:nvSpPr>
        <p:spPr>
          <a:xfrm>
            <a:off x="4688738" y="4709160"/>
            <a:ext cx="2814218" cy="914400"/>
          </a:xfrm>
          <a:prstGeom prst="rect">
            <a:avLst/>
          </a:prstGeom>
          <a:noFill/>
          <a:ln/>
        </p:spPr>
        <p:txBody>
          <a:bodyPr wrap="square" lIns="0" tIns="0" rIns="0" bIns="0" rtlCol="0" anchor="t"/>
          <a:lstStyle/>
          <a:p>
            <a:pPr marL="0" indent="0">
              <a:buNone/>
            </a:pPr>
            <a:r>
              <a:rPr lang="en-US" sz="1500" dirty="0">
                <a:solidFill>
                  <a:schemeClr val="accent3"/>
                </a:solidFill>
                <a:latin typeface="Roboto" pitchFamily="34" charset="0"/>
                <a:ea typeface="Roboto" pitchFamily="34" charset="-122"/>
                <a:cs typeface="Roboto" pitchFamily="34" charset="-120"/>
              </a:rPr>
              <a:t>Kuulub liikmetele, mitte investoritele</a:t>
            </a:r>
            <a:endParaRPr lang="en-US" sz="1500" dirty="0"/>
          </a:p>
        </p:txBody>
      </p:sp>
      <p:sp>
        <p:nvSpPr>
          <p:cNvPr id="11" name="Põhjus 3"/>
          <p:cNvSpPr/>
          <p:nvPr/>
        </p:nvSpPr>
        <p:spPr>
          <a:xfrm>
            <a:off x="8188757" y="2057400"/>
            <a:ext cx="3454298" cy="3931920"/>
          </a:xfrm>
          <a:prstGeom prst="roundRect">
            <a:avLst>
              <a:gd name="adj" fmla="val 2118"/>
            </a:avLst>
          </a:prstGeom>
          <a:solidFill>
            <a:schemeClr val="bg2"/>
          </a:solidFill>
          <a:ln w="12700">
            <a:solidFill>
              <a:schemeClr val="bg2"/>
            </a:solidFill>
            <a:prstDash val="solid"/>
          </a:ln>
        </p:spPr>
        <p:txBody>
          <a:bodyPr/>
          <a:lstStyle/>
          <a:p>
            <a:endParaRPr lang="en-US"/>
          </a:p>
        </p:txBody>
      </p:sp>
      <p:sp>
        <p:nvSpPr>
          <p:cNvPr id="12" name="Text 10"/>
          <p:cNvSpPr txBox="1"/>
          <p:nvPr/>
        </p:nvSpPr>
        <p:spPr>
          <a:xfrm>
            <a:off x="8508797" y="2377440"/>
            <a:ext cx="2814218" cy="1097280"/>
          </a:xfrm>
          <a:prstGeom prst="rect">
            <a:avLst/>
          </a:prstGeom>
          <a:noFill/>
          <a:ln/>
        </p:spPr>
        <p:txBody>
          <a:bodyPr wrap="square" lIns="0" tIns="0" rIns="0" bIns="0" rtlCol="0" anchor="ctr"/>
          <a:lstStyle/>
          <a:p>
            <a:pPr marL="0" indent="0">
              <a:buNone/>
            </a:pPr>
            <a:r>
              <a:rPr lang="en-US" sz="4400" b="1" dirty="0">
                <a:solidFill>
                  <a:schemeClr val="accent1"/>
                </a:solidFill>
                <a:latin typeface="Roboto" pitchFamily="34" charset="0"/>
                <a:ea typeface="Roboto" pitchFamily="34" charset="-122"/>
                <a:cs typeface="Roboto" pitchFamily="34" charset="-120"/>
              </a:rPr>
              <a:t>85 745</a:t>
            </a:r>
            <a:endParaRPr lang="en-US" sz="4400" dirty="0"/>
          </a:p>
        </p:txBody>
      </p:sp>
      <p:sp>
        <p:nvSpPr>
          <p:cNvPr id="13" name="Text 11"/>
          <p:cNvSpPr txBox="1"/>
          <p:nvPr/>
        </p:nvSpPr>
        <p:spPr>
          <a:xfrm>
            <a:off x="8508797" y="3657600"/>
            <a:ext cx="2814218" cy="914400"/>
          </a:xfrm>
          <a:prstGeom prst="rect">
            <a:avLst/>
          </a:prstGeom>
          <a:noFill/>
          <a:ln/>
        </p:spPr>
        <p:txBody>
          <a:bodyPr wrap="square" lIns="0" tIns="0" rIns="0" bIns="0" rtlCol="0" anchor="t"/>
          <a:lstStyle/>
          <a:p>
            <a:pPr marL="0" indent="0">
              <a:buNone/>
            </a:pPr>
            <a:r>
              <a:rPr lang="en-US" sz="2200" b="1" dirty="0">
                <a:solidFill>
                  <a:schemeClr val="tx2"/>
                </a:solidFill>
                <a:latin typeface="Roboto" pitchFamily="34" charset="0"/>
                <a:ea typeface="Roboto" pitchFamily="34" charset="-122"/>
                <a:cs typeface="Roboto" pitchFamily="34" charset="-120"/>
              </a:rPr>
              <a:t>Kogujat usaldavad juba Tulevat</a:t>
            </a:r>
            <a:endParaRPr lang="en-US" sz="2200" dirty="0"/>
          </a:p>
        </p:txBody>
      </p:sp>
      <p:sp>
        <p:nvSpPr>
          <p:cNvPr id="14" name="Text 12"/>
          <p:cNvSpPr txBox="1"/>
          <p:nvPr/>
        </p:nvSpPr>
        <p:spPr>
          <a:xfrm>
            <a:off x="8508797" y="4709160"/>
            <a:ext cx="2814218" cy="914400"/>
          </a:xfrm>
          <a:prstGeom prst="rect">
            <a:avLst/>
          </a:prstGeom>
          <a:noFill/>
          <a:ln/>
        </p:spPr>
        <p:txBody>
          <a:bodyPr wrap="square" lIns="0" tIns="0" rIns="0" bIns="0" rtlCol="0" anchor="t"/>
          <a:lstStyle/>
          <a:p>
            <a:pPr marL="0" indent="0">
              <a:buNone/>
            </a:pPr>
            <a:r>
              <a:rPr lang="en-US" sz="1500" dirty="0">
                <a:solidFill>
                  <a:schemeClr val="accent3"/>
                </a:solidFill>
                <a:latin typeface="Roboto" pitchFamily="34" charset="0"/>
                <a:ea typeface="Roboto" pitchFamily="34" charset="-122"/>
                <a:cs typeface="Roboto" pitchFamily="34" charset="-120"/>
              </a:rPr>
              <a:t>Tegime nähtavaks pensionifondide tasud</a:t>
            </a:r>
            <a:endParaRPr lang="en-US" sz="15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4</a:t>
            </a:fld>
            <a:endParaRPr lang="en-US"/>
          </a:p>
        </p:txBody>
      </p:sp>
      <p:sp>
        <p:nvSpPr>
          <p:cNvPr id="17" name="Text Placeholder 16">
            <a:extLst>
              <a:ext uri="{FF2B5EF4-FFF2-40B4-BE49-F238E27FC236}">
                <a16:creationId xmlns:a16="http://schemas.microsoft.com/office/drawing/2014/main" id="{7CBE8AEC-07A2-1421-5742-C7E8DDFC5ED5}"/>
              </a:ext>
            </a:extLst>
          </p:cNvPr>
          <p:cNvSpPr>
            <a:spLocks noGrp="1"/>
          </p:cNvSpPr>
          <p:nvPr>
            <p:ph type="body" idx="101"/>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r>
              <a:rPr lang="en-US" sz="3400" b="1" dirty="0">
                <a:solidFill>
                  <a:schemeClr val="tx2"/>
                </a:solidFill>
              </a:rPr>
              <a:t>≈ </a:t>
            </a:r>
            <a:r>
              <a:rPr lang="en-US" dirty="0"/>
              <a:t>5 750 </a:t>
            </a:r>
            <a:r>
              <a:rPr lang="en-US" sz="3400" b="1" dirty="0" err="1">
                <a:solidFill>
                  <a:schemeClr val="tx2"/>
                </a:solidFill>
              </a:rPr>
              <a:t>lepingut</a:t>
            </a:r>
            <a:r>
              <a:rPr lang="en-US" sz="3400" b="1" dirty="0">
                <a:solidFill>
                  <a:schemeClr val="tx2"/>
                </a:solidFill>
              </a:rPr>
              <a:t> katab jooksva kulu</a:t>
            </a:r>
            <a:endParaRPr lang="en-US" sz="3400" dirty="0"/>
          </a:p>
        </p:txBody>
      </p:sp>
      <p:sp>
        <p:nvSpPr>
          <p:cNvPr id="3" name="KUST RAHA TULEB"/>
          <p:cNvSpPr/>
          <p:nvPr/>
        </p:nvSpPr>
        <p:spPr>
          <a:xfrm>
            <a:off x="548640" y="2377440"/>
            <a:ext cx="3454298" cy="3291840"/>
          </a:xfrm>
          <a:prstGeom prst="roundRect">
            <a:avLst>
              <a:gd name="adj" fmla="val 2222"/>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868680" y="2697480"/>
            <a:ext cx="2814218" cy="274320"/>
          </a:xfrm>
          <a:prstGeom prst="rect">
            <a:avLst/>
          </a:prstGeom>
          <a:noFill/>
          <a:ln/>
        </p:spPr>
        <p:txBody>
          <a:bodyPr wrap="square" lIns="0" tIns="0" rIns="0" bIns="0" rtlCol="0" anchor="ctr"/>
          <a:lstStyle/>
          <a:p>
            <a:pPr marL="0" indent="0">
              <a:buNone/>
            </a:pPr>
            <a:r>
              <a:rPr lang="en-US" sz="1200" b="1" kern="0" spc="150" dirty="0">
                <a:solidFill>
                  <a:schemeClr val="accent1"/>
                </a:solidFill>
                <a:latin typeface="Roboto" pitchFamily="34" charset="0"/>
                <a:ea typeface="Roboto" pitchFamily="34" charset="-122"/>
                <a:cs typeface="Roboto" pitchFamily="34" charset="-120"/>
              </a:rPr>
              <a:t>KUST RAHA TULEB</a:t>
            </a:r>
            <a:endParaRPr lang="en-US" sz="1200" dirty="0"/>
          </a:p>
        </p:txBody>
      </p:sp>
      <p:sp>
        <p:nvSpPr>
          <p:cNvPr id="5" name="Text 3"/>
          <p:cNvSpPr txBox="1"/>
          <p:nvPr/>
        </p:nvSpPr>
        <p:spPr>
          <a:xfrm>
            <a:off x="868680" y="3246120"/>
            <a:ext cx="2814218" cy="1005840"/>
          </a:xfrm>
          <a:prstGeom prst="rect">
            <a:avLst/>
          </a:prstGeom>
          <a:noFill/>
          <a:ln/>
        </p:spPr>
        <p:txBody>
          <a:bodyPr wrap="square" lIns="0" tIns="0" rIns="0" bIns="0" rtlCol="0" anchor="ctr"/>
          <a:lstStyle/>
          <a:p>
            <a:pPr marL="0" indent="0">
              <a:buNone/>
            </a:pPr>
            <a:r>
              <a:rPr lang="en-US" sz="4800" b="1" dirty="0">
                <a:solidFill>
                  <a:schemeClr val="tx2"/>
                </a:solidFill>
                <a:latin typeface="Roboto" pitchFamily="34" charset="0"/>
                <a:ea typeface="Roboto" pitchFamily="34" charset="-122"/>
                <a:cs typeface="Roboto" pitchFamily="34" charset="-120"/>
              </a:rPr>
              <a:t>1 €</a:t>
            </a:r>
            <a:endParaRPr lang="en-US" sz="4800" dirty="0"/>
          </a:p>
        </p:txBody>
      </p:sp>
      <p:sp>
        <p:nvSpPr>
          <p:cNvPr id="6" name="Text 4"/>
          <p:cNvSpPr txBox="1"/>
          <p:nvPr/>
        </p:nvSpPr>
        <p:spPr>
          <a:xfrm>
            <a:off x="868680" y="4343400"/>
            <a:ext cx="2814218" cy="411480"/>
          </a:xfrm>
          <a:prstGeom prst="rect">
            <a:avLst/>
          </a:prstGeom>
          <a:noFill/>
          <a:ln/>
        </p:spPr>
        <p:txBody>
          <a:bodyPr wrap="square" lIns="0" tIns="0" rIns="0" bIns="0" rtlCol="0" anchor="ctr"/>
          <a:lstStyle/>
          <a:p>
            <a:pPr marL="0" indent="0">
              <a:buNone/>
            </a:pPr>
            <a:r>
              <a:rPr lang="en-US" sz="2000" b="1" dirty="0">
                <a:solidFill>
                  <a:schemeClr val="tx2"/>
                </a:solidFill>
                <a:latin typeface="Roboto" pitchFamily="34" charset="0"/>
                <a:ea typeface="Roboto" pitchFamily="34" charset="-122"/>
                <a:cs typeface="Roboto" pitchFamily="34" charset="-120"/>
              </a:rPr>
              <a:t>kuus iga lepingu pealt</a:t>
            </a:r>
            <a:endParaRPr lang="en-US" sz="2000" dirty="0"/>
          </a:p>
        </p:txBody>
      </p:sp>
      <p:sp>
        <p:nvSpPr>
          <p:cNvPr id="7" name="Text 5"/>
          <p:cNvSpPr txBox="1"/>
          <p:nvPr/>
        </p:nvSpPr>
        <p:spPr>
          <a:xfrm>
            <a:off x="868680" y="4800600"/>
            <a:ext cx="2814218" cy="411480"/>
          </a:xfrm>
          <a:prstGeom prst="rect">
            <a:avLst/>
          </a:prstGeom>
          <a:noFill/>
          <a:ln/>
        </p:spPr>
        <p:txBody>
          <a:bodyPr wrap="square" lIns="0" tIns="0" rIns="0" bIns="0" rtlCol="0" anchor="ctr"/>
          <a:lstStyle/>
          <a:p>
            <a:pPr marL="0" indent="0">
              <a:buNone/>
            </a:pPr>
            <a:r>
              <a:rPr lang="en-US" sz="1800" dirty="0">
                <a:solidFill>
                  <a:schemeClr val="accent3"/>
                </a:solidFill>
                <a:latin typeface="Roboto" pitchFamily="34" charset="0"/>
                <a:ea typeface="Roboto" pitchFamily="34" charset="-122"/>
                <a:cs typeface="Roboto" pitchFamily="34" charset="-120"/>
              </a:rPr>
              <a:t>mobiil, internet, TV</a:t>
            </a:r>
            <a:endParaRPr lang="en-US" sz="1800" dirty="0"/>
          </a:p>
        </p:txBody>
      </p:sp>
      <p:sp>
        <p:nvSpPr>
          <p:cNvPr id="8" name="MIS MAKSAB"/>
          <p:cNvSpPr/>
          <p:nvPr/>
        </p:nvSpPr>
        <p:spPr>
          <a:xfrm>
            <a:off x="4368698" y="2377440"/>
            <a:ext cx="3454298" cy="3291840"/>
          </a:xfrm>
          <a:prstGeom prst="roundRect">
            <a:avLst>
              <a:gd name="adj" fmla="val 2222"/>
            </a:avLst>
          </a:prstGeom>
          <a:solidFill>
            <a:schemeClr val="bg2"/>
          </a:solidFill>
          <a:ln w="12700">
            <a:solidFill>
              <a:schemeClr val="bg2"/>
            </a:solidFill>
            <a:prstDash val="solid"/>
          </a:ln>
        </p:spPr>
        <p:txBody>
          <a:bodyPr/>
          <a:lstStyle/>
          <a:p>
            <a:endParaRPr lang="en-US"/>
          </a:p>
        </p:txBody>
      </p:sp>
      <p:sp>
        <p:nvSpPr>
          <p:cNvPr id="9" name="Text 7"/>
          <p:cNvSpPr txBox="1"/>
          <p:nvPr/>
        </p:nvSpPr>
        <p:spPr>
          <a:xfrm>
            <a:off x="4688738" y="2697480"/>
            <a:ext cx="2814218" cy="274320"/>
          </a:xfrm>
          <a:prstGeom prst="rect">
            <a:avLst/>
          </a:prstGeom>
          <a:noFill/>
          <a:ln/>
        </p:spPr>
        <p:txBody>
          <a:bodyPr wrap="square" lIns="0" tIns="0" rIns="0" bIns="0" rtlCol="0" anchor="ctr"/>
          <a:lstStyle/>
          <a:p>
            <a:pPr marL="0" indent="0">
              <a:buNone/>
            </a:pPr>
            <a:r>
              <a:rPr lang="en-US" sz="1200" b="1" kern="0" spc="150" dirty="0">
                <a:solidFill>
                  <a:schemeClr val="accent1"/>
                </a:solidFill>
                <a:latin typeface="Roboto" pitchFamily="34" charset="0"/>
                <a:ea typeface="Roboto" pitchFamily="34" charset="-122"/>
                <a:cs typeface="Roboto" pitchFamily="34" charset="-120"/>
              </a:rPr>
              <a:t>MIS MAKSAB</a:t>
            </a:r>
            <a:endParaRPr lang="en-US" sz="1200" dirty="0"/>
          </a:p>
        </p:txBody>
      </p:sp>
      <p:sp>
        <p:nvSpPr>
          <p:cNvPr id="10" name="Text 8"/>
          <p:cNvSpPr txBox="1"/>
          <p:nvPr/>
        </p:nvSpPr>
        <p:spPr>
          <a:xfrm>
            <a:off x="4688738" y="3246120"/>
            <a:ext cx="2814218" cy="1005840"/>
          </a:xfrm>
          <a:prstGeom prst="rect">
            <a:avLst/>
          </a:prstGeom>
          <a:noFill/>
          <a:ln/>
        </p:spPr>
        <p:txBody>
          <a:bodyPr wrap="square" lIns="0" tIns="0" rIns="0" bIns="0" rtlCol="0" anchor="ctr"/>
          <a:lstStyle/>
          <a:p>
            <a:pPr marL="0" indent="0">
              <a:buNone/>
            </a:pPr>
            <a:r>
              <a:rPr lang="en-US" sz="4800" b="1" dirty="0">
                <a:solidFill>
                  <a:schemeClr val="tx2"/>
                </a:solidFill>
                <a:latin typeface="Roboto" pitchFamily="34" charset="0"/>
                <a:ea typeface="Roboto" pitchFamily="34" charset="-122"/>
                <a:cs typeface="Roboto" pitchFamily="34" charset="-120"/>
              </a:rPr>
              <a:t>69 000 €</a:t>
            </a:r>
            <a:endParaRPr lang="en-US" sz="4800" dirty="0"/>
          </a:p>
        </p:txBody>
      </p:sp>
      <p:sp>
        <p:nvSpPr>
          <p:cNvPr id="11" name="Text 9"/>
          <p:cNvSpPr txBox="1"/>
          <p:nvPr/>
        </p:nvSpPr>
        <p:spPr>
          <a:xfrm>
            <a:off x="4688738" y="4343400"/>
            <a:ext cx="2814218" cy="411480"/>
          </a:xfrm>
          <a:prstGeom prst="rect">
            <a:avLst/>
          </a:prstGeom>
          <a:noFill/>
          <a:ln/>
        </p:spPr>
        <p:txBody>
          <a:bodyPr wrap="square" lIns="0" tIns="0" rIns="0" bIns="0" rtlCol="0" anchor="ctr"/>
          <a:lstStyle/>
          <a:p>
            <a:pPr marL="0" indent="0">
              <a:buNone/>
            </a:pPr>
            <a:r>
              <a:rPr lang="en-US" sz="2000" b="1" dirty="0">
                <a:solidFill>
                  <a:schemeClr val="tx2"/>
                </a:solidFill>
                <a:latin typeface="Roboto" pitchFamily="34" charset="0"/>
                <a:ea typeface="Roboto" pitchFamily="34" charset="-122"/>
                <a:cs typeface="Roboto" pitchFamily="34" charset="-120"/>
              </a:rPr>
              <a:t>aastas, üks inimene</a:t>
            </a:r>
            <a:endParaRPr lang="en-US" sz="2000" dirty="0"/>
          </a:p>
        </p:txBody>
      </p:sp>
      <p:sp>
        <p:nvSpPr>
          <p:cNvPr id="12" name="Text 10"/>
          <p:cNvSpPr txBox="1"/>
          <p:nvPr/>
        </p:nvSpPr>
        <p:spPr>
          <a:xfrm>
            <a:off x="4688738" y="4800600"/>
            <a:ext cx="2814218" cy="411480"/>
          </a:xfrm>
          <a:prstGeom prst="rect">
            <a:avLst/>
          </a:prstGeom>
          <a:noFill/>
          <a:ln/>
        </p:spPr>
        <p:txBody>
          <a:bodyPr wrap="square" lIns="0" tIns="0" rIns="0" bIns="0" rtlCol="0" anchor="ctr"/>
          <a:lstStyle/>
          <a:p>
            <a:pPr marL="0" indent="0">
              <a:buNone/>
            </a:pPr>
            <a:r>
              <a:rPr lang="en-US" sz="1800" dirty="0">
                <a:solidFill>
                  <a:schemeClr val="accent3"/>
                </a:solidFill>
                <a:latin typeface="Roboto" pitchFamily="34" charset="0"/>
                <a:ea typeface="Roboto" pitchFamily="34" charset="-122"/>
                <a:cs typeface="Roboto" pitchFamily="34" charset="-120"/>
              </a:rPr>
              <a:t>2. aastast pool mobiilile</a:t>
            </a:r>
            <a:endParaRPr lang="en-US" sz="1800" dirty="0"/>
          </a:p>
        </p:txBody>
      </p:sp>
      <p:sp>
        <p:nvSpPr>
          <p:cNvPr id="13" name="MILLAL TASUB ÄRA"/>
          <p:cNvSpPr/>
          <p:nvPr/>
        </p:nvSpPr>
        <p:spPr>
          <a:xfrm>
            <a:off x="8188757" y="2377440"/>
            <a:ext cx="3454298" cy="3291840"/>
          </a:xfrm>
          <a:prstGeom prst="roundRect">
            <a:avLst>
              <a:gd name="adj" fmla="val 2222"/>
            </a:avLst>
          </a:prstGeom>
          <a:solidFill>
            <a:schemeClr val="tx2"/>
          </a:solidFill>
          <a:ln w="12700">
            <a:solidFill>
              <a:schemeClr val="tx2"/>
            </a:solidFill>
            <a:prstDash val="solid"/>
          </a:ln>
        </p:spPr>
        <p:txBody>
          <a:bodyPr/>
          <a:lstStyle/>
          <a:p>
            <a:endParaRPr lang="en-US"/>
          </a:p>
        </p:txBody>
      </p:sp>
      <p:sp>
        <p:nvSpPr>
          <p:cNvPr id="14" name="Text 12"/>
          <p:cNvSpPr txBox="1"/>
          <p:nvPr/>
        </p:nvSpPr>
        <p:spPr>
          <a:xfrm>
            <a:off x="8508797" y="2697480"/>
            <a:ext cx="2814218" cy="274320"/>
          </a:xfrm>
          <a:prstGeom prst="rect">
            <a:avLst/>
          </a:prstGeom>
          <a:noFill/>
          <a:ln/>
        </p:spPr>
        <p:txBody>
          <a:bodyPr wrap="square" lIns="0" tIns="0" rIns="0" bIns="0" rtlCol="0" anchor="ctr"/>
          <a:lstStyle/>
          <a:p>
            <a:pPr marL="0" indent="0">
              <a:buNone/>
            </a:pPr>
            <a:r>
              <a:rPr lang="en-US" sz="1200" b="1" kern="0" spc="150" dirty="0">
                <a:solidFill>
                  <a:schemeClr val="accent2"/>
                </a:solidFill>
                <a:latin typeface="Roboto" pitchFamily="34" charset="0"/>
                <a:ea typeface="Roboto" pitchFamily="34" charset="-122"/>
                <a:cs typeface="Roboto" pitchFamily="34" charset="-120"/>
              </a:rPr>
              <a:t>MILLAL TASUB ÄRA</a:t>
            </a:r>
            <a:endParaRPr lang="en-US" sz="1200" dirty="0"/>
          </a:p>
        </p:txBody>
      </p:sp>
      <p:sp>
        <p:nvSpPr>
          <p:cNvPr id="15" name="Text 13"/>
          <p:cNvSpPr txBox="1"/>
          <p:nvPr/>
        </p:nvSpPr>
        <p:spPr>
          <a:xfrm>
            <a:off x="8508797" y="3246120"/>
            <a:ext cx="2814218" cy="1005840"/>
          </a:xfrm>
          <a:prstGeom prst="rect">
            <a:avLst/>
          </a:prstGeom>
          <a:noFill/>
          <a:ln/>
        </p:spPr>
        <p:txBody>
          <a:bodyPr wrap="square" lIns="0" tIns="0" rIns="0" bIns="0" rtlCol="0" anchor="ctr"/>
          <a:lstStyle/>
          <a:p>
            <a:pPr marL="0" indent="0">
              <a:buNone/>
            </a:pPr>
            <a:r>
              <a:rPr lang="en-US" sz="4800" b="1" dirty="0">
                <a:solidFill>
                  <a:schemeClr val="bg1"/>
                </a:solidFill>
                <a:latin typeface="Roboto" pitchFamily="34" charset="0"/>
                <a:ea typeface="Roboto" pitchFamily="34" charset="-122"/>
                <a:cs typeface="Roboto" pitchFamily="34" charset="-120"/>
              </a:rPr>
              <a:t>16. kuul</a:t>
            </a:r>
            <a:endParaRPr lang="en-US" sz="4800" dirty="0"/>
          </a:p>
        </p:txBody>
      </p:sp>
      <p:sp>
        <p:nvSpPr>
          <p:cNvPr id="16" name="Text 14"/>
          <p:cNvSpPr txBox="1"/>
          <p:nvPr/>
        </p:nvSpPr>
        <p:spPr>
          <a:xfrm>
            <a:off x="8508797" y="4343400"/>
            <a:ext cx="2814218" cy="411480"/>
          </a:xfrm>
          <a:prstGeom prst="rect">
            <a:avLst/>
          </a:prstGeom>
          <a:noFill/>
          <a:ln/>
        </p:spPr>
        <p:txBody>
          <a:bodyPr wrap="square" lIns="0" tIns="0" rIns="0" bIns="0" rtlCol="0" anchor="ctr"/>
          <a:lstStyle/>
          <a:p>
            <a:pPr marL="0" indent="0">
              <a:buNone/>
            </a:pPr>
            <a:r>
              <a:rPr lang="en-US" sz="2000" b="1" dirty="0">
                <a:solidFill>
                  <a:schemeClr val="bg1"/>
                </a:solidFill>
                <a:latin typeface="Roboto" pitchFamily="34" charset="0"/>
                <a:ea typeface="Roboto" pitchFamily="34" charset="-122"/>
                <a:cs typeface="Roboto" pitchFamily="34" charset="-120"/>
              </a:rPr>
              <a:t>kuutulu &gt; kuukulu</a:t>
            </a:r>
            <a:endParaRPr lang="en-US" sz="2000" dirty="0"/>
          </a:p>
        </p:txBody>
      </p:sp>
      <p:sp>
        <p:nvSpPr>
          <p:cNvPr id="17" name="Text 15"/>
          <p:cNvSpPr txBox="1"/>
          <p:nvPr/>
        </p:nvSpPr>
        <p:spPr>
          <a:xfrm>
            <a:off x="8508797" y="4800600"/>
            <a:ext cx="2814218" cy="411480"/>
          </a:xfrm>
          <a:prstGeom prst="rect">
            <a:avLst/>
          </a:prstGeom>
          <a:noFill/>
          <a:ln/>
        </p:spPr>
        <p:txBody>
          <a:bodyPr wrap="square" lIns="0" tIns="0" rIns="0" bIns="0" rtlCol="0" anchor="ctr"/>
          <a:lstStyle/>
          <a:p>
            <a:pPr marL="0" indent="0">
              <a:buNone/>
            </a:pPr>
            <a:r>
              <a:rPr lang="en-US" sz="1800" dirty="0">
                <a:solidFill>
                  <a:schemeClr val="accent2"/>
                </a:solidFill>
                <a:latin typeface="Roboto" pitchFamily="34" charset="0"/>
                <a:ea typeface="Roboto" pitchFamily="34" charset="-122"/>
                <a:cs typeface="Roboto" pitchFamily="34" charset="-120"/>
              </a:rPr>
              <a:t>baasprognoos, hinnang</a:t>
            </a:r>
            <a:endParaRPr lang="en-US" sz="18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5</a:t>
            </a:fld>
            <a:endParaRPr lang="en-US"/>
          </a:p>
        </p:txBody>
      </p:sp>
      <p:sp>
        <p:nvSpPr>
          <p:cNvPr id="20" name="Text Placeholder 19">
            <a:extLst>
              <a:ext uri="{FF2B5EF4-FFF2-40B4-BE49-F238E27FC236}">
                <a16:creationId xmlns:a16="http://schemas.microsoft.com/office/drawing/2014/main" id="{B0EF3BA9-6653-9A31-B32A-314B5412A5F0}"/>
              </a:ext>
            </a:extLst>
          </p:cNvPr>
          <p:cNvSpPr>
            <a:spLocks noGrp="1"/>
          </p:cNvSpPr>
          <p:nvPr>
            <p:ph type="body" idx="101"/>
          </p:nvPr>
        </p:nvSpPr>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400" b="1" dirty="0">
                <a:solidFill>
                  <a:schemeClr val="tx2"/>
                </a:solidFill>
              </a:rPr>
              <a:t>Ühine ostujõud igas valdkonnas</a:t>
            </a:r>
            <a:endParaRPr lang="en-US" sz="3400" dirty="0"/>
          </a:p>
        </p:txBody>
      </p:sp>
      <p:sp>
        <p:nvSpPr>
          <p:cNvPr id="3" name="Text 1"/>
          <p:cNvSpPr txBox="1"/>
          <p:nvPr/>
        </p:nvSpPr>
        <p:spPr>
          <a:xfrm>
            <a:off x="548640" y="1188720"/>
            <a:ext cx="7315200" cy="365760"/>
          </a:xfrm>
          <a:prstGeom prst="rect">
            <a:avLst/>
          </a:prstGeom>
          <a:noFill/>
          <a:ln/>
        </p:spPr>
        <p:txBody>
          <a:bodyPr wrap="square" lIns="0" tIns="0" rIns="0" bIns="0" rtlCol="0" anchor="ctr"/>
          <a:lstStyle/>
          <a:p>
            <a:pPr marL="0" indent="0">
              <a:buNone/>
            </a:pPr>
            <a:r>
              <a:rPr lang="en-US" sz="1800" dirty="0">
                <a:solidFill>
                  <a:schemeClr val="accent3"/>
                </a:solidFill>
                <a:latin typeface="Roboto" pitchFamily="34" charset="0"/>
                <a:ea typeface="Roboto" pitchFamily="34" charset="-122"/>
                <a:cs typeface="Roboto" pitchFamily="34" charset="-120"/>
              </a:rPr>
              <a:t>Mobiilside on esimene</a:t>
            </a:r>
            <a:endParaRPr lang="en-US" sz="1800" dirty="0"/>
          </a:p>
        </p:txBody>
      </p:sp>
      <p:sp>
        <p:nvSpPr>
          <p:cNvPr id="4" name="Mobiilside"/>
          <p:cNvSpPr/>
          <p:nvPr/>
        </p:nvSpPr>
        <p:spPr>
          <a:xfrm>
            <a:off x="548640" y="2468880"/>
            <a:ext cx="2567864" cy="3108960"/>
          </a:xfrm>
          <a:prstGeom prst="roundRect">
            <a:avLst>
              <a:gd name="adj" fmla="val 2849"/>
            </a:avLst>
          </a:prstGeom>
          <a:solidFill>
            <a:schemeClr val="tx2"/>
          </a:solidFill>
          <a:ln w="12700">
            <a:solidFill>
              <a:schemeClr val="tx2"/>
            </a:solidFill>
            <a:prstDash val="solid"/>
          </a:ln>
        </p:spPr>
        <p:txBody>
          <a:bodyPr/>
          <a:lstStyle/>
          <a:p>
            <a:endParaRPr lang="en-US"/>
          </a:p>
        </p:txBody>
      </p:sp>
      <p:pic>
        <p:nvPicPr>
          <p:cNvPr id="5" name="Mobiilside ikoon" descr="image-6-1.png"/>
          <p:cNvPicPr>
            <a:picLocks noChangeAspect="1"/>
          </p:cNvPicPr>
          <p:nvPr/>
        </p:nvPicPr>
        <p:blipFill>
          <a:blip r:embed="rId3"/>
          <a:stretch>
            <a:fillRect/>
          </a:stretch>
        </p:blipFill>
        <p:spPr>
          <a:xfrm>
            <a:off x="822960" y="2834640"/>
            <a:ext cx="548640" cy="548640"/>
          </a:xfrm>
          <a:prstGeom prst="rect">
            <a:avLst/>
          </a:prstGeom>
        </p:spPr>
      </p:pic>
      <p:sp>
        <p:nvSpPr>
          <p:cNvPr id="6" name="Text 3"/>
          <p:cNvSpPr txBox="1"/>
          <p:nvPr/>
        </p:nvSpPr>
        <p:spPr>
          <a:xfrm>
            <a:off x="822960" y="3840480"/>
            <a:ext cx="2110664" cy="548640"/>
          </a:xfrm>
          <a:prstGeom prst="rect">
            <a:avLst/>
          </a:prstGeom>
          <a:noFill/>
          <a:ln/>
        </p:spPr>
        <p:txBody>
          <a:bodyPr wrap="square" lIns="0" tIns="0" rIns="0" bIns="0" rtlCol="0" anchor="ctr"/>
          <a:lstStyle/>
          <a:p>
            <a:pPr marL="0" indent="0">
              <a:buNone/>
            </a:pPr>
            <a:r>
              <a:rPr lang="en-US" sz="2100" b="1" dirty="0">
                <a:solidFill>
                  <a:schemeClr val="bg1"/>
                </a:solidFill>
                <a:latin typeface="Roboto" pitchFamily="34" charset="0"/>
                <a:ea typeface="Roboto" pitchFamily="34" charset="-122"/>
                <a:cs typeface="Roboto" pitchFamily="34" charset="-120"/>
              </a:rPr>
              <a:t>Mobiilside</a:t>
            </a:r>
            <a:endParaRPr lang="en-US" sz="2100" dirty="0"/>
          </a:p>
        </p:txBody>
      </p:sp>
      <p:sp>
        <p:nvSpPr>
          <p:cNvPr id="7" name="Text 4"/>
          <p:cNvSpPr txBox="1"/>
          <p:nvPr/>
        </p:nvSpPr>
        <p:spPr>
          <a:xfrm>
            <a:off x="822960" y="4526280"/>
            <a:ext cx="2110664" cy="320040"/>
          </a:xfrm>
          <a:prstGeom prst="rect">
            <a:avLst/>
          </a:prstGeom>
          <a:noFill/>
          <a:ln/>
        </p:spPr>
        <p:txBody>
          <a:bodyPr wrap="square" lIns="0" tIns="0" rIns="0" bIns="0" rtlCol="0" anchor="ctr"/>
          <a:lstStyle/>
          <a:p>
            <a:pPr marL="0" indent="0">
              <a:buNone/>
            </a:pPr>
            <a:r>
              <a:rPr lang="en-US" sz="1200" b="1" kern="0" spc="150" dirty="0">
                <a:solidFill>
                  <a:schemeClr val="accent2"/>
                </a:solidFill>
                <a:latin typeface="Roboto" pitchFamily="34" charset="0"/>
                <a:ea typeface="Roboto" pitchFamily="34" charset="-122"/>
                <a:cs typeface="Roboto" pitchFamily="34" charset="-120"/>
              </a:rPr>
              <a:t>TÄNA</a:t>
            </a:r>
            <a:endParaRPr lang="en-US" sz="1200" dirty="0"/>
          </a:p>
        </p:txBody>
      </p:sp>
      <p:sp>
        <p:nvSpPr>
          <p:cNvPr id="8" name="Elekter"/>
          <p:cNvSpPr/>
          <p:nvPr/>
        </p:nvSpPr>
        <p:spPr>
          <a:xfrm>
            <a:off x="3390824" y="2468880"/>
            <a:ext cx="2567864" cy="3108960"/>
          </a:xfrm>
          <a:prstGeom prst="roundRect">
            <a:avLst>
              <a:gd name="adj" fmla="val 2849"/>
            </a:avLst>
          </a:prstGeom>
          <a:solidFill>
            <a:schemeClr val="bg2"/>
          </a:solidFill>
          <a:ln w="12700">
            <a:solidFill>
              <a:schemeClr val="bg2"/>
            </a:solidFill>
            <a:prstDash val="solid"/>
          </a:ln>
        </p:spPr>
        <p:txBody>
          <a:bodyPr/>
          <a:lstStyle/>
          <a:p>
            <a:endParaRPr lang="en-US"/>
          </a:p>
        </p:txBody>
      </p:sp>
      <p:pic>
        <p:nvPicPr>
          <p:cNvPr id="9" name="Elekter ikoon" descr="image-6-2.png"/>
          <p:cNvPicPr>
            <a:picLocks noChangeAspect="1"/>
          </p:cNvPicPr>
          <p:nvPr/>
        </p:nvPicPr>
        <p:blipFill>
          <a:blip r:embed="rId4"/>
          <a:stretch>
            <a:fillRect/>
          </a:stretch>
        </p:blipFill>
        <p:spPr>
          <a:xfrm>
            <a:off x="3665144" y="2834640"/>
            <a:ext cx="548640" cy="548640"/>
          </a:xfrm>
          <a:prstGeom prst="rect">
            <a:avLst/>
          </a:prstGeom>
        </p:spPr>
      </p:pic>
      <p:sp>
        <p:nvSpPr>
          <p:cNvPr id="10" name="Text 6"/>
          <p:cNvSpPr txBox="1"/>
          <p:nvPr/>
        </p:nvSpPr>
        <p:spPr>
          <a:xfrm>
            <a:off x="3665144" y="3840480"/>
            <a:ext cx="2110664" cy="548640"/>
          </a:xfrm>
          <a:prstGeom prst="rect">
            <a:avLst/>
          </a:prstGeom>
          <a:noFill/>
          <a:ln/>
        </p:spPr>
        <p:txBody>
          <a:bodyPr wrap="square" lIns="0" tIns="0" rIns="0" bIns="0" rtlCol="0" anchor="ctr"/>
          <a:lstStyle/>
          <a:p>
            <a:pPr marL="0" indent="0">
              <a:buNone/>
            </a:pPr>
            <a:r>
              <a:rPr lang="en-US" sz="2100" b="1" dirty="0">
                <a:solidFill>
                  <a:schemeClr val="tx2"/>
                </a:solidFill>
                <a:latin typeface="Roboto" pitchFamily="34" charset="0"/>
                <a:ea typeface="Roboto" pitchFamily="34" charset="-122"/>
                <a:cs typeface="Roboto" pitchFamily="34" charset="-120"/>
              </a:rPr>
              <a:t>Elekter</a:t>
            </a:r>
            <a:endParaRPr lang="en-US" sz="2100" dirty="0"/>
          </a:p>
        </p:txBody>
      </p:sp>
      <p:sp>
        <p:nvSpPr>
          <p:cNvPr id="11" name="Text 7"/>
          <p:cNvSpPr txBox="1"/>
          <p:nvPr/>
        </p:nvSpPr>
        <p:spPr>
          <a:xfrm>
            <a:off x="3665144" y="4526280"/>
            <a:ext cx="2110664" cy="320040"/>
          </a:xfrm>
          <a:prstGeom prst="rect">
            <a:avLst/>
          </a:prstGeom>
          <a:noFill/>
          <a:ln/>
        </p:spPr>
        <p:txBody>
          <a:bodyPr wrap="square" lIns="0" tIns="0" rIns="0" bIns="0" rtlCol="0" anchor="ctr"/>
          <a:lstStyle/>
          <a:p>
            <a:pPr marL="0" indent="0">
              <a:buNone/>
            </a:pPr>
            <a:r>
              <a:rPr lang="en-US" sz="1200" b="1" kern="0" spc="150" dirty="0">
                <a:solidFill>
                  <a:schemeClr val="accent3"/>
                </a:solidFill>
                <a:latin typeface="Roboto" pitchFamily="34" charset="0"/>
                <a:ea typeface="Roboto" pitchFamily="34" charset="-122"/>
                <a:cs typeface="Roboto" pitchFamily="34" charset="-120"/>
              </a:rPr>
              <a:t>TULEVIKUS</a:t>
            </a:r>
            <a:endParaRPr lang="en-US" sz="1200" dirty="0"/>
          </a:p>
        </p:txBody>
      </p:sp>
      <p:sp>
        <p:nvSpPr>
          <p:cNvPr id="12" name="Kindlustus"/>
          <p:cNvSpPr/>
          <p:nvPr/>
        </p:nvSpPr>
        <p:spPr>
          <a:xfrm>
            <a:off x="6233008" y="2468880"/>
            <a:ext cx="2567864" cy="3108960"/>
          </a:xfrm>
          <a:prstGeom prst="roundRect">
            <a:avLst>
              <a:gd name="adj" fmla="val 2849"/>
            </a:avLst>
          </a:prstGeom>
          <a:solidFill>
            <a:schemeClr val="bg2"/>
          </a:solidFill>
          <a:ln w="12700">
            <a:solidFill>
              <a:schemeClr val="bg2"/>
            </a:solidFill>
            <a:prstDash val="solid"/>
          </a:ln>
        </p:spPr>
        <p:txBody>
          <a:bodyPr/>
          <a:lstStyle/>
          <a:p>
            <a:endParaRPr lang="en-US"/>
          </a:p>
        </p:txBody>
      </p:sp>
      <p:pic>
        <p:nvPicPr>
          <p:cNvPr id="13" name="Kindlustus ikoon" descr="image-6-3.png"/>
          <p:cNvPicPr>
            <a:picLocks noChangeAspect="1"/>
          </p:cNvPicPr>
          <p:nvPr/>
        </p:nvPicPr>
        <p:blipFill>
          <a:blip r:embed="rId5"/>
          <a:stretch>
            <a:fillRect/>
          </a:stretch>
        </p:blipFill>
        <p:spPr>
          <a:xfrm>
            <a:off x="6507328" y="2834640"/>
            <a:ext cx="548640" cy="548640"/>
          </a:xfrm>
          <a:prstGeom prst="rect">
            <a:avLst/>
          </a:prstGeom>
        </p:spPr>
      </p:pic>
      <p:sp>
        <p:nvSpPr>
          <p:cNvPr id="14" name="Text 9"/>
          <p:cNvSpPr txBox="1"/>
          <p:nvPr/>
        </p:nvSpPr>
        <p:spPr>
          <a:xfrm>
            <a:off x="6507328" y="3840480"/>
            <a:ext cx="2110664" cy="548640"/>
          </a:xfrm>
          <a:prstGeom prst="rect">
            <a:avLst/>
          </a:prstGeom>
          <a:noFill/>
          <a:ln/>
        </p:spPr>
        <p:txBody>
          <a:bodyPr wrap="square" lIns="0" tIns="0" rIns="0" bIns="0" rtlCol="0" anchor="ctr"/>
          <a:lstStyle/>
          <a:p>
            <a:pPr marL="0" indent="0">
              <a:buNone/>
            </a:pPr>
            <a:r>
              <a:rPr lang="en-US" sz="2100" b="1" dirty="0">
                <a:solidFill>
                  <a:schemeClr val="tx2"/>
                </a:solidFill>
                <a:latin typeface="Roboto" pitchFamily="34" charset="0"/>
                <a:ea typeface="Roboto" pitchFamily="34" charset="-122"/>
                <a:cs typeface="Roboto" pitchFamily="34" charset="-120"/>
              </a:rPr>
              <a:t>Kindlustus</a:t>
            </a:r>
            <a:endParaRPr lang="en-US" sz="2100" dirty="0"/>
          </a:p>
        </p:txBody>
      </p:sp>
      <p:sp>
        <p:nvSpPr>
          <p:cNvPr id="15" name="Text 10"/>
          <p:cNvSpPr txBox="1"/>
          <p:nvPr/>
        </p:nvSpPr>
        <p:spPr>
          <a:xfrm>
            <a:off x="6507328" y="4526280"/>
            <a:ext cx="2110664" cy="320040"/>
          </a:xfrm>
          <a:prstGeom prst="rect">
            <a:avLst/>
          </a:prstGeom>
          <a:noFill/>
          <a:ln/>
        </p:spPr>
        <p:txBody>
          <a:bodyPr wrap="square" lIns="0" tIns="0" rIns="0" bIns="0" rtlCol="0" anchor="ctr"/>
          <a:lstStyle/>
          <a:p>
            <a:pPr marL="0" indent="0">
              <a:buNone/>
            </a:pPr>
            <a:r>
              <a:rPr lang="en-US" sz="1200" b="1" kern="0" spc="150" dirty="0">
                <a:solidFill>
                  <a:schemeClr val="accent3"/>
                </a:solidFill>
                <a:latin typeface="Roboto" pitchFamily="34" charset="0"/>
                <a:ea typeface="Roboto" pitchFamily="34" charset="-122"/>
                <a:cs typeface="Roboto" pitchFamily="34" charset="-120"/>
              </a:rPr>
              <a:t>TULEVIKUS</a:t>
            </a:r>
            <a:endParaRPr lang="en-US" sz="1200" dirty="0"/>
          </a:p>
        </p:txBody>
      </p:sp>
      <p:sp>
        <p:nvSpPr>
          <p:cNvPr id="16" name="Ühistellimused"/>
          <p:cNvSpPr/>
          <p:nvPr/>
        </p:nvSpPr>
        <p:spPr>
          <a:xfrm>
            <a:off x="9075191" y="2468880"/>
            <a:ext cx="2567864" cy="3108960"/>
          </a:xfrm>
          <a:prstGeom prst="roundRect">
            <a:avLst>
              <a:gd name="adj" fmla="val 2849"/>
            </a:avLst>
          </a:prstGeom>
          <a:solidFill>
            <a:schemeClr val="bg2"/>
          </a:solidFill>
          <a:ln w="12700">
            <a:solidFill>
              <a:schemeClr val="bg2"/>
            </a:solidFill>
            <a:prstDash val="solid"/>
          </a:ln>
        </p:spPr>
        <p:txBody>
          <a:bodyPr/>
          <a:lstStyle/>
          <a:p>
            <a:endParaRPr lang="en-US"/>
          </a:p>
        </p:txBody>
      </p:sp>
      <p:pic>
        <p:nvPicPr>
          <p:cNvPr id="17" name="Ühistellimused ikoon" descr="image-6-4.png"/>
          <p:cNvPicPr>
            <a:picLocks noChangeAspect="1"/>
          </p:cNvPicPr>
          <p:nvPr/>
        </p:nvPicPr>
        <p:blipFill>
          <a:blip r:embed="rId6"/>
          <a:stretch>
            <a:fillRect/>
          </a:stretch>
        </p:blipFill>
        <p:spPr>
          <a:xfrm>
            <a:off x="9349511" y="2834640"/>
            <a:ext cx="548640" cy="548640"/>
          </a:xfrm>
          <a:prstGeom prst="rect">
            <a:avLst/>
          </a:prstGeom>
        </p:spPr>
      </p:pic>
      <p:sp>
        <p:nvSpPr>
          <p:cNvPr id="18" name="Text 12"/>
          <p:cNvSpPr txBox="1"/>
          <p:nvPr/>
        </p:nvSpPr>
        <p:spPr>
          <a:xfrm>
            <a:off x="9349511" y="3840480"/>
            <a:ext cx="2110664" cy="548640"/>
          </a:xfrm>
          <a:prstGeom prst="rect">
            <a:avLst/>
          </a:prstGeom>
          <a:noFill/>
          <a:ln/>
        </p:spPr>
        <p:txBody>
          <a:bodyPr wrap="square" lIns="0" tIns="0" rIns="0" bIns="0" rtlCol="0" anchor="ctr"/>
          <a:lstStyle/>
          <a:p>
            <a:pPr marL="0" indent="0">
              <a:buNone/>
            </a:pPr>
            <a:r>
              <a:rPr lang="en-US" sz="2100" b="1" dirty="0">
                <a:solidFill>
                  <a:schemeClr val="tx2"/>
                </a:solidFill>
                <a:latin typeface="Roboto" pitchFamily="34" charset="0"/>
                <a:ea typeface="Roboto" pitchFamily="34" charset="-122"/>
                <a:cs typeface="Roboto" pitchFamily="34" charset="-120"/>
              </a:rPr>
              <a:t>Ühistellimused</a:t>
            </a:r>
            <a:endParaRPr lang="en-US" sz="2100" dirty="0"/>
          </a:p>
        </p:txBody>
      </p:sp>
      <p:sp>
        <p:nvSpPr>
          <p:cNvPr id="19" name="Text 13"/>
          <p:cNvSpPr txBox="1"/>
          <p:nvPr/>
        </p:nvSpPr>
        <p:spPr>
          <a:xfrm>
            <a:off x="9349511" y="4526280"/>
            <a:ext cx="2110664" cy="320040"/>
          </a:xfrm>
          <a:prstGeom prst="rect">
            <a:avLst/>
          </a:prstGeom>
          <a:noFill/>
          <a:ln/>
        </p:spPr>
        <p:txBody>
          <a:bodyPr wrap="square" lIns="0" tIns="0" rIns="0" bIns="0" rtlCol="0" anchor="ctr"/>
          <a:lstStyle/>
          <a:p>
            <a:pPr marL="0" indent="0">
              <a:buNone/>
            </a:pPr>
            <a:r>
              <a:rPr lang="en-US" sz="1200" b="1" kern="0" spc="150" dirty="0">
                <a:solidFill>
                  <a:schemeClr val="accent3"/>
                </a:solidFill>
                <a:latin typeface="Roboto" pitchFamily="34" charset="0"/>
                <a:ea typeface="Roboto" pitchFamily="34" charset="-122"/>
                <a:cs typeface="Roboto" pitchFamily="34" charset="-120"/>
              </a:rPr>
              <a:t>TULEVIKUS</a:t>
            </a:r>
            <a:endParaRPr lang="en-US" sz="12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6</a:t>
            </a:fld>
            <a:endParaRPr lang="en-US"/>
          </a:p>
        </p:txBody>
      </p:sp>
      <p:sp>
        <p:nvSpPr>
          <p:cNvPr id="22" name="Text Placeholder 21">
            <a:extLst>
              <a:ext uri="{FF2B5EF4-FFF2-40B4-BE49-F238E27FC236}">
                <a16:creationId xmlns:a16="http://schemas.microsoft.com/office/drawing/2014/main" id="{BB17DDCE-4DDA-0987-A19F-E5187BC67E49}"/>
              </a:ext>
            </a:extLst>
          </p:cNvPr>
          <p:cNvSpPr>
            <a:spLocks noGrp="1"/>
          </p:cNvSpPr>
          <p:nvPr>
            <p:ph type="body" idx="101"/>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874520"/>
            <a:ext cx="7315200" cy="731520"/>
          </a:xfrm>
          <a:prstGeom prst="rect">
            <a:avLst/>
          </a:prstGeom>
          <a:noFill/>
          <a:ln/>
        </p:spPr>
        <p:txBody>
          <a:bodyPr wrap="square" lIns="0" tIns="0" rIns="0" bIns="0" rtlCol="0" anchor="ctr"/>
          <a:lstStyle/>
          <a:p>
            <a:pPr marL="0" indent="0">
              <a:buNone/>
            </a:pPr>
            <a:r>
              <a:rPr lang="en-US" sz="3400" b="1" dirty="0">
                <a:solidFill>
                  <a:schemeClr val="tx2"/>
                </a:solidFill>
                <a:latin typeface="Roboto" pitchFamily="34" charset="0"/>
                <a:ea typeface="Roboto" pitchFamily="34" charset="-122"/>
                <a:cs typeface="Roboto" pitchFamily="34" charset="-120"/>
              </a:rPr>
              <a:t>Mis saab edasi?</a:t>
            </a:r>
            <a:endParaRPr lang="en-US" sz="3400" dirty="0"/>
          </a:p>
        </p:txBody>
      </p:sp>
      <p:sp>
        <p:nvSpPr>
          <p:cNvPr id="3" name="Esimene samm"/>
          <p:cNvSpPr/>
          <p:nvPr/>
        </p:nvSpPr>
        <p:spPr>
          <a:xfrm>
            <a:off x="548640" y="2788920"/>
            <a:ext cx="5364328" cy="2011680"/>
          </a:xfrm>
          <a:prstGeom prst="roundRect">
            <a:avLst>
              <a:gd name="adj" fmla="val 2759"/>
            </a:avLst>
          </a:prstGeom>
          <a:solidFill>
            <a:schemeClr val="tx2"/>
          </a:solidFill>
          <a:ln w="12700">
            <a:solidFill>
              <a:schemeClr val="tx2"/>
            </a:solidFill>
            <a:prstDash val="solid"/>
          </a:ln>
        </p:spPr>
        <p:txBody>
          <a:bodyPr/>
          <a:lstStyle/>
          <a:p>
            <a:endParaRPr lang="en-US"/>
          </a:p>
        </p:txBody>
      </p:sp>
      <p:sp>
        <p:nvSpPr>
          <p:cNvPr id="4" name="Text 2"/>
          <p:cNvSpPr txBox="1"/>
          <p:nvPr/>
        </p:nvSpPr>
        <p:spPr>
          <a:xfrm>
            <a:off x="868680" y="3017520"/>
            <a:ext cx="4724248" cy="365760"/>
          </a:xfrm>
          <a:prstGeom prst="rect">
            <a:avLst/>
          </a:prstGeom>
          <a:noFill/>
          <a:ln/>
        </p:spPr>
        <p:txBody>
          <a:bodyPr wrap="square" lIns="0" tIns="0" rIns="0" bIns="0" rtlCol="0" anchor="ctr"/>
          <a:lstStyle/>
          <a:p>
            <a:pPr marL="0" indent="0">
              <a:buNone/>
            </a:pPr>
            <a:r>
              <a:rPr lang="en-US" sz="1800" b="1" dirty="0" err="1">
                <a:solidFill>
                  <a:schemeClr val="accent2"/>
                </a:solidFill>
                <a:latin typeface="Roboto" pitchFamily="34" charset="0"/>
                <a:ea typeface="Roboto" pitchFamily="34" charset="-122"/>
                <a:cs typeface="Roboto" pitchFamily="34" charset="-120"/>
              </a:rPr>
              <a:t>Järgmised</a:t>
            </a:r>
            <a:r>
              <a:rPr lang="en-US" sz="1800" b="1" dirty="0">
                <a:solidFill>
                  <a:schemeClr val="accent2"/>
                </a:solidFill>
                <a:latin typeface="Roboto" pitchFamily="34" charset="0"/>
                <a:ea typeface="Roboto" pitchFamily="34" charset="-122"/>
                <a:cs typeface="Roboto" pitchFamily="34" charset="-120"/>
              </a:rPr>
              <a:t> </a:t>
            </a:r>
            <a:r>
              <a:rPr lang="en-US" sz="1800" b="1" dirty="0" err="1">
                <a:solidFill>
                  <a:schemeClr val="accent2"/>
                </a:solidFill>
                <a:latin typeface="Roboto" pitchFamily="34" charset="0"/>
                <a:ea typeface="Roboto" pitchFamily="34" charset="-122"/>
                <a:cs typeface="Roboto" pitchFamily="34" charset="-120"/>
              </a:rPr>
              <a:t>sammud</a:t>
            </a:r>
            <a:endParaRPr lang="en-US" sz="1800" dirty="0"/>
          </a:p>
        </p:txBody>
      </p:sp>
      <p:sp>
        <p:nvSpPr>
          <p:cNvPr id="5" name="Text 3"/>
          <p:cNvSpPr txBox="1"/>
          <p:nvPr/>
        </p:nvSpPr>
        <p:spPr>
          <a:xfrm>
            <a:off x="868680" y="3474720"/>
            <a:ext cx="4724248" cy="118872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dirty="0" err="1">
                <a:solidFill>
                  <a:srgbClr val="FFFFFF"/>
                </a:solidFill>
                <a:latin typeface="Roboto Flex" pitchFamily="34" charset="0"/>
                <a:ea typeface="Roboto Flex" pitchFamily="34" charset="-122"/>
                <a:cs typeface="Roboto Flex" pitchFamily="34" charset="-120"/>
              </a:rPr>
              <a:t>Registreerumine</a:t>
            </a:r>
            <a:r>
              <a:rPr lang="en-US" dirty="0">
                <a:solidFill>
                  <a:srgbClr val="FFFFFF"/>
                </a:solidFill>
                <a:latin typeface="Roboto Flex" pitchFamily="34" charset="0"/>
                <a:ea typeface="Roboto Flex" pitchFamily="34" charset="-122"/>
                <a:cs typeface="Roboto Flex" pitchFamily="34" charset="-120"/>
              </a:rPr>
              <a:t> Tuleva </a:t>
            </a:r>
            <a:r>
              <a:rPr lang="en-US" dirty="0" err="1">
                <a:solidFill>
                  <a:srgbClr val="FFFFFF"/>
                </a:solidFill>
                <a:latin typeface="Roboto Flex" pitchFamily="34" charset="0"/>
                <a:ea typeface="Roboto Flex" pitchFamily="34" charset="-122"/>
                <a:cs typeface="Roboto Flex" pitchFamily="34" charset="-120"/>
              </a:rPr>
              <a:t>kogukonnas</a:t>
            </a:r>
            <a:endParaRPr lang="en-US" sz="1700" dirty="0"/>
          </a:p>
          <a:p>
            <a:pPr marL="342900" indent="-342900">
              <a:spcAft>
                <a:spcPts val="800"/>
              </a:spcAft>
              <a:buSzPct val="100000"/>
              <a:buFont typeface="+mj-lt"/>
              <a:buAutoNum type="arabicPeriod"/>
            </a:pPr>
            <a:r>
              <a:rPr lang="en-US" dirty="0" err="1">
                <a:solidFill>
                  <a:srgbClr val="FFFFFF"/>
                </a:solidFill>
                <a:latin typeface="Roboto Flex" pitchFamily="34" charset="0"/>
                <a:ea typeface="Roboto Flex" pitchFamily="34" charset="-122"/>
                <a:cs typeface="Roboto Flex" pitchFamily="34" charset="-120"/>
              </a:rPr>
              <a:t>Hankepäring</a:t>
            </a:r>
            <a:r>
              <a:rPr lang="en-US" dirty="0">
                <a:solidFill>
                  <a:srgbClr val="FFFFFF"/>
                </a:solidFill>
                <a:latin typeface="Roboto Flex" pitchFamily="34" charset="0"/>
                <a:ea typeface="Roboto Flex" pitchFamily="34" charset="-122"/>
                <a:cs typeface="Roboto Flex" pitchFamily="34" charset="-120"/>
              </a:rPr>
              <a:t> </a:t>
            </a:r>
            <a:r>
              <a:rPr lang="en-US" dirty="0" err="1">
                <a:solidFill>
                  <a:srgbClr val="FFFFFF"/>
                </a:solidFill>
                <a:latin typeface="Roboto Flex" pitchFamily="34" charset="0"/>
                <a:ea typeface="Roboto Flex" pitchFamily="34" charset="-122"/>
                <a:cs typeface="Roboto Flex" pitchFamily="34" charset="-120"/>
              </a:rPr>
              <a:t>kõigile</a:t>
            </a:r>
            <a:r>
              <a:rPr lang="en-US" dirty="0">
                <a:solidFill>
                  <a:srgbClr val="FFFFFF"/>
                </a:solidFill>
                <a:latin typeface="Roboto Flex" pitchFamily="34" charset="0"/>
                <a:ea typeface="Roboto Flex" pitchFamily="34" charset="-122"/>
                <a:cs typeface="Roboto Flex" pitchFamily="34" charset="-120"/>
              </a:rPr>
              <a:t> </a:t>
            </a:r>
            <a:r>
              <a:rPr lang="en-US" dirty="0" err="1">
                <a:solidFill>
                  <a:srgbClr val="FFFFFF"/>
                </a:solidFill>
                <a:latin typeface="Roboto Flex" pitchFamily="34" charset="0"/>
                <a:ea typeface="Roboto Flex" pitchFamily="34" charset="-122"/>
                <a:cs typeface="Roboto Flex" pitchFamily="34" charset="-120"/>
              </a:rPr>
              <a:t>operaatoritele</a:t>
            </a:r>
            <a:endParaRPr lang="en-US" sz="1700" dirty="0"/>
          </a:p>
          <a:p>
            <a:pPr>
              <a:lnSpc>
                <a:spcPts val="2240"/>
              </a:lnSpc>
            </a:pPr>
            <a:r>
              <a:rPr lang="en-US" dirty="0">
                <a:solidFill>
                  <a:srgbClr val="FFFFFF"/>
                </a:solidFill>
                <a:latin typeface="Roboto Flex" pitchFamily="34" charset="0"/>
                <a:ea typeface="Roboto Flex" pitchFamily="34" charset="-122"/>
                <a:cs typeface="Roboto Flex" pitchFamily="34" charset="-120"/>
              </a:rPr>
              <a:t>3.  </a:t>
            </a:r>
            <a:r>
              <a:rPr lang="en-US" dirty="0" err="1">
                <a:solidFill>
                  <a:srgbClr val="FFFFFF"/>
                </a:solidFill>
                <a:latin typeface="Roboto Flex" pitchFamily="34" charset="0"/>
                <a:ea typeface="Roboto Flex" pitchFamily="34" charset="-122"/>
                <a:cs typeface="Roboto Flex" pitchFamily="34" charset="-120"/>
              </a:rPr>
              <a:t>Esimene</a:t>
            </a:r>
            <a:r>
              <a:rPr lang="en-US" dirty="0">
                <a:solidFill>
                  <a:srgbClr val="FFFFFF"/>
                </a:solidFill>
                <a:latin typeface="Roboto Flex" pitchFamily="34" charset="0"/>
                <a:ea typeface="Roboto Flex" pitchFamily="34" charset="-122"/>
                <a:cs typeface="Roboto Flex" pitchFamily="34" charset="-120"/>
              </a:rPr>
              <a:t> </a:t>
            </a:r>
            <a:r>
              <a:rPr lang="en-US" dirty="0" err="1">
                <a:solidFill>
                  <a:srgbClr val="FFFFFF"/>
                </a:solidFill>
                <a:latin typeface="Roboto Flex" pitchFamily="34" charset="0"/>
                <a:ea typeface="Roboto Flex" pitchFamily="34" charset="-122"/>
                <a:cs typeface="Roboto Flex" pitchFamily="34" charset="-120"/>
              </a:rPr>
              <a:t>hange</a:t>
            </a:r>
            <a:r>
              <a:rPr lang="en-US" dirty="0">
                <a:solidFill>
                  <a:srgbClr val="FFFFFF"/>
                </a:solidFill>
                <a:latin typeface="Roboto Flex" pitchFamily="34" charset="0"/>
                <a:ea typeface="Roboto Flex" pitchFamily="34" charset="-122"/>
                <a:cs typeface="Roboto Flex" pitchFamily="34" charset="-120"/>
              </a:rPr>
              <a:t> </a:t>
            </a:r>
            <a:r>
              <a:rPr lang="en-US" dirty="0" err="1">
                <a:solidFill>
                  <a:srgbClr val="FFFFFF"/>
                </a:solidFill>
                <a:latin typeface="Roboto Flex" pitchFamily="34" charset="0"/>
                <a:ea typeface="Roboto Flex" pitchFamily="34" charset="-122"/>
                <a:cs typeface="Roboto Flex" pitchFamily="34" charset="-120"/>
              </a:rPr>
              <a:t>käsitsi</a:t>
            </a:r>
            <a:endParaRPr lang="en-US" dirty="0"/>
          </a:p>
        </p:txBody>
      </p:sp>
      <p:sp>
        <p:nvSpPr>
          <p:cNvPr id="6" name="Mida vajame"/>
          <p:cNvSpPr/>
          <p:nvPr/>
        </p:nvSpPr>
        <p:spPr>
          <a:xfrm>
            <a:off x="6278728" y="2788920"/>
            <a:ext cx="5364328" cy="2011680"/>
          </a:xfrm>
          <a:prstGeom prst="roundRect">
            <a:avLst>
              <a:gd name="adj" fmla="val 2759"/>
            </a:avLst>
          </a:prstGeom>
          <a:solidFill>
            <a:schemeClr val="bg1"/>
          </a:solidFill>
          <a:ln w="12700">
            <a:solidFill>
              <a:schemeClr val="bg1"/>
            </a:solidFill>
            <a:prstDash val="solid"/>
          </a:ln>
        </p:spPr>
        <p:txBody>
          <a:bodyPr/>
          <a:lstStyle/>
          <a:p>
            <a:endParaRPr lang="en-US"/>
          </a:p>
        </p:txBody>
      </p:sp>
      <p:sp>
        <p:nvSpPr>
          <p:cNvPr id="7" name="Text 5"/>
          <p:cNvSpPr txBox="1"/>
          <p:nvPr/>
        </p:nvSpPr>
        <p:spPr>
          <a:xfrm>
            <a:off x="6598768" y="3017520"/>
            <a:ext cx="4724248" cy="365760"/>
          </a:xfrm>
          <a:prstGeom prst="rect">
            <a:avLst/>
          </a:prstGeom>
          <a:noFill/>
          <a:ln/>
        </p:spPr>
        <p:txBody>
          <a:bodyPr wrap="square" lIns="0" tIns="0" rIns="0" bIns="0" rtlCol="0" anchor="ctr"/>
          <a:lstStyle/>
          <a:p>
            <a:pPr marL="0" indent="0">
              <a:buNone/>
            </a:pPr>
            <a:r>
              <a:rPr lang="en-US" sz="1800" b="1" dirty="0">
                <a:solidFill>
                  <a:schemeClr val="tx2"/>
                </a:solidFill>
                <a:latin typeface="Roboto" pitchFamily="34" charset="0"/>
                <a:ea typeface="Roboto" pitchFamily="34" charset="-122"/>
                <a:cs typeface="Roboto" pitchFamily="34" charset="-120"/>
              </a:rPr>
              <a:t>Mida vajame</a:t>
            </a:r>
            <a:endParaRPr lang="en-US" sz="1800" dirty="0"/>
          </a:p>
        </p:txBody>
      </p:sp>
      <p:sp>
        <p:nvSpPr>
          <p:cNvPr id="8" name="Text 6"/>
          <p:cNvSpPr txBox="1"/>
          <p:nvPr/>
        </p:nvSpPr>
        <p:spPr>
          <a:xfrm>
            <a:off x="6598768" y="3474720"/>
            <a:ext cx="4724248" cy="1188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Roboto" pitchFamily="34" charset="0"/>
                <a:ea typeface="Roboto" pitchFamily="34" charset="-122"/>
                <a:cs typeface="Roboto" pitchFamily="34" charset="-120"/>
              </a:rPr>
              <a:t>Tuleva </a:t>
            </a:r>
            <a:r>
              <a:rPr lang="en-US" sz="1700" dirty="0" err="1">
                <a:solidFill>
                  <a:schemeClr val="tx1"/>
                </a:solidFill>
                <a:latin typeface="Roboto" pitchFamily="34" charset="0"/>
                <a:ea typeface="Roboto" pitchFamily="34" charset="-122"/>
                <a:cs typeface="Roboto" pitchFamily="34" charset="-120"/>
              </a:rPr>
              <a:t>otsust</a:t>
            </a:r>
            <a:r>
              <a:rPr lang="en-US" sz="1700" dirty="0">
                <a:solidFill>
                  <a:schemeClr val="tx1"/>
                </a:solidFill>
                <a:latin typeface="Roboto" pitchFamily="34" charset="0"/>
                <a:ea typeface="Roboto" pitchFamily="34" charset="-122"/>
                <a:cs typeface="Roboto" pitchFamily="34" charset="-120"/>
              </a:rPr>
              <a:t> ja </a:t>
            </a:r>
            <a:r>
              <a:rPr lang="en-US" sz="1700" dirty="0" err="1">
                <a:solidFill>
                  <a:schemeClr val="tx1"/>
                </a:solidFill>
                <a:latin typeface="Roboto" pitchFamily="34" charset="0"/>
                <a:ea typeface="Roboto" pitchFamily="34" charset="-122"/>
                <a:cs typeface="Roboto" pitchFamily="34" charset="-120"/>
              </a:rPr>
              <a:t>ühte</a:t>
            </a:r>
            <a:r>
              <a:rPr lang="en-US" sz="1700" dirty="0">
                <a:solidFill>
                  <a:schemeClr val="tx1"/>
                </a:solidFill>
                <a:latin typeface="Roboto" pitchFamily="34" charset="0"/>
                <a:ea typeface="Roboto" pitchFamily="34" charset="-122"/>
                <a:cs typeface="Roboto" pitchFamily="34" charset="-120"/>
              </a:rPr>
              <a:t> </a:t>
            </a:r>
            <a:r>
              <a:rPr lang="en-US" sz="1700" dirty="0" err="1">
                <a:solidFill>
                  <a:schemeClr val="tx1"/>
                </a:solidFill>
                <a:latin typeface="Roboto" pitchFamily="34" charset="0"/>
                <a:ea typeface="Roboto" pitchFamily="34" charset="-122"/>
                <a:cs typeface="Roboto" pitchFamily="34" charset="-120"/>
              </a:rPr>
              <a:t>inimest</a:t>
            </a:r>
            <a:endParaRPr lang="en-US" sz="1700" dirty="0"/>
          </a:p>
          <a:p>
            <a:pPr marL="342900" indent="-342900">
              <a:spcAft>
                <a:spcPts val="800"/>
              </a:spcAft>
              <a:buSzPct val="100000"/>
              <a:buChar char="•"/>
            </a:pPr>
            <a:r>
              <a:rPr lang="en-US" sz="1700" dirty="0">
                <a:solidFill>
                  <a:schemeClr val="tx1"/>
                </a:solidFill>
                <a:latin typeface="Roboto" pitchFamily="34" charset="0"/>
                <a:ea typeface="Roboto" pitchFamily="34" charset="-122"/>
                <a:cs typeface="Roboto" pitchFamily="34" charset="-120"/>
              </a:rPr>
              <a:t>Õigus- ja </a:t>
            </a:r>
            <a:r>
              <a:rPr lang="en-US" sz="1700" dirty="0" err="1">
                <a:solidFill>
                  <a:schemeClr val="tx1"/>
                </a:solidFill>
                <a:latin typeface="Roboto" pitchFamily="34" charset="0"/>
                <a:ea typeface="Roboto" pitchFamily="34" charset="-122"/>
                <a:cs typeface="Roboto" pitchFamily="34" charset="-120"/>
              </a:rPr>
              <a:t>andmekaitseanalüüsi</a:t>
            </a:r>
            <a:endParaRPr lang="en-US" sz="1700" dirty="0"/>
          </a:p>
          <a:p>
            <a:pPr marL="342900" indent="-342900">
              <a:spcAft>
                <a:spcPts val="800"/>
              </a:spcAft>
              <a:buSzPct val="100000"/>
              <a:buChar char="•"/>
            </a:pPr>
            <a:r>
              <a:rPr lang="en-US" sz="1700" dirty="0" err="1">
                <a:solidFill>
                  <a:schemeClr val="tx1"/>
                </a:solidFill>
                <a:latin typeface="Roboto" pitchFamily="34" charset="0"/>
                <a:ea typeface="Roboto" pitchFamily="34" charset="-122"/>
                <a:cs typeface="Roboto" pitchFamily="34" charset="-120"/>
              </a:rPr>
              <a:t>Kontakti</a:t>
            </a:r>
            <a:r>
              <a:rPr lang="en-US" sz="1700" dirty="0">
                <a:solidFill>
                  <a:schemeClr val="tx1"/>
                </a:solidFill>
                <a:latin typeface="Roboto" pitchFamily="34" charset="0"/>
                <a:ea typeface="Roboto" pitchFamily="34" charset="-122"/>
                <a:cs typeface="Roboto" pitchFamily="34" charset="-120"/>
              </a:rPr>
              <a:t> </a:t>
            </a:r>
            <a:r>
              <a:rPr lang="en-US" sz="1700" dirty="0" err="1">
                <a:solidFill>
                  <a:schemeClr val="tx1"/>
                </a:solidFill>
                <a:latin typeface="Roboto" pitchFamily="34" charset="0"/>
                <a:ea typeface="Roboto" pitchFamily="34" charset="-122"/>
                <a:cs typeface="Roboto" pitchFamily="34" charset="-120"/>
              </a:rPr>
              <a:t>operaatoritega</a:t>
            </a:r>
            <a:endParaRPr lang="en-US" sz="1700" dirty="0"/>
          </a:p>
        </p:txBody>
      </p:sp>
      <p:sp>
        <p:nvSpPr>
          <p:cNvPr id="9" name="Text 7"/>
          <p:cNvSpPr txBox="1"/>
          <p:nvPr/>
        </p:nvSpPr>
        <p:spPr>
          <a:xfrm>
            <a:off x="548640" y="5212080"/>
            <a:ext cx="8229600" cy="457200"/>
          </a:xfrm>
          <a:prstGeom prst="rect">
            <a:avLst/>
          </a:prstGeom>
          <a:noFill/>
          <a:ln/>
        </p:spPr>
        <p:txBody>
          <a:bodyPr wrap="square" lIns="0" tIns="0" rIns="0" bIns="0" rtlCol="0" anchor="ctr"/>
          <a:lstStyle/>
          <a:p>
            <a:pPr marL="0" indent="0">
              <a:buNone/>
            </a:pPr>
            <a:r>
              <a:rPr lang="en-US" sz="2200" b="1" dirty="0">
                <a:solidFill>
                  <a:schemeClr val="tx2"/>
                </a:solidFill>
                <a:latin typeface="Roboto" pitchFamily="34" charset="0"/>
                <a:ea typeface="Roboto" pitchFamily="34" charset="-122"/>
                <a:cs typeface="Roboto" pitchFamily="34" charset="-120"/>
              </a:rPr>
              <a:t>Üksi pole sul läbirääkimisjõudu. Tuhandel inimesel on.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02920"/>
            <a:ext cx="11094415" cy="731520"/>
          </a:xfrm>
          <a:prstGeom prst="rect">
            <a:avLst/>
          </a:prstGeom>
          <a:noFill/>
          <a:ln/>
        </p:spPr>
        <p:txBody>
          <a:bodyPr wrap="square" lIns="0" tIns="0" rIns="0" bIns="0" rtlCol="0" anchor="t"/>
          <a:lstStyle/>
          <a:p>
            <a:pPr marL="0" indent="0" algn="l">
              <a:buNone/>
            </a:pPr>
            <a:r>
              <a:rPr lang="en-US" sz="3000" b="1" dirty="0">
                <a:solidFill>
                  <a:schemeClr val="tx2"/>
                </a:solidFill>
              </a:rPr>
              <a:t>Jooksev kulu kaetud 16. kuul, pessimistlikus mitte kunagi</a:t>
            </a:r>
            <a:endParaRPr lang="en-US" sz="3000" dirty="0"/>
          </a:p>
        </p:txBody>
      </p:sp>
      <p:sp>
        <p:nvSpPr>
          <p:cNvPr id="3" name="Text 1"/>
          <p:cNvSpPr>
            <a:spLocks noGrp="1"/>
          </p:cNvSpPr>
          <p:nvPr>
            <p:ph type="body" idx="102" hasCustomPrompt="1"/>
          </p:nvPr>
        </p:nvSpPr>
        <p:spPr>
          <a:xfrm>
            <a:off x="548640" y="6355080"/>
            <a:ext cx="10362895" cy="274320"/>
          </a:xfrm>
          <a:prstGeom prst="rect">
            <a:avLst/>
          </a:prstGeom>
          <a:noFill/>
          <a:ln/>
        </p:spPr>
        <p:txBody>
          <a:bodyPr wrap="square" lIns="0" tIns="0" rIns="0" bIns="0" rtlCol="0" anchor="ctr"/>
          <a:lstStyle/>
          <a:p>
            <a:pPr marL="0" indent="0">
              <a:buNone/>
            </a:pPr>
            <a:r>
              <a:rPr lang="en-US" sz="1000" dirty="0">
                <a:solidFill>
                  <a:schemeClr val="accent3"/>
                </a:solidFill>
              </a:rPr>
              <a:t>Hinnang · Marju prognoos 10.10.2026 (docs/13) · ainult 9 560 liiget · 1 inimene ≈ 69 000 € aastas, mobiilile 1. aastal 100%, edasi 50%</a:t>
            </a:r>
            <a:endParaRPr lang="en-US" sz="1000" dirty="0"/>
          </a:p>
        </p:txBody>
      </p:sp>
      <p:graphicFrame>
        <p:nvGraphicFramePr>
          <p:cNvPr id="4" name="Lepingud aastate kaupa"/>
          <p:cNvGraphicFramePr/>
          <p:nvPr/>
        </p:nvGraphicFramePr>
        <p:xfrm>
          <a:off x="548640" y="1371600"/>
          <a:ext cx="74980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Lävi"/>
          <p:cNvSpPr/>
          <p:nvPr/>
        </p:nvSpPr>
        <p:spPr>
          <a:xfrm>
            <a:off x="8503920" y="1463040"/>
            <a:ext cx="3136392" cy="4572000"/>
          </a:xfrm>
          <a:prstGeom prst="roundRect">
            <a:avLst>
              <a:gd name="adj" fmla="val 2332"/>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8778240" y="1737360"/>
            <a:ext cx="2651760" cy="822960"/>
          </a:xfrm>
          <a:prstGeom prst="rect">
            <a:avLst/>
          </a:prstGeom>
          <a:noFill/>
          <a:ln/>
        </p:spPr>
        <p:txBody>
          <a:bodyPr wrap="square" lIns="0" tIns="0" rIns="0" bIns="0" rtlCol="0" anchor="ctr"/>
          <a:lstStyle/>
          <a:p>
            <a:pPr marL="0" indent="0">
              <a:buNone/>
            </a:pPr>
            <a:r>
              <a:rPr lang="en-US" sz="4400" b="1" dirty="0">
                <a:solidFill>
                  <a:schemeClr val="tx2"/>
                </a:solidFill>
                <a:latin typeface="Roboto" pitchFamily="34" charset="0"/>
                <a:ea typeface="Roboto" pitchFamily="34" charset="-122"/>
                <a:cs typeface="Roboto" pitchFamily="34" charset="-120"/>
              </a:rPr>
              <a:t>≈ 5 750</a:t>
            </a:r>
            <a:endParaRPr lang="en-US" sz="4400" dirty="0"/>
          </a:p>
        </p:txBody>
      </p:sp>
      <p:sp>
        <p:nvSpPr>
          <p:cNvPr id="7" name="Text 4"/>
          <p:cNvSpPr txBox="1"/>
          <p:nvPr/>
        </p:nvSpPr>
        <p:spPr>
          <a:xfrm>
            <a:off x="8778240" y="2560320"/>
            <a:ext cx="2651760" cy="548640"/>
          </a:xfrm>
          <a:prstGeom prst="rect">
            <a:avLst/>
          </a:prstGeom>
          <a:noFill/>
          <a:ln/>
        </p:spPr>
        <p:txBody>
          <a:bodyPr wrap="square" lIns="0" tIns="0" rIns="0" bIns="0" rtlCol="0" anchor="t"/>
          <a:lstStyle/>
          <a:p>
            <a:pPr marL="0" indent="0">
              <a:buNone/>
            </a:pPr>
            <a:r>
              <a:rPr lang="en-US" sz="1400" dirty="0">
                <a:solidFill>
                  <a:schemeClr val="tx1"/>
                </a:solidFill>
                <a:latin typeface="Roboto" pitchFamily="34" charset="0"/>
                <a:ea typeface="Roboto" pitchFamily="34" charset="-122"/>
                <a:cs typeface="Roboto" pitchFamily="34" charset="-120"/>
              </a:rPr>
              <a:t>lepingut katab jooksva kulu 2. aastast</a:t>
            </a:r>
            <a:endParaRPr lang="en-US" sz="1400" dirty="0"/>
          </a:p>
        </p:txBody>
      </p:sp>
      <p:sp>
        <p:nvSpPr>
          <p:cNvPr id="8" name="Text 5"/>
          <p:cNvSpPr txBox="1"/>
          <p:nvPr/>
        </p:nvSpPr>
        <p:spPr>
          <a:xfrm>
            <a:off x="8778240" y="3246120"/>
            <a:ext cx="2651760" cy="2651760"/>
          </a:xfrm>
          <a:prstGeom prst="rect">
            <a:avLst/>
          </a:prstGeom>
          <a:noFill/>
          <a:ln/>
        </p:spPr>
        <p:txBody>
          <a:bodyPr wrap="square" lIns="0" tIns="0" rIns="0" bIns="0" rtlCol="0" anchor="t"/>
          <a:lstStyle/>
          <a:p>
            <a:pPr marL="0" indent="0">
              <a:buNone/>
            </a:pPr>
            <a:r>
              <a:rPr lang="en-US" sz="1200" dirty="0">
                <a:solidFill>
                  <a:schemeClr val="accent3"/>
                </a:solidFill>
                <a:latin typeface="Roboto" pitchFamily="34" charset="0"/>
                <a:ea typeface="Roboto" pitchFamily="34" charset="-122"/>
                <a:cs typeface="Roboto" pitchFamily="34" charset="-120"/>
              </a:rPr>
              <a:t>Jooksev kulu kaetud: baas 16., optimistlik 13. kuul. Kumulatiivselt tasa: baas 5., optimistlik 2. aastal.</a:t>
            </a:r>
            <a:endParaRPr lang="en-US" sz="1200" dirty="0"/>
          </a:p>
          <a:p>
            <a:pPr marL="0" indent="0">
              <a:buNone/>
            </a:pPr>
            <a:endParaRPr lang="en-US" sz="1200" dirty="0"/>
          </a:p>
          <a:p>
            <a:pPr marL="0" indent="0">
              <a:buNone/>
            </a:pPr>
            <a:r>
              <a:rPr lang="en-US" sz="1200" dirty="0">
                <a:solidFill>
                  <a:schemeClr val="accent3"/>
                </a:solidFill>
                <a:latin typeface="Roboto" pitchFamily="34" charset="0"/>
                <a:ea typeface="Roboto" pitchFamily="34" charset="-122"/>
                <a:cs typeface="Roboto" pitchFamily="34" charset="-120"/>
              </a:rPr>
              <a:t>Mudel arvestab ainult ühistu liikmeid. Hange on avatud kõigile, see on lisavõimalus, mida pole veel arvutatud.</a:t>
            </a:r>
            <a:endParaRPr lang="en-US" sz="12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02920"/>
            <a:ext cx="11094415" cy="731520"/>
          </a:xfrm>
          <a:prstGeom prst="rect">
            <a:avLst/>
          </a:prstGeom>
          <a:noFill/>
          <a:ln/>
        </p:spPr>
        <p:txBody>
          <a:bodyPr wrap="square" lIns="0" tIns="0" rIns="0" bIns="0" rtlCol="0" anchor="t"/>
          <a:lstStyle/>
          <a:p>
            <a:pPr marL="0" indent="0" algn="l">
              <a:buNone/>
            </a:pPr>
            <a:r>
              <a:rPr lang="en-US" sz="3000" b="1" dirty="0">
                <a:solidFill>
                  <a:schemeClr val="tx2"/>
                </a:solidFill>
              </a:rPr>
              <a:t>Eeldused: kust 2 670 lepingut tuleb</a:t>
            </a:r>
            <a:endParaRPr lang="en-US" sz="3000" dirty="0"/>
          </a:p>
        </p:txBody>
      </p:sp>
      <p:sp>
        <p:nvSpPr>
          <p:cNvPr id="3" name="Text 1"/>
          <p:cNvSpPr>
            <a:spLocks noGrp="1"/>
          </p:cNvSpPr>
          <p:nvPr>
            <p:ph type="body" idx="102" hasCustomPrompt="1"/>
          </p:nvPr>
        </p:nvSpPr>
        <p:spPr>
          <a:xfrm>
            <a:off x="548640" y="6355080"/>
            <a:ext cx="10362895" cy="274320"/>
          </a:xfrm>
          <a:prstGeom prst="rect">
            <a:avLst/>
          </a:prstGeom>
          <a:noFill/>
          <a:ln/>
        </p:spPr>
        <p:txBody>
          <a:bodyPr wrap="square" lIns="0" tIns="0" rIns="0" bIns="0" rtlCol="0" anchor="ctr"/>
          <a:lstStyle/>
          <a:p>
            <a:pPr marL="0" indent="0">
              <a:buNone/>
            </a:pPr>
            <a:r>
              <a:rPr lang="en-US" sz="1000" dirty="0">
                <a:solidFill>
                  <a:schemeClr val="accent3"/>
                </a:solidFill>
              </a:rPr>
              <a:t>Hinnang · Marju prognoos 10.10.2026, baasstsenaarium (docs/13)</a:t>
            </a:r>
            <a:endParaRPr lang="en-US" sz="1000" dirty="0"/>
          </a:p>
        </p:txBody>
      </p:sp>
      <p:graphicFrame>
        <p:nvGraphicFramePr>
          <p:cNvPr id="10" name="Eeldused"/>
          <p:cNvGraphicFramePr>
            <a:graphicFrameLocks noGrp="1"/>
          </p:cNvGraphicFramePr>
          <p:nvPr>
            <p:extLst>
              <p:ext uri="{D42A27DB-BD31-4B8C-83A1-F6EECF244321}">
                <p14:modId xmlns:p14="http://schemas.microsoft.com/office/powerpoint/2010/main" val="1579011935"/>
              </p:ext>
            </p:extLst>
          </p:nvPr>
        </p:nvGraphicFramePr>
        <p:xfrm>
          <a:off x="548640" y="1417320"/>
          <a:ext cx="6583680" cy="4230624"/>
        </p:xfrm>
        <a:graphic>
          <a:graphicData uri="http://schemas.openxmlformats.org/drawingml/2006/table">
            <a:tbl>
              <a:tblPr/>
              <a:tblGrid>
                <a:gridCol w="36576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Roboto" pitchFamily="34" charset="0"/>
                          <a:ea typeface="Roboto" pitchFamily="34" charset="-122"/>
                          <a:cs typeface="Roboto" pitchFamily="34" charset="-120"/>
                        </a:rPr>
                        <a:t>Eeldus (baas)</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2F63"/>
                    </a:solidFill>
                  </a:tcPr>
                </a:tc>
                <a:tc>
                  <a:txBody>
                    <a:bodyPr/>
                    <a:lstStyle/>
                    <a:p>
                      <a:pPr marL="0" indent="0">
                        <a:buNone/>
                      </a:pPr>
                      <a:r>
                        <a:rPr lang="en-US" sz="1400" b="1" dirty="0">
                          <a:solidFill>
                            <a:srgbClr val="FFFFFF"/>
                          </a:solidFill>
                          <a:latin typeface="Roboto" pitchFamily="34" charset="0"/>
                          <a:ea typeface="Roboto" pitchFamily="34" charset="-122"/>
                          <a:cs typeface="Roboto" pitchFamily="34" charset="-120"/>
                        </a:rPr>
                        <a:t>Väärtus</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2F63"/>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Ühistu liikmeid</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9 560</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Registreerub</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20%</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Registreerunutest vahetab</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45% (OCU: ≈ 10%)</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Numbreid liikme kohta</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1,8</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Internet või TV juurde</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40% leibkondadest × 1,6</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Ettevõtteid</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143 × 4 numbrit</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Lepingutest säilib aastas</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85%</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7"/>
                  </a:ext>
                </a:extLst>
              </a:tr>
              <a:tr h="457200">
                <a:tc>
                  <a:txBody>
                    <a:bodyPr/>
                    <a:lstStyle/>
                    <a:p>
                      <a:pPr marL="0" indent="0">
                        <a:buNone/>
                      </a:pPr>
                      <a:r>
                        <a:rPr lang="en-US" sz="1400" dirty="0">
                          <a:solidFill>
                            <a:srgbClr val="293036"/>
                          </a:solidFill>
                          <a:latin typeface="Roboto" pitchFamily="34" charset="0"/>
                          <a:ea typeface="Roboto" pitchFamily="34" charset="-122"/>
                          <a:cs typeface="Roboto" pitchFamily="34" charset="-120"/>
                        </a:rPr>
                        <a:t>Tuleva tasu</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1 € kuus iga lepingu pealt (mobiil, internet, TV)</a:t>
                      </a:r>
                      <a:endParaRPr lang="en-US" sz="1400" dirty="0">
                        <a:latin typeface="Roboto" charset="0"/>
                        <a:ea typeface="Roboto" charset="0"/>
                        <a:cs typeface="Roboto" charset="0"/>
                      </a:endParaRPr>
                    </a:p>
                  </a:txBody>
                  <a:tcPr marL="73152" marR="73152" marT="73152" marB="73152">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txBox="1"/>
          <p:nvPr/>
        </p:nvSpPr>
        <p:spPr>
          <a:xfrm>
            <a:off x="7680960" y="1463040"/>
            <a:ext cx="3931920" cy="594360"/>
          </a:xfrm>
          <a:prstGeom prst="rect">
            <a:avLst/>
          </a:prstGeom>
          <a:noFill/>
          <a:ln/>
        </p:spPr>
        <p:txBody>
          <a:bodyPr wrap="square" lIns="0" tIns="0" rIns="0" bIns="0" rtlCol="0" anchor="ctr"/>
          <a:lstStyle/>
          <a:p>
            <a:pPr marL="0" indent="0">
              <a:buNone/>
            </a:pPr>
            <a:r>
              <a:rPr lang="en-US" sz="3200" b="1" dirty="0">
                <a:solidFill>
                  <a:schemeClr val="accent1"/>
                </a:solidFill>
                <a:latin typeface="Roboto" pitchFamily="34" charset="0"/>
                <a:ea typeface="Roboto" pitchFamily="34" charset="-122"/>
                <a:cs typeface="Roboto" pitchFamily="34" charset="-120"/>
              </a:rPr>
              <a:t>860</a:t>
            </a:r>
            <a:endParaRPr lang="en-US" sz="3200" dirty="0"/>
          </a:p>
        </p:txBody>
      </p:sp>
      <p:sp>
        <p:nvSpPr>
          <p:cNvPr id="6" name="Text 3"/>
          <p:cNvSpPr txBox="1"/>
          <p:nvPr/>
        </p:nvSpPr>
        <p:spPr>
          <a:xfrm>
            <a:off x="7680960" y="2029968"/>
            <a:ext cx="3931920" cy="320040"/>
          </a:xfrm>
          <a:prstGeom prst="rect">
            <a:avLst/>
          </a:prstGeom>
          <a:noFill/>
          <a:ln/>
        </p:spPr>
        <p:txBody>
          <a:bodyPr wrap="square" lIns="0" tIns="0" rIns="0" bIns="0" rtlCol="0" anchor="ctr"/>
          <a:lstStyle/>
          <a:p>
            <a:pPr marL="0" indent="0">
              <a:buNone/>
            </a:pPr>
            <a:r>
              <a:rPr lang="en-US" sz="1500" b="1" dirty="0">
                <a:solidFill>
                  <a:schemeClr val="tx2"/>
                </a:solidFill>
                <a:latin typeface="Roboto" pitchFamily="34" charset="0"/>
                <a:ea typeface="Roboto" pitchFamily="34" charset="-122"/>
                <a:cs typeface="Roboto" pitchFamily="34" charset="-120"/>
              </a:rPr>
              <a:t>vahetajat</a:t>
            </a:r>
            <a:endParaRPr lang="en-US" sz="1500" dirty="0"/>
          </a:p>
        </p:txBody>
      </p:sp>
      <p:sp>
        <p:nvSpPr>
          <p:cNvPr id="7" name="Text 4"/>
          <p:cNvSpPr txBox="1"/>
          <p:nvPr/>
        </p:nvSpPr>
        <p:spPr>
          <a:xfrm>
            <a:off x="7680960" y="2350008"/>
            <a:ext cx="3931920" cy="457200"/>
          </a:xfrm>
          <a:prstGeom prst="rect">
            <a:avLst/>
          </a:prstGeom>
          <a:noFill/>
          <a:ln/>
        </p:spPr>
        <p:txBody>
          <a:bodyPr wrap="square" lIns="0" tIns="0" rIns="0" bIns="0" rtlCol="0" anchor="t"/>
          <a:lstStyle/>
          <a:p>
            <a:pPr marL="0" indent="0">
              <a:buNone/>
            </a:pPr>
            <a:r>
              <a:rPr lang="en-US" sz="1200" dirty="0">
                <a:solidFill>
                  <a:schemeClr val="accent3"/>
                </a:solidFill>
                <a:latin typeface="Roboto" pitchFamily="34" charset="0"/>
                <a:ea typeface="Roboto" pitchFamily="34" charset="-122"/>
                <a:cs typeface="Roboto" pitchFamily="34" charset="-120"/>
              </a:rPr>
              <a:t>9 560 × 20% × 45%</a:t>
            </a:r>
            <a:endParaRPr lang="en-US" sz="1200" dirty="0"/>
          </a:p>
        </p:txBody>
      </p:sp>
      <p:sp>
        <p:nvSpPr>
          <p:cNvPr id="8" name="Text 5"/>
          <p:cNvSpPr txBox="1"/>
          <p:nvPr/>
        </p:nvSpPr>
        <p:spPr>
          <a:xfrm>
            <a:off x="7680960" y="2971800"/>
            <a:ext cx="3931920" cy="594360"/>
          </a:xfrm>
          <a:prstGeom prst="rect">
            <a:avLst/>
          </a:prstGeom>
          <a:noFill/>
          <a:ln/>
        </p:spPr>
        <p:txBody>
          <a:bodyPr wrap="square" lIns="0" tIns="0" rIns="0" bIns="0" rtlCol="0" anchor="ctr"/>
          <a:lstStyle/>
          <a:p>
            <a:pPr marL="0" indent="0">
              <a:buNone/>
            </a:pPr>
            <a:r>
              <a:rPr lang="en-US" sz="3200" b="1" dirty="0">
                <a:solidFill>
                  <a:schemeClr val="accent1"/>
                </a:solidFill>
                <a:latin typeface="Roboto" pitchFamily="34" charset="0"/>
                <a:ea typeface="Roboto" pitchFamily="34" charset="-122"/>
                <a:cs typeface="Roboto" pitchFamily="34" charset="-120"/>
              </a:rPr>
              <a:t>2 670</a:t>
            </a:r>
            <a:endParaRPr lang="en-US" sz="3200" dirty="0"/>
          </a:p>
        </p:txBody>
      </p:sp>
      <p:sp>
        <p:nvSpPr>
          <p:cNvPr id="9" name="Text 6"/>
          <p:cNvSpPr txBox="1"/>
          <p:nvPr/>
        </p:nvSpPr>
        <p:spPr>
          <a:xfrm>
            <a:off x="7680960" y="3538728"/>
            <a:ext cx="3931920" cy="320040"/>
          </a:xfrm>
          <a:prstGeom prst="rect">
            <a:avLst/>
          </a:prstGeom>
          <a:noFill/>
          <a:ln/>
        </p:spPr>
        <p:txBody>
          <a:bodyPr wrap="square" lIns="0" tIns="0" rIns="0" bIns="0" rtlCol="0" anchor="ctr"/>
          <a:lstStyle/>
          <a:p>
            <a:pPr marL="0" indent="0">
              <a:buNone/>
            </a:pPr>
            <a:r>
              <a:rPr lang="en-US" sz="1500" b="1" dirty="0">
                <a:solidFill>
                  <a:schemeClr val="tx2"/>
                </a:solidFill>
                <a:latin typeface="Roboto" pitchFamily="34" charset="0"/>
                <a:ea typeface="Roboto" pitchFamily="34" charset="-122"/>
                <a:cs typeface="Roboto" pitchFamily="34" charset="-120"/>
              </a:rPr>
              <a:t>lepingut 1. aasta lõpus</a:t>
            </a:r>
            <a:endParaRPr lang="en-US" sz="1500" dirty="0"/>
          </a:p>
        </p:txBody>
      </p:sp>
      <p:sp>
        <p:nvSpPr>
          <p:cNvPr id="4" name="Text 7"/>
          <p:cNvSpPr txBox="1"/>
          <p:nvPr/>
        </p:nvSpPr>
        <p:spPr>
          <a:xfrm>
            <a:off x="7680960" y="3858768"/>
            <a:ext cx="3931920" cy="457200"/>
          </a:xfrm>
          <a:prstGeom prst="rect">
            <a:avLst/>
          </a:prstGeom>
          <a:noFill/>
          <a:ln/>
        </p:spPr>
        <p:txBody>
          <a:bodyPr wrap="square" lIns="0" tIns="0" rIns="0" bIns="0" rtlCol="0" anchor="t"/>
          <a:lstStyle/>
          <a:p>
            <a:pPr marL="0" indent="0">
              <a:buNone/>
            </a:pPr>
            <a:r>
              <a:rPr lang="en-US" sz="1200" dirty="0">
                <a:solidFill>
                  <a:schemeClr val="accent3"/>
                </a:solidFill>
                <a:latin typeface="Roboto" pitchFamily="34" charset="0"/>
                <a:ea typeface="Roboto" pitchFamily="34" charset="-122"/>
                <a:cs typeface="Roboto" pitchFamily="34" charset="-120"/>
              </a:rPr>
              <a:t>1 548 numbrit + 550 lisateenust + 572 ettevõtte numbrit</a:t>
            </a:r>
            <a:endParaRPr lang="en-US" sz="1200" dirty="0"/>
          </a:p>
        </p:txBody>
      </p:sp>
      <p:sp>
        <p:nvSpPr>
          <p:cNvPr id="11" name="Text 8"/>
          <p:cNvSpPr txBox="1"/>
          <p:nvPr/>
        </p:nvSpPr>
        <p:spPr>
          <a:xfrm>
            <a:off x="7680960" y="4480560"/>
            <a:ext cx="3931920" cy="594360"/>
          </a:xfrm>
          <a:prstGeom prst="rect">
            <a:avLst/>
          </a:prstGeom>
          <a:noFill/>
          <a:ln/>
        </p:spPr>
        <p:txBody>
          <a:bodyPr wrap="square" lIns="0" tIns="0" rIns="0" bIns="0" rtlCol="0" anchor="ctr"/>
          <a:lstStyle/>
          <a:p>
            <a:pPr marL="0" indent="0">
              <a:buNone/>
            </a:pPr>
            <a:r>
              <a:rPr lang="en-US" sz="3200" b="1" dirty="0">
                <a:solidFill>
                  <a:schemeClr val="accent1"/>
                </a:solidFill>
                <a:latin typeface="Roboto" pitchFamily="34" charset="0"/>
                <a:ea typeface="Roboto" pitchFamily="34" charset="-122"/>
                <a:cs typeface="Roboto" pitchFamily="34" charset="-120"/>
              </a:rPr>
              <a:t>16 000 €</a:t>
            </a:r>
            <a:endParaRPr lang="en-US" sz="3200" dirty="0"/>
          </a:p>
        </p:txBody>
      </p:sp>
      <p:sp>
        <p:nvSpPr>
          <p:cNvPr id="12" name="Text 9"/>
          <p:cNvSpPr txBox="1"/>
          <p:nvPr/>
        </p:nvSpPr>
        <p:spPr>
          <a:xfrm>
            <a:off x="7680960" y="5047488"/>
            <a:ext cx="3931920" cy="320040"/>
          </a:xfrm>
          <a:prstGeom prst="rect">
            <a:avLst/>
          </a:prstGeom>
          <a:noFill/>
          <a:ln/>
        </p:spPr>
        <p:txBody>
          <a:bodyPr wrap="square" lIns="0" tIns="0" rIns="0" bIns="0" rtlCol="0" anchor="ctr"/>
          <a:lstStyle/>
          <a:p>
            <a:pPr marL="0" indent="0">
              <a:buNone/>
            </a:pPr>
            <a:r>
              <a:rPr lang="en-US" sz="1500" b="1" dirty="0">
                <a:solidFill>
                  <a:schemeClr val="tx2"/>
                </a:solidFill>
                <a:latin typeface="Roboto" pitchFamily="34" charset="0"/>
                <a:ea typeface="Roboto" pitchFamily="34" charset="-122"/>
                <a:cs typeface="Roboto" pitchFamily="34" charset="-120"/>
              </a:rPr>
              <a:t>tulu 1. aastal</a:t>
            </a:r>
            <a:endParaRPr lang="en-US" sz="1500" dirty="0"/>
          </a:p>
        </p:txBody>
      </p:sp>
      <p:sp>
        <p:nvSpPr>
          <p:cNvPr id="13" name="Text 10"/>
          <p:cNvSpPr txBox="1"/>
          <p:nvPr/>
        </p:nvSpPr>
        <p:spPr>
          <a:xfrm>
            <a:off x="7680960" y="5367528"/>
            <a:ext cx="3931920" cy="457200"/>
          </a:xfrm>
          <a:prstGeom prst="rect">
            <a:avLst/>
          </a:prstGeom>
          <a:noFill/>
          <a:ln/>
        </p:spPr>
        <p:txBody>
          <a:bodyPr wrap="square" lIns="0" tIns="0" rIns="0" bIns="0" rtlCol="0" anchor="t"/>
          <a:lstStyle/>
          <a:p>
            <a:pPr marL="0" indent="0">
              <a:buNone/>
            </a:pPr>
            <a:r>
              <a:rPr lang="en-US" sz="1200" dirty="0">
                <a:solidFill>
                  <a:schemeClr val="accent3"/>
                </a:solidFill>
                <a:latin typeface="Roboto" pitchFamily="34" charset="0"/>
                <a:ea typeface="Roboto" pitchFamily="34" charset="-122"/>
                <a:cs typeface="Roboto" pitchFamily="34" charset="-120"/>
              </a:rPr>
              <a:t>liitujad ühtlaselt üle aasta</a:t>
            </a:r>
            <a:endParaRPr lang="en-US" sz="12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02920"/>
            <a:ext cx="11094415" cy="731520"/>
          </a:xfrm>
          <a:prstGeom prst="rect">
            <a:avLst/>
          </a:prstGeom>
          <a:noFill/>
          <a:ln/>
        </p:spPr>
        <p:txBody>
          <a:bodyPr wrap="square" lIns="0" tIns="0" rIns="0" bIns="0" rtlCol="0" anchor="t"/>
          <a:lstStyle/>
          <a:p>
            <a:pPr marL="0" indent="0" algn="l">
              <a:buNone/>
            </a:pPr>
            <a:r>
              <a:rPr lang="en-US" sz="3000" b="1" dirty="0">
                <a:solidFill>
                  <a:schemeClr val="tx2"/>
                </a:solidFill>
              </a:rPr>
              <a:t>Kui palju Kadri päriselt säästab</a:t>
            </a:r>
            <a:endParaRPr lang="en-US" sz="3000" dirty="0"/>
          </a:p>
        </p:txBody>
      </p:sp>
      <p:sp>
        <p:nvSpPr>
          <p:cNvPr id="3" name="Text 1"/>
          <p:cNvSpPr>
            <a:spLocks noGrp="1"/>
          </p:cNvSpPr>
          <p:nvPr>
            <p:ph type="body" idx="102" hasCustomPrompt="1"/>
          </p:nvPr>
        </p:nvSpPr>
        <p:spPr>
          <a:xfrm>
            <a:off x="548640" y="6355080"/>
            <a:ext cx="10362895" cy="274320"/>
          </a:xfrm>
          <a:prstGeom prst="rect">
            <a:avLst/>
          </a:prstGeom>
          <a:noFill/>
          <a:ln/>
        </p:spPr>
        <p:txBody>
          <a:bodyPr wrap="square" lIns="0" tIns="0" rIns="0" bIns="0" rtlCol="0" anchor="ctr"/>
          <a:lstStyle/>
          <a:p>
            <a:pPr marL="0" indent="0">
              <a:buNone/>
            </a:pPr>
            <a:r>
              <a:rPr lang="en-US" sz="1000" dirty="0">
                <a:solidFill>
                  <a:schemeClr val="accent3"/>
                </a:solidFill>
              </a:rPr>
              <a:t>Hinnang · sihthind 6,50 €, mitte operaatori pakkumine · tavahinnad 10.10.2026 (Tele2 34,99, Telia 41,65, Elisa 43,99) · Tele2 kampaania 15,50 € 24 kuuks</a:t>
            </a:r>
            <a:endParaRPr lang="en-US" sz="1000" dirty="0"/>
          </a:p>
        </p:txBody>
      </p:sp>
      <p:graphicFrame>
        <p:nvGraphicFramePr>
          <p:cNvPr id="4" name="Sääst"/>
          <p:cNvGraphicFramePr/>
          <p:nvPr/>
        </p:nvGraphicFramePr>
        <p:xfrm>
          <a:off x="548640" y="1371600"/>
          <a:ext cx="69494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elgitus"/>
          <p:cNvSpPr/>
          <p:nvPr/>
        </p:nvSpPr>
        <p:spPr>
          <a:xfrm>
            <a:off x="7863840" y="1463040"/>
            <a:ext cx="3776472" cy="4572000"/>
          </a:xfrm>
          <a:prstGeom prst="roundRect">
            <a:avLst>
              <a:gd name="adj" fmla="val 1937"/>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8138160" y="1737360"/>
            <a:ext cx="3291840" cy="365760"/>
          </a:xfrm>
          <a:prstGeom prst="rect">
            <a:avLst/>
          </a:prstGeom>
          <a:noFill/>
          <a:ln/>
        </p:spPr>
        <p:txBody>
          <a:bodyPr wrap="square" lIns="0" tIns="0" rIns="0" bIns="0" rtlCol="0" anchor="ctr"/>
          <a:lstStyle/>
          <a:p>
            <a:pPr marL="0" indent="0">
              <a:buNone/>
            </a:pPr>
            <a:r>
              <a:rPr lang="en-US" sz="1800" b="1" dirty="0">
                <a:solidFill>
                  <a:schemeClr val="tx2"/>
                </a:solidFill>
                <a:latin typeface="Roboto" pitchFamily="34" charset="0"/>
                <a:ea typeface="Roboto" pitchFamily="34" charset="-122"/>
                <a:cs typeface="Roboto" pitchFamily="34" charset="-120"/>
              </a:rPr>
              <a:t>Üks aus number</a:t>
            </a:r>
            <a:endParaRPr lang="en-US" sz="1800" dirty="0"/>
          </a:p>
        </p:txBody>
      </p:sp>
      <p:sp>
        <p:nvSpPr>
          <p:cNvPr id="7" name="Text 4"/>
          <p:cNvSpPr txBox="1"/>
          <p:nvPr/>
        </p:nvSpPr>
        <p:spPr>
          <a:xfrm>
            <a:off x="8138160" y="2194560"/>
            <a:ext cx="3291840" cy="3566160"/>
          </a:xfrm>
          <a:prstGeom prst="rect">
            <a:avLst/>
          </a:prstGeom>
          <a:noFill/>
          <a:ln/>
        </p:spPr>
        <p:txBody>
          <a:bodyPr wrap="square" lIns="0" tIns="0" rIns="0" bIns="0" rtlCol="0" anchor="t"/>
          <a:lstStyle/>
          <a:p>
            <a:pPr marL="0" indent="0">
              <a:buNone/>
            </a:pPr>
            <a:r>
              <a:rPr lang="en-US" sz="1400" dirty="0">
                <a:solidFill>
                  <a:schemeClr val="tx1"/>
                </a:solidFill>
                <a:latin typeface="Roboto" pitchFamily="34" charset="0"/>
                <a:ea typeface="Roboto" pitchFamily="34" charset="-122"/>
                <a:cs typeface="Roboto" pitchFamily="34" charset="-120"/>
              </a:rPr>
              <a:t>„Kuni 405 €” kehtib ainult sellele, kes maksab tavahinda. Kampaaniakliendi sääst esimesel aastal on ≈ 108 €.</a:t>
            </a:r>
            <a:endParaRPr lang="en-US" sz="1400" dirty="0"/>
          </a:p>
          <a:p>
            <a:pPr marL="0" indent="0">
              <a:buNone/>
            </a:pPr>
            <a:endParaRPr lang="en-US" sz="1400" dirty="0"/>
          </a:p>
          <a:p>
            <a:pPr marL="0" indent="0">
              <a:buNone/>
            </a:pPr>
            <a:r>
              <a:rPr lang="en-US" sz="1400" dirty="0">
                <a:solidFill>
                  <a:schemeClr val="tx1"/>
                </a:solidFill>
                <a:latin typeface="Roboto" pitchFamily="34" charset="0"/>
                <a:ea typeface="Roboto" pitchFamily="34" charset="-122"/>
                <a:cs typeface="Roboto" pitchFamily="34" charset="-120"/>
              </a:rPr>
              <a:t>Vahe tekib 25. kuul: kampaania lõpeb, Kogumi hange kordub. 3 aastaga jääb kampaaniakliendile kätte ≈ 558 €.</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02920"/>
            <a:ext cx="11094415" cy="731520"/>
          </a:xfrm>
          <a:prstGeom prst="rect">
            <a:avLst/>
          </a:prstGeom>
          <a:noFill/>
          <a:ln/>
        </p:spPr>
        <p:txBody>
          <a:bodyPr wrap="square" lIns="0" tIns="0" rIns="0" bIns="0" rtlCol="0" anchor="t"/>
          <a:lstStyle/>
          <a:p>
            <a:pPr marL="0" indent="0" algn="l">
              <a:buNone/>
            </a:pPr>
            <a:r>
              <a:rPr lang="en-US" sz="3000" b="1" dirty="0">
                <a:solidFill>
                  <a:schemeClr val="tx2"/>
                </a:solidFill>
              </a:rPr>
              <a:t>Kes on seda teinud ja mida me teisiti teeme</a:t>
            </a:r>
            <a:endParaRPr lang="en-US" sz="3000" dirty="0"/>
          </a:p>
        </p:txBody>
      </p:sp>
      <p:sp>
        <p:nvSpPr>
          <p:cNvPr id="3" name="Text 1"/>
          <p:cNvSpPr>
            <a:spLocks noGrp="1"/>
          </p:cNvSpPr>
          <p:nvPr>
            <p:ph type="body" idx="102" hasCustomPrompt="1"/>
          </p:nvPr>
        </p:nvSpPr>
        <p:spPr>
          <a:xfrm>
            <a:off x="548640" y="6355080"/>
            <a:ext cx="10362895" cy="274320"/>
          </a:xfrm>
          <a:prstGeom prst="rect">
            <a:avLst/>
          </a:prstGeom>
          <a:noFill/>
          <a:ln/>
        </p:spPr>
        <p:txBody>
          <a:bodyPr wrap="square" lIns="0" tIns="0" rIns="0" bIns="0" rtlCol="0" anchor="ctr"/>
          <a:lstStyle/>
          <a:p>
            <a:pPr marL="0" indent="0">
              <a:buNone/>
            </a:pPr>
            <a:r>
              <a:rPr lang="en-US" sz="1000" dirty="0">
                <a:solidFill>
                  <a:schemeClr val="accent3"/>
                </a:solidFill>
              </a:rPr>
              <a:t>OCU 2014–2018, iPhoneItalia 23.04.2015, MoneySavingExpert 05.2012 · detailid docs/18 ja docs/03</a:t>
            </a:r>
            <a:endParaRPr lang="en-US" sz="1000" dirty="0"/>
          </a:p>
        </p:txBody>
      </p:sp>
      <p:graphicFrame>
        <p:nvGraphicFramePr>
          <p:cNvPr id="12" name="Võrdlus"/>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2103120"/>
        </p:xfrm>
        <a:graphic>
          <a:graphicData uri="http://schemas.openxmlformats.org/drawingml/2006/table">
            <a:tbl>
              <a:tblPr/>
              <a:tblGrid>
                <a:gridCol w="2743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latin typeface="Roboto" pitchFamily="34" charset="0"/>
                          <a:ea typeface="Roboto" pitchFamily="34" charset="-122"/>
                          <a:cs typeface="Roboto" pitchFamily="34" charset="-120"/>
                        </a:rPr>
                        <a:t>Kes</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2F63"/>
                    </a:solidFill>
                  </a:tcPr>
                </a:tc>
                <a:tc>
                  <a:txBody>
                    <a:bodyPr/>
                    <a:lstStyle/>
                    <a:p>
                      <a:pPr marL="0" indent="0">
                        <a:buNone/>
                      </a:pPr>
                      <a:r>
                        <a:rPr lang="en-US" sz="1300" b="1" dirty="0">
                          <a:solidFill>
                            <a:srgbClr val="FFFFFF"/>
                          </a:solidFill>
                          <a:latin typeface="Roboto" pitchFamily="34" charset="0"/>
                          <a:ea typeface="Roboto" pitchFamily="34" charset="-122"/>
                          <a:cs typeface="Roboto" pitchFamily="34" charset="-120"/>
                        </a:rPr>
                        <a:t>Mis juhtus</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2F63"/>
                    </a:solidFill>
                  </a:tcPr>
                </a:tc>
                <a:tc>
                  <a:txBody>
                    <a:bodyPr/>
                    <a:lstStyle/>
                    <a:p>
                      <a:pPr marL="0" indent="0">
                        <a:buNone/>
                      </a:pPr>
                      <a:r>
                        <a:rPr lang="en-US" sz="1300" b="1" dirty="0">
                          <a:solidFill>
                            <a:srgbClr val="FFFFFF"/>
                          </a:solidFill>
                          <a:latin typeface="Roboto" pitchFamily="34" charset="0"/>
                          <a:ea typeface="Roboto" pitchFamily="34" charset="-122"/>
                          <a:cs typeface="Roboto" pitchFamily="34" charset="-120"/>
                        </a:rPr>
                        <a:t>Õppetund</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2F63"/>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293036"/>
                          </a:solidFill>
                          <a:latin typeface="Roboto" pitchFamily="34" charset="0"/>
                          <a:ea typeface="Roboto" pitchFamily="34" charset="-122"/>
                          <a:cs typeface="Roboto" pitchFamily="34" charset="-120"/>
                        </a:rPr>
                        <a:t>OCU, Hispaania 2014–2018</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3 mobiilihanget, 92 500 → 17 400 registreerunut</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Iga kord uus kampaania, püsivat suhet polnud. Soodustus kahanes 8%-ni</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dirty="0">
                          <a:solidFill>
                            <a:srgbClr val="293036"/>
                          </a:solidFill>
                          <a:latin typeface="Roboto" pitchFamily="34" charset="0"/>
                          <a:ea typeface="Roboto" pitchFamily="34" charset="-122"/>
                          <a:cs typeface="Roboto" pitchFamily="34" charset="-120"/>
                        </a:rPr>
                        <a:t>Altroconsumo, Itaalia 2015</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86 000 osalejat, võitja 9 € kuus</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Võidab väljakutsuja, mitte turuliider</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dirty="0">
                          <a:solidFill>
                            <a:srgbClr val="293036"/>
                          </a:solidFill>
                          <a:latin typeface="Roboto" pitchFamily="34" charset="0"/>
                          <a:ea typeface="Roboto" pitchFamily="34" charset="-122"/>
                          <a:cs typeface="Roboto" pitchFamily="34" charset="-120"/>
                        </a:rPr>
                        <a:t>Which?, Suurbritannia 2012</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Energia ühisost, 285 000 registreerunut</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Ühisost ei taga turu parimat hinda</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300" dirty="0">
                          <a:solidFill>
                            <a:srgbClr val="293036"/>
                          </a:solidFill>
                          <a:latin typeface="Roboto" pitchFamily="34" charset="0"/>
                          <a:ea typeface="Roboto" pitchFamily="34" charset="-122"/>
                          <a:cs typeface="Roboto" pitchFamily="34" charset="-120"/>
                        </a:rPr>
                        <a:t>Eestis täna</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Operaatorite kampaaniad</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300" dirty="0">
                          <a:solidFill>
                            <a:srgbClr val="293036"/>
                          </a:solidFill>
                          <a:latin typeface="Roboto" pitchFamily="34" charset="0"/>
                          <a:ea typeface="Roboto" pitchFamily="34" charset="-122"/>
                          <a:cs typeface="Roboto" pitchFamily="34" charset="-120"/>
                        </a:rPr>
                        <a:t>Soodushind seob 24 kuuks, siis tavahind</a:t>
                      </a:r>
                      <a:endParaRPr lang="en-US" sz="13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Meie vastus"/>
          <p:cNvSpPr/>
          <p:nvPr/>
        </p:nvSpPr>
        <p:spPr>
          <a:xfrm>
            <a:off x="548640" y="4892040"/>
            <a:ext cx="11094415" cy="1097280"/>
          </a:xfrm>
          <a:prstGeom prst="roundRect">
            <a:avLst>
              <a:gd name="adj" fmla="val 6667"/>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822960" y="5029200"/>
            <a:ext cx="10545775" cy="822960"/>
          </a:xfrm>
          <a:prstGeom prst="rect">
            <a:avLst/>
          </a:prstGeom>
          <a:noFill/>
          <a:ln/>
        </p:spPr>
        <p:txBody>
          <a:bodyPr wrap="square" lIns="0" tIns="0" rIns="0" bIns="0" rtlCol="0" anchor="ctr"/>
          <a:lstStyle/>
          <a:p>
            <a:pPr marL="0" indent="0">
              <a:buNone/>
            </a:pPr>
            <a:r>
              <a:rPr lang="en-US" sz="1500" b="1" dirty="0">
                <a:solidFill>
                  <a:schemeClr val="tx2"/>
                </a:solidFill>
                <a:latin typeface="Roboto" pitchFamily="34" charset="0"/>
                <a:ea typeface="Roboto" pitchFamily="34" charset="-122"/>
                <a:cs typeface="Roboto" pitchFamily="34" charset="-120"/>
              </a:rPr>
              <a:t>Meie vastus: </a:t>
            </a:r>
            <a:r>
              <a:rPr lang="en-US" sz="1500" dirty="0">
                <a:solidFill>
                  <a:schemeClr val="tx1"/>
                </a:solidFill>
                <a:latin typeface="Roboto" pitchFamily="34" charset="0"/>
                <a:ea typeface="Roboto" pitchFamily="34" charset="-122"/>
                <a:cs typeface="Roboto" pitchFamily="34" charset="-120"/>
              </a:rPr>
              <a:t>püsiv konto ja hange igal aastal · tasu avalik ja kõigile sama · hange toimub ainult siis, kui hind on vähemalt 2 € alla turu parima · avaldame vahetajate arvu</a:t>
            </a:r>
            <a:endParaRPr lang="en-US" sz="15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02920"/>
            <a:ext cx="11094415" cy="731520"/>
          </a:xfrm>
          <a:prstGeom prst="rect">
            <a:avLst/>
          </a:prstGeom>
          <a:noFill/>
          <a:ln/>
        </p:spPr>
        <p:txBody>
          <a:bodyPr wrap="square" lIns="0" tIns="0" rIns="0" bIns="0" rtlCol="0" anchor="t"/>
          <a:lstStyle/>
          <a:p>
            <a:pPr marL="0" indent="0" algn="l">
              <a:buNone/>
            </a:pPr>
            <a:r>
              <a:rPr lang="en-US" sz="3000" b="1" dirty="0">
                <a:solidFill>
                  <a:schemeClr val="tx2"/>
                </a:solidFill>
              </a:rPr>
              <a:t>Kes maksab 1 €? Kaks võimalust</a:t>
            </a:r>
            <a:endParaRPr lang="en-US" sz="3000" dirty="0"/>
          </a:p>
        </p:txBody>
      </p:sp>
      <p:sp>
        <p:nvSpPr>
          <p:cNvPr id="3" name="Text 1"/>
          <p:cNvSpPr>
            <a:spLocks noGrp="1"/>
          </p:cNvSpPr>
          <p:nvPr>
            <p:ph type="body" idx="102" hasCustomPrompt="1"/>
          </p:nvPr>
        </p:nvSpPr>
        <p:spPr>
          <a:xfrm>
            <a:off x="548640" y="6355080"/>
            <a:ext cx="10362895" cy="274320"/>
          </a:xfrm>
          <a:prstGeom prst="rect">
            <a:avLst/>
          </a:prstGeom>
          <a:noFill/>
          <a:ln/>
        </p:spPr>
        <p:txBody>
          <a:bodyPr wrap="square" lIns="0" tIns="0" rIns="0" bIns="0" rtlCol="0" anchor="ctr"/>
          <a:lstStyle/>
          <a:p>
            <a:pPr marL="0" indent="0">
              <a:buNone/>
            </a:pPr>
            <a:r>
              <a:rPr lang="en-US" sz="1000" dirty="0">
                <a:solidFill>
                  <a:schemeClr val="accent3"/>
                </a:solidFill>
              </a:rPr>
              <a:t>Hinnang · 6,50 € hinnast jääb operaatorile ilma käibemaksuta ≈ 5,33 €, 1 € tasu on sellest ≈ 19% · docs/06, docs/13</a:t>
            </a:r>
            <a:endParaRPr lang="en-US" sz="1000" dirty="0"/>
          </a:p>
        </p:txBody>
      </p:sp>
      <p:sp>
        <p:nvSpPr>
          <p:cNvPr id="4" name="A. Operaator (praegune otsus)"/>
          <p:cNvSpPr/>
          <p:nvPr/>
        </p:nvSpPr>
        <p:spPr>
          <a:xfrm>
            <a:off x="548640" y="1463040"/>
            <a:ext cx="5364328" cy="3657600"/>
          </a:xfrm>
          <a:prstGeom prst="roundRect">
            <a:avLst>
              <a:gd name="adj" fmla="val 2000"/>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868680" y="1691640"/>
            <a:ext cx="4724248" cy="457200"/>
          </a:xfrm>
          <a:prstGeom prst="rect">
            <a:avLst/>
          </a:prstGeom>
          <a:noFill/>
          <a:ln/>
        </p:spPr>
        <p:txBody>
          <a:bodyPr wrap="square" lIns="0" tIns="0" rIns="0" bIns="0" rtlCol="0" anchor="ctr"/>
          <a:lstStyle/>
          <a:p>
            <a:pPr marL="0" indent="0">
              <a:buNone/>
            </a:pPr>
            <a:r>
              <a:rPr lang="en-US" sz="2000" b="1" dirty="0">
                <a:solidFill>
                  <a:schemeClr val="tx2"/>
                </a:solidFill>
                <a:latin typeface="Roboto" pitchFamily="34" charset="0"/>
                <a:ea typeface="Roboto" pitchFamily="34" charset="-122"/>
                <a:cs typeface="Roboto" pitchFamily="34" charset="-120"/>
              </a:rPr>
              <a:t>A. Operaator (praegune otsus)</a:t>
            </a:r>
            <a:endParaRPr lang="en-US" sz="2000" dirty="0"/>
          </a:p>
        </p:txBody>
      </p:sp>
      <p:sp>
        <p:nvSpPr>
          <p:cNvPr id="6" name="Text 4"/>
          <p:cNvSpPr txBox="1"/>
          <p:nvPr/>
        </p:nvSpPr>
        <p:spPr>
          <a:xfrm>
            <a:off x="868680" y="2286000"/>
            <a:ext cx="4724248"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latin typeface="Roboto" pitchFamily="34" charset="0"/>
                <a:ea typeface="Roboto" pitchFamily="34" charset="-122"/>
                <a:cs typeface="Roboto" pitchFamily="34" charset="-120"/>
              </a:rPr>
              <a:t>Liikmele tasuta, lihtne öelda</a:t>
            </a:r>
            <a:endParaRPr lang="en-US" sz="1600" dirty="0"/>
          </a:p>
          <a:p>
            <a:pPr marL="342900" indent="-342900">
              <a:spcAft>
                <a:spcPts val="800"/>
              </a:spcAft>
              <a:buSzPct val="100000"/>
              <a:buChar char="•"/>
            </a:pPr>
            <a:r>
              <a:rPr lang="en-US" sz="1600" dirty="0">
                <a:solidFill>
                  <a:schemeClr val="tx2"/>
                </a:solidFill>
                <a:latin typeface="Roboto" pitchFamily="34" charset="0"/>
                <a:ea typeface="Roboto" pitchFamily="34" charset="-122"/>
                <a:cs typeface="Roboto" pitchFamily="34" charset="-120"/>
              </a:rPr>
              <a:t>Operaatori marginaalist ≈ 19%: hind võib tulla kõrgem</a:t>
            </a:r>
            <a:endParaRPr lang="en-US" sz="1600" dirty="0"/>
          </a:p>
          <a:p>
            <a:pPr marL="342900" indent="-342900">
              <a:spcAft>
                <a:spcPts val="800"/>
              </a:spcAft>
              <a:buSzPct val="100000"/>
              <a:buChar char="•"/>
            </a:pPr>
            <a:r>
              <a:rPr lang="en-US" sz="1600" dirty="0">
                <a:solidFill>
                  <a:schemeClr val="tx2"/>
                </a:solidFill>
                <a:latin typeface="Roboto" pitchFamily="34" charset="0"/>
                <a:ea typeface="Roboto" pitchFamily="34" charset="-122"/>
                <a:cs typeface="Roboto" pitchFamily="34" charset="-120"/>
              </a:rPr>
              <a:t>Žürii küsib: kas see on vahendustasu?</a:t>
            </a:r>
            <a:endParaRPr lang="en-US" sz="1600" dirty="0"/>
          </a:p>
          <a:p>
            <a:pPr marL="342900" indent="-342900">
              <a:spcAft>
                <a:spcPts val="800"/>
              </a:spcAft>
              <a:buSzPct val="100000"/>
              <a:buChar char="•"/>
            </a:pPr>
            <a:r>
              <a:rPr lang="en-US" sz="1600" dirty="0">
                <a:solidFill>
                  <a:schemeClr val="tx2"/>
                </a:solidFill>
                <a:latin typeface="Roboto" pitchFamily="34" charset="0"/>
                <a:ea typeface="Roboto" pitchFamily="34" charset="-122"/>
                <a:cs typeface="Roboto" pitchFamily="34" charset="-120"/>
              </a:rPr>
              <a:t>Vajab operaatori nõusolekut vahendusrollile</a:t>
            </a:r>
            <a:endParaRPr lang="en-US" sz="1600" dirty="0"/>
          </a:p>
        </p:txBody>
      </p:sp>
      <p:sp>
        <p:nvSpPr>
          <p:cNvPr id="7" name="B. Liige ise, 1 € kuus"/>
          <p:cNvSpPr/>
          <p:nvPr/>
        </p:nvSpPr>
        <p:spPr>
          <a:xfrm>
            <a:off x="6278728" y="1463040"/>
            <a:ext cx="5364328" cy="3657600"/>
          </a:xfrm>
          <a:prstGeom prst="roundRect">
            <a:avLst>
              <a:gd name="adj" fmla="val 2000"/>
            </a:avLst>
          </a:prstGeom>
          <a:solidFill>
            <a:schemeClr val="tx2"/>
          </a:solidFill>
          <a:ln w="12700">
            <a:solidFill>
              <a:schemeClr val="tx2"/>
            </a:solidFill>
            <a:prstDash val="solid"/>
          </a:ln>
        </p:spPr>
        <p:txBody>
          <a:bodyPr/>
          <a:lstStyle/>
          <a:p>
            <a:endParaRPr lang="en-US"/>
          </a:p>
        </p:txBody>
      </p:sp>
      <p:sp>
        <p:nvSpPr>
          <p:cNvPr id="8" name="Text 6"/>
          <p:cNvSpPr txBox="1"/>
          <p:nvPr/>
        </p:nvSpPr>
        <p:spPr>
          <a:xfrm>
            <a:off x="6598768" y="1691640"/>
            <a:ext cx="4724248" cy="457200"/>
          </a:xfrm>
          <a:prstGeom prst="rect">
            <a:avLst/>
          </a:prstGeom>
          <a:noFill/>
          <a:ln/>
        </p:spPr>
        <p:txBody>
          <a:bodyPr wrap="square" lIns="0" tIns="0" rIns="0" bIns="0" rtlCol="0" anchor="ctr"/>
          <a:lstStyle/>
          <a:p>
            <a:pPr marL="0" indent="0">
              <a:buNone/>
            </a:pPr>
            <a:r>
              <a:rPr lang="en-US" sz="2000" b="1" dirty="0">
                <a:solidFill>
                  <a:schemeClr val="accent2"/>
                </a:solidFill>
                <a:latin typeface="Roboto" pitchFamily="34" charset="0"/>
                <a:ea typeface="Roboto" pitchFamily="34" charset="-122"/>
                <a:cs typeface="Roboto" pitchFamily="34" charset="-120"/>
              </a:rPr>
              <a:t>B. Liige ise, 1 € kuus</a:t>
            </a:r>
            <a:endParaRPr lang="en-US" sz="2000" dirty="0"/>
          </a:p>
        </p:txBody>
      </p:sp>
      <p:sp>
        <p:nvSpPr>
          <p:cNvPr id="9" name="Text 7"/>
          <p:cNvSpPr txBox="1"/>
          <p:nvPr/>
        </p:nvSpPr>
        <p:spPr>
          <a:xfrm>
            <a:off x="6598768" y="2286000"/>
            <a:ext cx="4724248"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latin typeface="Roboto" pitchFamily="34" charset="0"/>
                <a:ea typeface="Roboto" pitchFamily="34" charset="-122"/>
                <a:cs typeface="Roboto" pitchFamily="34" charset="-120"/>
              </a:rPr>
              <a:t>Tuleva ei saa operaatorilt midagi</a:t>
            </a:r>
            <a:endParaRPr lang="en-US" sz="1600" dirty="0"/>
          </a:p>
          <a:p>
            <a:pPr marL="342900" indent="-342900">
              <a:spcAft>
                <a:spcPts val="800"/>
              </a:spcAft>
              <a:buSzPct val="100000"/>
              <a:buChar char="•"/>
            </a:pPr>
            <a:r>
              <a:rPr lang="en-US" sz="1600" dirty="0">
                <a:solidFill>
                  <a:schemeClr val="bg1"/>
                </a:solidFill>
                <a:latin typeface="Roboto" pitchFamily="34" charset="0"/>
                <a:ea typeface="Roboto" pitchFamily="34" charset="-122"/>
                <a:cs typeface="Roboto" pitchFamily="34" charset="-120"/>
              </a:rPr>
              <a:t>Operaator saab anda selle võrra parema hinna</a:t>
            </a:r>
            <a:endParaRPr lang="en-US" sz="1600" dirty="0"/>
          </a:p>
          <a:p>
            <a:pPr marL="342900" indent="-342900">
              <a:spcAft>
                <a:spcPts val="800"/>
              </a:spcAft>
              <a:buSzPct val="100000"/>
              <a:buChar char="•"/>
            </a:pPr>
            <a:r>
              <a:rPr lang="en-US" sz="1600" dirty="0">
                <a:solidFill>
                  <a:schemeClr val="bg1"/>
                </a:solidFill>
                <a:latin typeface="Roboto" pitchFamily="34" charset="0"/>
                <a:ea typeface="Roboto" pitchFamily="34" charset="-122"/>
                <a:cs typeface="Roboto" pitchFamily="34" charset="-120"/>
              </a:rPr>
              <a:t>Sama mudel mis fondides: liige näeb tasu</a:t>
            </a:r>
            <a:endParaRPr lang="en-US" sz="1600" dirty="0"/>
          </a:p>
          <a:p>
            <a:pPr marL="342900" indent="-342900">
              <a:spcAft>
                <a:spcPts val="800"/>
              </a:spcAft>
              <a:buSzPct val="100000"/>
              <a:buChar char="•"/>
            </a:pPr>
            <a:r>
              <a:rPr lang="en-US" sz="1600" dirty="0">
                <a:solidFill>
                  <a:schemeClr val="bg1"/>
                </a:solidFill>
                <a:latin typeface="Roboto" pitchFamily="34" charset="0"/>
                <a:ea typeface="Roboto" pitchFamily="34" charset="-122"/>
                <a:cs typeface="Roboto" pitchFamily="34" charset="-120"/>
              </a:rPr>
              <a:t>Risk: osa inimesi ei taha maksta</a:t>
            </a:r>
            <a:endParaRPr lang="en-US" sz="1600" dirty="0"/>
          </a:p>
        </p:txBody>
      </p:sp>
      <p:sp>
        <p:nvSpPr>
          <p:cNvPr id="10" name="Text 8"/>
          <p:cNvSpPr txBox="1"/>
          <p:nvPr/>
        </p:nvSpPr>
        <p:spPr>
          <a:xfrm>
            <a:off x="548640" y="5349240"/>
            <a:ext cx="11094415" cy="640080"/>
          </a:xfrm>
          <a:prstGeom prst="rect">
            <a:avLst/>
          </a:prstGeom>
          <a:noFill/>
          <a:ln/>
        </p:spPr>
        <p:txBody>
          <a:bodyPr wrap="square" lIns="0" tIns="0" rIns="0" bIns="0" rtlCol="0" anchor="ctr"/>
          <a:lstStyle/>
          <a:p>
            <a:pPr marL="0" indent="0">
              <a:buNone/>
            </a:pPr>
            <a:r>
              <a:rPr lang="en-US" sz="1600" b="1" dirty="0">
                <a:solidFill>
                  <a:schemeClr val="tx2"/>
                </a:solidFill>
                <a:latin typeface="Roboto" pitchFamily="34" charset="0"/>
                <a:ea typeface="Roboto" pitchFamily="34" charset="-122"/>
                <a:cs typeface="Roboto" pitchFamily="34" charset="-120"/>
              </a:rPr>
              <a:t>Testime esimesena: hinnapäringus küsime operaatorilt kaks hinda, tasuga ja ilma. Vahe näitab, kes tasu päriselt maksab.</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02920"/>
            <a:ext cx="11094415" cy="731520"/>
          </a:xfrm>
          <a:prstGeom prst="rect">
            <a:avLst/>
          </a:prstGeom>
          <a:noFill/>
          <a:ln/>
        </p:spPr>
        <p:txBody>
          <a:bodyPr wrap="square" lIns="0" tIns="0" rIns="0" bIns="0" rtlCol="0" anchor="t"/>
          <a:lstStyle/>
          <a:p>
            <a:pPr marL="0" indent="0" algn="l">
              <a:buNone/>
            </a:pPr>
            <a:r>
              <a:rPr lang="en-US" sz="3000" b="1" dirty="0">
                <a:solidFill>
                  <a:schemeClr val="tx2"/>
                </a:solidFill>
              </a:rPr>
              <a:t>Mida me veel ei tea</a:t>
            </a:r>
            <a:endParaRPr lang="en-US" sz="3000" dirty="0"/>
          </a:p>
        </p:txBody>
      </p:sp>
      <p:sp>
        <p:nvSpPr>
          <p:cNvPr id="3" name="Text 1"/>
          <p:cNvSpPr>
            <a:spLocks noGrp="1"/>
          </p:cNvSpPr>
          <p:nvPr>
            <p:ph type="body" idx="102" hasCustomPrompt="1"/>
          </p:nvPr>
        </p:nvSpPr>
        <p:spPr>
          <a:xfrm>
            <a:off x="548640" y="6355080"/>
            <a:ext cx="10362895" cy="274320"/>
          </a:xfrm>
          <a:prstGeom prst="rect">
            <a:avLst/>
          </a:prstGeom>
          <a:noFill/>
          <a:ln/>
        </p:spPr>
        <p:txBody>
          <a:bodyPr wrap="square" lIns="0" tIns="0" rIns="0" bIns="0" rtlCol="0" anchor="ctr"/>
          <a:lstStyle/>
          <a:p>
            <a:pPr marL="0" indent="0">
              <a:buNone/>
            </a:pPr>
            <a:r>
              <a:rPr lang="en-US" sz="1000" dirty="0">
                <a:solidFill>
                  <a:schemeClr val="accent3"/>
                </a:solidFill>
              </a:rPr>
              <a:t>Kõik lahtised küsimused: docs/05 ja docs/15 · Tele2 tingimused keelavad vahendamise ilma nõusolekuta (docs/14)</a:t>
            </a:r>
            <a:endParaRPr lang="en-US" sz="1000" dirty="0"/>
          </a:p>
        </p:txBody>
      </p:sp>
      <p:graphicFrame>
        <p:nvGraphicFramePr>
          <p:cNvPr id="14" name="Teadmatused"/>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401568"/>
        </p:xfrm>
        <a:graphic>
          <a:graphicData uri="http://schemas.openxmlformats.org/drawingml/2006/table">
            <a:tbl>
              <a:tblPr/>
              <a:tblGrid>
                <a:gridCol w="5760720">
                  <a:extLst>
                    <a:ext uri="{9D8B030D-6E8A-4147-A177-3AD203B41FA5}">
                      <a16:colId xmlns:a16="http://schemas.microsoft.com/office/drawing/2014/main" val="20000"/>
                    </a:ext>
                  </a:extLst>
                </a:gridCol>
                <a:gridCol w="5330952">
                  <a:extLst>
                    <a:ext uri="{9D8B030D-6E8A-4147-A177-3AD203B41FA5}">
                      <a16:colId xmlns:a16="http://schemas.microsoft.com/office/drawing/2014/main" val="20001"/>
                    </a:ext>
                  </a:extLst>
                </a:gridCol>
              </a:tblGrid>
              <a:tr h="566928">
                <a:tc>
                  <a:txBody>
                    <a:bodyPr/>
                    <a:lstStyle/>
                    <a:p>
                      <a:pPr marL="0" indent="0">
                        <a:buNone/>
                      </a:pPr>
                      <a:r>
                        <a:rPr lang="en-US" sz="1400" b="1" dirty="0">
                          <a:solidFill>
                            <a:srgbClr val="FFFFFF"/>
                          </a:solidFill>
                          <a:latin typeface="Roboto" pitchFamily="34" charset="0"/>
                          <a:ea typeface="Roboto" pitchFamily="34" charset="-122"/>
                          <a:cs typeface="Roboto" pitchFamily="34" charset="-120"/>
                        </a:rPr>
                        <a:t>Teadmatus</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2F63"/>
                    </a:solidFill>
                  </a:tcPr>
                </a:tc>
                <a:tc>
                  <a:txBody>
                    <a:bodyPr/>
                    <a:lstStyle/>
                    <a:p>
                      <a:pPr marL="0" indent="0">
                        <a:buNone/>
                      </a:pPr>
                      <a:r>
                        <a:rPr lang="en-US" sz="1400" b="1" dirty="0">
                          <a:solidFill>
                            <a:srgbClr val="FFFFFF"/>
                          </a:solidFill>
                          <a:latin typeface="Roboto" pitchFamily="34" charset="0"/>
                          <a:ea typeface="Roboto" pitchFamily="34" charset="-122"/>
                          <a:cs typeface="Roboto" pitchFamily="34" charset="-120"/>
                        </a:rPr>
                        <a:t>Kuidas teada saame</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2F63"/>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rgbClr val="293036"/>
                          </a:solidFill>
                          <a:latin typeface="Roboto" pitchFamily="34" charset="0"/>
                          <a:ea typeface="Roboto" pitchFamily="34" charset="-122"/>
                          <a:cs typeface="Roboto" pitchFamily="34" charset="-120"/>
                        </a:rPr>
                        <a:t>Kas operaator pakub vähemalt 2 € alla turu parima?</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Novembris küsime 1–2 müügijuhilt hinda 1 000 liinile</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dirty="0">
                          <a:solidFill>
                            <a:srgbClr val="293036"/>
                          </a:solidFill>
                          <a:latin typeface="Roboto" pitchFamily="34" charset="0"/>
                          <a:ea typeface="Roboto" pitchFamily="34" charset="-122"/>
                          <a:cs typeface="Roboto" pitchFamily="34" charset="-120"/>
                        </a:rPr>
                        <a:t>Mitu registreerunut päriselt vahetab? Mudel 45%, OCU ≈ 10%</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Registreerumisvorm ja esimene hange mõõdavad</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dirty="0">
                          <a:solidFill>
                            <a:srgbClr val="293036"/>
                          </a:solidFill>
                          <a:latin typeface="Roboto" pitchFamily="34" charset="0"/>
                          <a:ea typeface="Roboto" pitchFamily="34" charset="-122"/>
                          <a:cs typeface="Roboto" pitchFamily="34" charset="-120"/>
                        </a:rPr>
                        <a:t>Kas operaator nõustub tasu ja vahendusrolliga?</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Hanke tingimus, õigusmentori hinnang</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dirty="0">
                          <a:solidFill>
                            <a:srgbClr val="293036"/>
                          </a:solidFill>
                          <a:latin typeface="Roboto" pitchFamily="34" charset="0"/>
                          <a:ea typeface="Roboto" pitchFamily="34" charset="-122"/>
                          <a:cs typeface="Roboto" pitchFamily="34" charset="-120"/>
                        </a:rPr>
                        <a:t>Kas operaator aktsepteerib meie lepingut ja isikutuvastust?</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Kokkulepe operaatoriga. Tagavara: suuname operaatori lehele</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400" dirty="0">
                          <a:solidFill>
                            <a:srgbClr val="293036"/>
                          </a:solidFill>
                          <a:latin typeface="Roboto" pitchFamily="34" charset="0"/>
                          <a:ea typeface="Roboto" pitchFamily="34" charset="-122"/>
                          <a:cs typeface="Roboto" pitchFamily="34" charset="-120"/>
                        </a:rPr>
                        <a:t>Milline on andmetöötluse alus ja Tuleva roll?</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marL="0" indent="0">
                        <a:buNone/>
                      </a:pPr>
                      <a:r>
                        <a:rPr lang="en-US" sz="1400" dirty="0">
                          <a:solidFill>
                            <a:srgbClr val="293036"/>
                          </a:solidFill>
                          <a:latin typeface="Roboto" pitchFamily="34" charset="0"/>
                          <a:ea typeface="Roboto" pitchFamily="34" charset="-122"/>
                          <a:cs typeface="Roboto" pitchFamily="34" charset="-120"/>
                        </a:rPr>
                        <a:t>Andmekaitse mentor, siis Tuleva jurist</a:t>
                      </a:r>
                      <a:endParaRPr lang="en-US" sz="1400" dirty="0">
                        <a:latin typeface="Roboto" charset="0"/>
                        <a:ea typeface="Roboto" charset="0"/>
                        <a:cs typeface="Roboto" charset="0"/>
                      </a:endParaRPr>
                    </a:p>
                  </a:txBody>
                  <a:tcPr marT="91440" marB="91440">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F8C"/>
                </a:solidFill>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Tuleva Kogum">
  <a:themeElements>
    <a:clrScheme name="Tuleva Kogum">
      <a:dk1>
        <a:srgbClr val="293036"/>
      </a:dk1>
      <a:lt1>
        <a:srgbClr val="FFFFFF"/>
      </a:lt1>
      <a:dk2>
        <a:srgbClr val="002F63"/>
      </a:dk2>
      <a:lt2>
        <a:srgbClr val="EDF7FD"/>
      </a:lt2>
      <a:accent1>
        <a:srgbClr val="006CE6"/>
      </a:accent1>
      <a:accent2>
        <a:srgbClr val="00AEEA"/>
      </a:accent2>
      <a:accent3>
        <a:srgbClr val="5A6F8C"/>
      </a:accent3>
      <a:accent4>
        <a:srgbClr val="D6DEE6"/>
      </a:accent4>
      <a:accent5>
        <a:srgbClr val="0A7A3B"/>
      </a:accent5>
      <a:accent6>
        <a:srgbClr val="C4C5C6"/>
      </a:accent6>
      <a:hlink>
        <a:srgbClr val="006CE6"/>
      </a:hlink>
      <a:folHlink>
        <a:srgbClr val="5A6F8C"/>
      </a:folHlink>
    </a:clrScheme>
    <a:fontScheme name="Tuleva Kogum">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2052</Words>
  <Application>Microsoft Macintosh PowerPoint</Application>
  <PresentationFormat>Widescreen</PresentationFormat>
  <Paragraphs>202</Paragraphs>
  <Slides>13</Slides>
  <Notes>13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Roboto</vt:lpstr>
      <vt:lpstr>Roboto Flex</vt:lpstr>
      <vt:lpstr>Tuleva Kogum</vt:lpstr>
      <vt:lpstr>PowerPoint Presentation</vt:lpstr>
      <vt:lpstr>Hea hind kehtib 24 kuud, siis tõuseb see 126%</vt:lpstr>
      <vt:lpstr>PowerPoint Presentation</vt:lpstr>
      <vt:lpstr>Miks Tuleva?</vt:lpstr>
      <vt:lpstr>≈ 5 750 lepingut katab jooksva kulu</vt:lpstr>
      <vt:lpstr>Ühine ostujõud igas valdkonnas</vt:lpstr>
      <vt:lpstr>PowerPoint Presentation</vt:lpstr>
      <vt:lpstr>Jooksev kulu kaetud 16. kuul, pessimistlikus mitte kunagi</vt:lpstr>
      <vt:lpstr>Eeldused: kust 2 670 lepingut tuleb</vt:lpstr>
      <vt:lpstr>Kui palju Kadri päriselt säästab</vt:lpstr>
      <vt:lpstr>Kes on seda teinud ja mida me teisiti teeme</vt:lpstr>
      <vt:lpstr>Kes maksab 1 €? Kaks võimalust</vt:lpstr>
      <vt:lpstr>Mida me veel ei tea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Tuleva Kogum</dc:title>
  <dc:subject>PptxGenJS Presentation</dc:subject>
  <dc:creator>Tuleva Kogum tiim</dc:creator>
  <cp:lastModifiedBy>Ülari Laurson</cp:lastModifiedBy>
  <cp:revision>7</cp:revision>
  <dcterms:created xsi:type="dcterms:W3CDTF">2026-10-10T16:08:56Z</dcterms:created>
  <dcterms:modified xsi:type="dcterms:W3CDTF">2026-10-10T17:27:18Z</dcterms:modified>
</cp:coreProperties>
</file>